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rts/chart1.xml" ContentType="application/vnd.openxmlformats-officedocument.drawingml.chart+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72"/>
  </p:notesMasterIdLst>
  <p:handoutMasterIdLst>
    <p:handoutMasterId r:id="rId73"/>
  </p:handoutMasterIdLst>
  <p:sldIdLst>
    <p:sldId id="256" r:id="rId2"/>
    <p:sldId id="551" r:id="rId3"/>
    <p:sldId id="552" r:id="rId4"/>
    <p:sldId id="539" r:id="rId5"/>
    <p:sldId id="540" r:id="rId6"/>
    <p:sldId id="541" r:id="rId7"/>
    <p:sldId id="542" r:id="rId8"/>
    <p:sldId id="543" r:id="rId9"/>
    <p:sldId id="544" r:id="rId10"/>
    <p:sldId id="545" r:id="rId11"/>
    <p:sldId id="546" r:id="rId12"/>
    <p:sldId id="535" r:id="rId13"/>
    <p:sldId id="536" r:id="rId14"/>
    <p:sldId id="537" r:id="rId15"/>
    <p:sldId id="538" r:id="rId16"/>
    <p:sldId id="547" r:id="rId17"/>
    <p:sldId id="548" r:id="rId18"/>
    <p:sldId id="549" r:id="rId19"/>
    <p:sldId id="550" r:id="rId20"/>
    <p:sldId id="312" r:id="rId21"/>
    <p:sldId id="361" r:id="rId22"/>
    <p:sldId id="530" r:id="rId23"/>
    <p:sldId id="531" r:id="rId24"/>
    <p:sldId id="363" r:id="rId25"/>
    <p:sldId id="362" r:id="rId26"/>
    <p:sldId id="364" r:id="rId27"/>
    <p:sldId id="366" r:id="rId28"/>
    <p:sldId id="367" r:id="rId29"/>
    <p:sldId id="381" r:id="rId30"/>
    <p:sldId id="503" r:id="rId31"/>
    <p:sldId id="529" r:id="rId32"/>
    <p:sldId id="532" r:id="rId33"/>
    <p:sldId id="533" r:id="rId34"/>
    <p:sldId id="534" r:id="rId35"/>
    <p:sldId id="508" r:id="rId36"/>
    <p:sldId id="509" r:id="rId37"/>
    <p:sldId id="510" r:id="rId38"/>
    <p:sldId id="504" r:id="rId39"/>
    <p:sldId id="511" r:id="rId40"/>
    <p:sldId id="512" r:id="rId41"/>
    <p:sldId id="516" r:id="rId42"/>
    <p:sldId id="517" r:id="rId43"/>
    <p:sldId id="513" r:id="rId44"/>
    <p:sldId id="452" r:id="rId45"/>
    <p:sldId id="454" r:id="rId46"/>
    <p:sldId id="455" r:id="rId47"/>
    <p:sldId id="461" r:id="rId48"/>
    <p:sldId id="456" r:id="rId49"/>
    <p:sldId id="457" r:id="rId50"/>
    <p:sldId id="458" r:id="rId51"/>
    <p:sldId id="465" r:id="rId52"/>
    <p:sldId id="466" r:id="rId53"/>
    <p:sldId id="460" r:id="rId54"/>
    <p:sldId id="467" r:id="rId55"/>
    <p:sldId id="518" r:id="rId56"/>
    <p:sldId id="413" r:id="rId57"/>
    <p:sldId id="414" r:id="rId58"/>
    <p:sldId id="521" r:id="rId59"/>
    <p:sldId id="522" r:id="rId60"/>
    <p:sldId id="519" r:id="rId61"/>
    <p:sldId id="520" r:id="rId62"/>
    <p:sldId id="524" r:id="rId63"/>
    <p:sldId id="528" r:id="rId64"/>
    <p:sldId id="415" r:id="rId65"/>
    <p:sldId id="469" r:id="rId66"/>
    <p:sldId id="470" r:id="rId67"/>
    <p:sldId id="471" r:id="rId68"/>
    <p:sldId id="502" r:id="rId69"/>
    <p:sldId id="472" r:id="rId70"/>
    <p:sldId id="525" r:id="rId7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159B1B"/>
    <a:srgbClr val="2147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77518" autoAdjust="0"/>
  </p:normalViewPr>
  <p:slideViewPr>
    <p:cSldViewPr>
      <p:cViewPr varScale="1">
        <p:scale>
          <a:sx n="127" d="100"/>
          <a:sy n="127" d="100"/>
        </p:scale>
        <p:origin x="835" y="82"/>
      </p:cViewPr>
      <p:guideLst>
        <p:guide orient="horz" pos="2160"/>
        <p:guide pos="2880"/>
      </p:guideLst>
    </p:cSldViewPr>
  </p:slideViewPr>
  <p:notesTextViewPr>
    <p:cViewPr>
      <p:scale>
        <a:sx n="1" d="1"/>
        <a:sy n="1" d="1"/>
      </p:scale>
      <p:origin x="0" y="0"/>
    </p:cViewPr>
  </p:notesTextViewPr>
  <p:notesViewPr>
    <p:cSldViewPr>
      <p:cViewPr varScale="1">
        <p:scale>
          <a:sx n="88" d="100"/>
          <a:sy n="88" d="100"/>
        </p:scale>
        <p:origin x="-355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oleObject" Target="Chart%20in%20Microsoft%20Office%20PowerPoint"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barChart>
        <c:barDir val="col"/>
        <c:grouping val="clustered"/>
        <c:varyColors val="0"/>
        <c:ser>
          <c:idx val="0"/>
          <c:order val="0"/>
          <c:tx>
            <c:strRef>
              <c:f>'[Chart in Microsoft Office PowerPoint]Sheet1'!$A$12:$M$12</c:f>
              <c:strCache>
                <c:ptCount val="1"/>
                <c:pt idx="0">
                  <c:v>A  C  D  E  I  L  M  N  P  R  S  T  U </c:v>
                </c:pt>
              </c:strCache>
            </c:strRef>
          </c:tx>
          <c:invertIfNegative val="0"/>
          <c:cat>
            <c:strRef>
              <c:f>'[Chart in Microsoft Office PowerPoint]Sheet1'!$A$12:$M$12</c:f>
              <c:strCache>
                <c:ptCount val="13"/>
                <c:pt idx="0">
                  <c:v>A </c:v>
                </c:pt>
                <c:pt idx="1">
                  <c:v>C </c:v>
                </c:pt>
                <c:pt idx="2">
                  <c:v>D </c:v>
                </c:pt>
                <c:pt idx="3">
                  <c:v>E </c:v>
                </c:pt>
                <c:pt idx="4">
                  <c:v>I </c:v>
                </c:pt>
                <c:pt idx="5">
                  <c:v>L </c:v>
                </c:pt>
                <c:pt idx="6">
                  <c:v>M </c:v>
                </c:pt>
                <c:pt idx="7">
                  <c:v>N </c:v>
                </c:pt>
                <c:pt idx="8">
                  <c:v>P </c:v>
                </c:pt>
                <c:pt idx="9">
                  <c:v>R </c:v>
                </c:pt>
                <c:pt idx="10">
                  <c:v>S </c:v>
                </c:pt>
                <c:pt idx="11">
                  <c:v>T </c:v>
                </c:pt>
                <c:pt idx="12">
                  <c:v>U </c:v>
                </c:pt>
              </c:strCache>
            </c:strRef>
          </c:cat>
          <c:val>
            <c:numRef>
              <c:f>'[Chart in Microsoft Office PowerPoint]Sheet1'!$A$11:$M$11</c:f>
              <c:numCache>
                <c:formatCode>General</c:formatCode>
                <c:ptCount val="13"/>
                <c:pt idx="0">
                  <c:v>3</c:v>
                </c:pt>
                <c:pt idx="1">
                  <c:v>2</c:v>
                </c:pt>
                <c:pt idx="2">
                  <c:v>1</c:v>
                </c:pt>
                <c:pt idx="3">
                  <c:v>2</c:v>
                </c:pt>
                <c:pt idx="4">
                  <c:v>4</c:v>
                </c:pt>
                <c:pt idx="5">
                  <c:v>2</c:v>
                </c:pt>
                <c:pt idx="6">
                  <c:v>1</c:v>
                </c:pt>
                <c:pt idx="7">
                  <c:v>1</c:v>
                </c:pt>
                <c:pt idx="8">
                  <c:v>1</c:v>
                </c:pt>
                <c:pt idx="9">
                  <c:v>1</c:v>
                </c:pt>
                <c:pt idx="10">
                  <c:v>2</c:v>
                </c:pt>
                <c:pt idx="11">
                  <c:v>1</c:v>
                </c:pt>
                <c:pt idx="12">
                  <c:v>1</c:v>
                </c:pt>
              </c:numCache>
            </c:numRef>
          </c:val>
          <c:extLst>
            <c:ext xmlns:c16="http://schemas.microsoft.com/office/drawing/2014/chart" uri="{C3380CC4-5D6E-409C-BE32-E72D297353CC}">
              <c16:uniqueId val="{00000000-E7BB-4954-860D-979FF7DEA863}"/>
            </c:ext>
          </c:extLst>
        </c:ser>
        <c:dLbls>
          <c:showLegendKey val="0"/>
          <c:showVal val="0"/>
          <c:showCatName val="0"/>
          <c:showSerName val="0"/>
          <c:showPercent val="0"/>
          <c:showBubbleSize val="0"/>
        </c:dLbls>
        <c:gapWidth val="150"/>
        <c:axId val="48853376"/>
        <c:axId val="49218304"/>
      </c:barChart>
      <c:catAx>
        <c:axId val="48853376"/>
        <c:scaling>
          <c:orientation val="minMax"/>
        </c:scaling>
        <c:delete val="0"/>
        <c:axPos val="b"/>
        <c:numFmt formatCode="General" sourceLinked="1"/>
        <c:majorTickMark val="out"/>
        <c:minorTickMark val="none"/>
        <c:tickLblPos val="nextTo"/>
        <c:txPr>
          <a:bodyPr/>
          <a:lstStyle/>
          <a:p>
            <a:pPr>
              <a:defRPr lang="sr-Latn-RS"/>
            </a:pPr>
            <a:endParaRPr lang="en-US"/>
          </a:p>
        </c:txPr>
        <c:crossAx val="49218304"/>
        <c:crosses val="autoZero"/>
        <c:auto val="1"/>
        <c:lblAlgn val="ctr"/>
        <c:lblOffset val="100"/>
        <c:noMultiLvlLbl val="0"/>
      </c:catAx>
      <c:valAx>
        <c:axId val="49218304"/>
        <c:scaling>
          <c:orientation val="minMax"/>
        </c:scaling>
        <c:delete val="0"/>
        <c:axPos val="l"/>
        <c:majorGridlines/>
        <c:numFmt formatCode="General" sourceLinked="1"/>
        <c:majorTickMark val="out"/>
        <c:minorTickMark val="none"/>
        <c:tickLblPos val="nextTo"/>
        <c:txPr>
          <a:bodyPr/>
          <a:lstStyle/>
          <a:p>
            <a:pPr>
              <a:defRPr lang="sr-Latn-RS"/>
            </a:pPr>
            <a:endParaRPr lang="en-US"/>
          </a:p>
        </c:txPr>
        <c:crossAx val="488533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27" tIns="45713" rIns="91427" bIns="45713" rtlCol="0"/>
          <a:lstStyle>
            <a:lvl1pPr algn="l">
              <a:defRPr sz="1200"/>
            </a:lvl1pPr>
          </a:lstStyle>
          <a:p>
            <a:endParaRPr lang="en-US"/>
          </a:p>
        </p:txBody>
      </p:sp>
      <p:sp>
        <p:nvSpPr>
          <p:cNvPr id="3" name="Date Placeholder 2"/>
          <p:cNvSpPr>
            <a:spLocks noGrp="1"/>
          </p:cNvSpPr>
          <p:nvPr>
            <p:ph type="dt" sz="quarter" idx="1"/>
          </p:nvPr>
        </p:nvSpPr>
        <p:spPr>
          <a:xfrm>
            <a:off x="3970339" y="0"/>
            <a:ext cx="3038475" cy="465138"/>
          </a:xfrm>
          <a:prstGeom prst="rect">
            <a:avLst/>
          </a:prstGeom>
        </p:spPr>
        <p:txBody>
          <a:bodyPr vert="horz" lIns="91427" tIns="45713" rIns="91427" bIns="45713" rtlCol="0"/>
          <a:lstStyle>
            <a:lvl1pPr algn="r">
              <a:defRPr sz="1200"/>
            </a:lvl1pPr>
          </a:lstStyle>
          <a:p>
            <a:fld id="{407B3851-EDF6-4612-A343-97C889356B2B}" type="datetimeFigureOut">
              <a:rPr lang="en-US" smtClean="0"/>
              <a:pPr/>
              <a:t>3/19/2021</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27" tIns="45713" rIns="91427" bIns="45713" rtlCol="0" anchor="b"/>
          <a:lstStyle>
            <a:lvl1pPr algn="l">
              <a:defRPr sz="1200"/>
            </a:lvl1pPr>
          </a:lstStyle>
          <a:p>
            <a:endParaRPr lang="en-US"/>
          </a:p>
        </p:txBody>
      </p:sp>
      <p:sp>
        <p:nvSpPr>
          <p:cNvPr id="5" name="Slide Number Placeholder 4"/>
          <p:cNvSpPr>
            <a:spLocks noGrp="1"/>
          </p:cNvSpPr>
          <p:nvPr>
            <p:ph type="sldNum" sz="quarter" idx="3"/>
          </p:nvPr>
        </p:nvSpPr>
        <p:spPr>
          <a:xfrm>
            <a:off x="3970339" y="8829675"/>
            <a:ext cx="3038475" cy="465138"/>
          </a:xfrm>
          <a:prstGeom prst="rect">
            <a:avLst/>
          </a:prstGeom>
        </p:spPr>
        <p:txBody>
          <a:bodyPr vert="horz" lIns="91427" tIns="45713" rIns="91427" bIns="45713" rtlCol="0" anchor="b"/>
          <a:lstStyle>
            <a:lvl1pPr algn="r">
              <a:defRPr sz="1200"/>
            </a:lvl1pPr>
          </a:lstStyle>
          <a:p>
            <a:fld id="{B198CFB6-23D0-451D-ACFD-0C3A85E218CF}" type="slidenum">
              <a:rPr lang="en-US" smtClean="0"/>
              <a:pPr/>
              <a:t>‹#›</a:t>
            </a:fld>
            <a:endParaRPr lang="en-US"/>
          </a:p>
        </p:txBody>
      </p:sp>
    </p:spTree>
    <p:extLst>
      <p:ext uri="{BB962C8B-B14F-4D97-AF65-F5344CB8AC3E}">
        <p14:creationId xmlns:p14="http://schemas.microsoft.com/office/powerpoint/2010/main" val="9262140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Čuvar mesta za zaglavlje 1"/>
          <p:cNvSpPr>
            <a:spLocks noGrp="1"/>
          </p:cNvSpPr>
          <p:nvPr>
            <p:ph type="hdr" sz="quarter"/>
          </p:nvPr>
        </p:nvSpPr>
        <p:spPr>
          <a:xfrm>
            <a:off x="0" y="0"/>
            <a:ext cx="3037840" cy="464820"/>
          </a:xfrm>
          <a:prstGeom prst="rect">
            <a:avLst/>
          </a:prstGeom>
        </p:spPr>
        <p:txBody>
          <a:bodyPr vert="horz" lIns="93164" tIns="46582" rIns="93164" bIns="46582" rtlCol="0"/>
          <a:lstStyle>
            <a:lvl1pPr algn="l">
              <a:defRPr sz="1200"/>
            </a:lvl1pPr>
          </a:lstStyle>
          <a:p>
            <a:endParaRPr lang="sr-Latn-RS"/>
          </a:p>
        </p:txBody>
      </p:sp>
      <p:sp>
        <p:nvSpPr>
          <p:cNvPr id="3" name="Čuvar mesta za datum 2"/>
          <p:cNvSpPr>
            <a:spLocks noGrp="1"/>
          </p:cNvSpPr>
          <p:nvPr>
            <p:ph type="dt" idx="1"/>
          </p:nvPr>
        </p:nvSpPr>
        <p:spPr>
          <a:xfrm>
            <a:off x="3970938" y="0"/>
            <a:ext cx="3037840" cy="464820"/>
          </a:xfrm>
          <a:prstGeom prst="rect">
            <a:avLst/>
          </a:prstGeom>
        </p:spPr>
        <p:txBody>
          <a:bodyPr vert="horz" lIns="93164" tIns="46582" rIns="93164" bIns="46582" rtlCol="0"/>
          <a:lstStyle>
            <a:lvl1pPr algn="r">
              <a:defRPr sz="1200"/>
            </a:lvl1pPr>
          </a:lstStyle>
          <a:p>
            <a:fld id="{AC5F2AE1-B43D-41F8-9A2E-0248F631A1A7}" type="datetimeFigureOut">
              <a:rPr lang="sr-Latn-RS" smtClean="0"/>
              <a:pPr/>
              <a:t>19.3.2021.</a:t>
            </a:fld>
            <a:endParaRPr lang="sr-Latn-RS"/>
          </a:p>
        </p:txBody>
      </p:sp>
      <p:sp>
        <p:nvSpPr>
          <p:cNvPr id="4" name="Čuvar mesta za sliku na slajdu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64" tIns="46582" rIns="93164" bIns="46582" rtlCol="0" anchor="ctr"/>
          <a:lstStyle/>
          <a:p>
            <a:endParaRPr lang="sr-Latn-RS"/>
          </a:p>
        </p:txBody>
      </p:sp>
      <p:sp>
        <p:nvSpPr>
          <p:cNvPr id="5" name="Čuvar mesta za napomene 4"/>
          <p:cNvSpPr>
            <a:spLocks noGrp="1"/>
          </p:cNvSpPr>
          <p:nvPr>
            <p:ph type="body" sz="quarter" idx="3"/>
          </p:nvPr>
        </p:nvSpPr>
        <p:spPr>
          <a:xfrm>
            <a:off x="701040" y="4415790"/>
            <a:ext cx="5608320" cy="4183380"/>
          </a:xfrm>
          <a:prstGeom prst="rect">
            <a:avLst/>
          </a:prstGeom>
        </p:spPr>
        <p:txBody>
          <a:bodyPr vert="horz" lIns="93164" tIns="46582" rIns="93164" bIns="46582" rtlCol="0"/>
          <a:lstStyle/>
          <a:p>
            <a:pPr lvl="0"/>
            <a:r>
              <a:rPr lang="sr-Latn-CS" smtClean="0"/>
              <a:t>Kliknite i uredite tekst</a:t>
            </a:r>
          </a:p>
          <a:p>
            <a:pPr lvl="1"/>
            <a:r>
              <a:rPr lang="sr-Latn-CS" smtClean="0"/>
              <a:t>Drugi nivo</a:t>
            </a:r>
          </a:p>
          <a:p>
            <a:pPr lvl="2"/>
            <a:r>
              <a:rPr lang="sr-Latn-CS" smtClean="0"/>
              <a:t>Treći nivo</a:t>
            </a:r>
          </a:p>
          <a:p>
            <a:pPr lvl="3"/>
            <a:r>
              <a:rPr lang="sr-Latn-CS" smtClean="0"/>
              <a:t>Četvrti nivo</a:t>
            </a:r>
          </a:p>
          <a:p>
            <a:pPr lvl="4"/>
            <a:r>
              <a:rPr lang="sr-Latn-CS" smtClean="0"/>
              <a:t>Peti nivo</a:t>
            </a:r>
            <a:endParaRPr lang="sr-Latn-RS"/>
          </a:p>
        </p:txBody>
      </p:sp>
      <p:sp>
        <p:nvSpPr>
          <p:cNvPr id="6" name="Čuvar mesta za podnožje 5"/>
          <p:cNvSpPr>
            <a:spLocks noGrp="1"/>
          </p:cNvSpPr>
          <p:nvPr>
            <p:ph type="ftr" sz="quarter" idx="4"/>
          </p:nvPr>
        </p:nvSpPr>
        <p:spPr>
          <a:xfrm>
            <a:off x="0" y="8829967"/>
            <a:ext cx="3037840" cy="464820"/>
          </a:xfrm>
          <a:prstGeom prst="rect">
            <a:avLst/>
          </a:prstGeom>
        </p:spPr>
        <p:txBody>
          <a:bodyPr vert="horz" lIns="93164" tIns="46582" rIns="93164" bIns="46582" rtlCol="0" anchor="b"/>
          <a:lstStyle>
            <a:lvl1pPr algn="l">
              <a:defRPr sz="1200"/>
            </a:lvl1pPr>
          </a:lstStyle>
          <a:p>
            <a:endParaRPr lang="sr-Latn-RS"/>
          </a:p>
        </p:txBody>
      </p:sp>
      <p:sp>
        <p:nvSpPr>
          <p:cNvPr id="7" name="Čuvar mesta za broj slajda 6"/>
          <p:cNvSpPr>
            <a:spLocks noGrp="1"/>
          </p:cNvSpPr>
          <p:nvPr>
            <p:ph type="sldNum" sz="quarter" idx="5"/>
          </p:nvPr>
        </p:nvSpPr>
        <p:spPr>
          <a:xfrm>
            <a:off x="3970938" y="8829967"/>
            <a:ext cx="3037840" cy="464820"/>
          </a:xfrm>
          <a:prstGeom prst="rect">
            <a:avLst/>
          </a:prstGeom>
        </p:spPr>
        <p:txBody>
          <a:bodyPr vert="horz" lIns="93164" tIns="46582" rIns="93164" bIns="46582" rtlCol="0" anchor="b"/>
          <a:lstStyle>
            <a:lvl1pPr algn="r">
              <a:defRPr sz="1200"/>
            </a:lvl1pPr>
          </a:lstStyle>
          <a:p>
            <a:fld id="{9910C887-6775-47AA-8A4F-C833A0029179}" type="slidenum">
              <a:rPr lang="sr-Latn-RS" smtClean="0"/>
              <a:pPr/>
              <a:t>‹#›</a:t>
            </a:fld>
            <a:endParaRPr lang="sr-Latn-RS"/>
          </a:p>
        </p:txBody>
      </p:sp>
    </p:spTree>
    <p:extLst>
      <p:ext uri="{BB962C8B-B14F-4D97-AF65-F5344CB8AC3E}">
        <p14:creationId xmlns:p14="http://schemas.microsoft.com/office/powerpoint/2010/main" val="1192338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a:t>
            </a:fld>
            <a:endParaRPr lang="sr-Latn-RS"/>
          </a:p>
        </p:txBody>
      </p:sp>
    </p:spTree>
    <p:extLst>
      <p:ext uri="{BB962C8B-B14F-4D97-AF65-F5344CB8AC3E}">
        <p14:creationId xmlns:p14="http://schemas.microsoft.com/office/powerpoint/2010/main" val="3381290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bandwidth-limited problem that is dominated by memory access</a:t>
            </a:r>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4</a:t>
            </a:fld>
            <a:endParaRPr lang="sr-Latn-RS"/>
          </a:p>
        </p:txBody>
      </p:sp>
    </p:spTree>
    <p:extLst>
      <p:ext uri="{BB962C8B-B14F-4D97-AF65-F5344CB8AC3E}">
        <p14:creationId xmlns:p14="http://schemas.microsoft.com/office/powerpoint/2010/main" val="616192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a:t>
            </a:fld>
            <a:endParaRPr lang="sr-Latn-RS"/>
          </a:p>
        </p:txBody>
      </p:sp>
    </p:spTree>
    <p:extLst>
      <p:ext uri="{BB962C8B-B14F-4D97-AF65-F5344CB8AC3E}">
        <p14:creationId xmlns:p14="http://schemas.microsoft.com/office/powerpoint/2010/main" val="944082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a:t>
            </a:fld>
            <a:endParaRPr lang="sr-Latn-RS"/>
          </a:p>
        </p:txBody>
      </p:sp>
    </p:spTree>
    <p:extLst>
      <p:ext uri="{BB962C8B-B14F-4D97-AF65-F5344CB8AC3E}">
        <p14:creationId xmlns:p14="http://schemas.microsoft.com/office/powerpoint/2010/main" val="2523252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 the GPU this is the shared memory • Shared memory accesses are faster than even coalesced global memory accesses. If accessing same data multiple times, try to put it in shared memory. • Unfortunately, it is very small (48 KB or 16KB) • Must be managed by the programmer</a:t>
            </a:r>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7</a:t>
            </a:fld>
            <a:endParaRPr lang="sr-Latn-RS"/>
          </a:p>
        </p:txBody>
      </p:sp>
    </p:spTree>
    <p:extLst>
      <p:ext uri="{BB962C8B-B14F-4D97-AF65-F5344CB8AC3E}">
        <p14:creationId xmlns:p14="http://schemas.microsoft.com/office/powerpoint/2010/main" val="1392252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8</a:t>
            </a:fld>
            <a:endParaRPr lang="sr-Latn-RS"/>
          </a:p>
        </p:txBody>
      </p:sp>
    </p:spTree>
    <p:extLst>
      <p:ext uri="{BB962C8B-B14F-4D97-AF65-F5344CB8AC3E}">
        <p14:creationId xmlns:p14="http://schemas.microsoft.com/office/powerpoint/2010/main" val="38665949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9</a:t>
            </a:fld>
            <a:endParaRPr lang="sr-Latn-RS"/>
          </a:p>
        </p:txBody>
      </p:sp>
    </p:spTree>
    <p:extLst>
      <p:ext uri="{BB962C8B-B14F-4D97-AF65-F5344CB8AC3E}">
        <p14:creationId xmlns:p14="http://schemas.microsoft.com/office/powerpoint/2010/main" val="2650530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10</a:t>
            </a:fld>
            <a:endParaRPr lang="sr-Latn-RS"/>
          </a:p>
        </p:txBody>
      </p:sp>
    </p:spTree>
    <p:extLst>
      <p:ext uri="{BB962C8B-B14F-4D97-AF65-F5344CB8AC3E}">
        <p14:creationId xmlns:p14="http://schemas.microsoft.com/office/powerpoint/2010/main" val="3414621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11</a:t>
            </a:fld>
            <a:endParaRPr lang="sr-Latn-RS"/>
          </a:p>
        </p:txBody>
      </p:sp>
    </p:spTree>
    <p:extLst>
      <p:ext uri="{BB962C8B-B14F-4D97-AF65-F5344CB8AC3E}">
        <p14:creationId xmlns:p14="http://schemas.microsoft.com/office/powerpoint/2010/main" val="2645203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12</a:t>
            </a:fld>
            <a:endParaRPr lang="sr-Latn-RS"/>
          </a:p>
        </p:txBody>
      </p:sp>
    </p:spTree>
    <p:extLst>
      <p:ext uri="{BB962C8B-B14F-4D97-AF65-F5344CB8AC3E}">
        <p14:creationId xmlns:p14="http://schemas.microsoft.com/office/powerpoint/2010/main" val="31352332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13</a:t>
            </a:fld>
            <a:endParaRPr lang="sr-Latn-RS"/>
          </a:p>
        </p:txBody>
      </p:sp>
    </p:spTree>
    <p:extLst>
      <p:ext uri="{BB962C8B-B14F-4D97-AF65-F5344CB8AC3E}">
        <p14:creationId xmlns:p14="http://schemas.microsoft.com/office/powerpoint/2010/main" val="2280037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14</a:t>
            </a:fld>
            <a:endParaRPr lang="sr-Latn-RS"/>
          </a:p>
        </p:txBody>
      </p:sp>
    </p:spTree>
    <p:extLst>
      <p:ext uri="{BB962C8B-B14F-4D97-AF65-F5344CB8AC3E}">
        <p14:creationId xmlns:p14="http://schemas.microsoft.com/office/powerpoint/2010/main" val="2007094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15</a:t>
            </a:fld>
            <a:endParaRPr lang="sr-Latn-RS"/>
          </a:p>
        </p:txBody>
      </p:sp>
    </p:spTree>
    <p:extLst>
      <p:ext uri="{BB962C8B-B14F-4D97-AF65-F5344CB8AC3E}">
        <p14:creationId xmlns:p14="http://schemas.microsoft.com/office/powerpoint/2010/main" val="2356925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16</a:t>
            </a:fld>
            <a:endParaRPr lang="sr-Latn-RS"/>
          </a:p>
        </p:txBody>
      </p:sp>
    </p:spTree>
    <p:extLst>
      <p:ext uri="{BB962C8B-B14F-4D97-AF65-F5344CB8AC3E}">
        <p14:creationId xmlns:p14="http://schemas.microsoft.com/office/powerpoint/2010/main" val="4197010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17</a:t>
            </a:fld>
            <a:endParaRPr lang="sr-Latn-RS"/>
          </a:p>
        </p:txBody>
      </p:sp>
    </p:spTree>
    <p:extLst>
      <p:ext uri="{BB962C8B-B14F-4D97-AF65-F5344CB8AC3E}">
        <p14:creationId xmlns:p14="http://schemas.microsoft.com/office/powerpoint/2010/main" val="457833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18</a:t>
            </a:fld>
            <a:endParaRPr lang="sr-Latn-RS"/>
          </a:p>
        </p:txBody>
      </p:sp>
    </p:spTree>
    <p:extLst>
      <p:ext uri="{BB962C8B-B14F-4D97-AF65-F5344CB8AC3E}">
        <p14:creationId xmlns:p14="http://schemas.microsoft.com/office/powerpoint/2010/main" val="6789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19</a:t>
            </a:fld>
            <a:endParaRPr lang="sr-Latn-RS"/>
          </a:p>
        </p:txBody>
      </p:sp>
    </p:spTree>
    <p:extLst>
      <p:ext uri="{BB962C8B-B14F-4D97-AF65-F5344CB8AC3E}">
        <p14:creationId xmlns:p14="http://schemas.microsoft.com/office/powerpoint/2010/main" val="22759182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r-Latn-R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20</a:t>
            </a:fld>
            <a:endParaRPr lang="sr-Latn-RS"/>
          </a:p>
        </p:txBody>
      </p:sp>
    </p:spTree>
    <p:extLst>
      <p:ext uri="{BB962C8B-B14F-4D97-AF65-F5344CB8AC3E}">
        <p14:creationId xmlns:p14="http://schemas.microsoft.com/office/powerpoint/2010/main" val="1608753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21</a:t>
            </a:fld>
            <a:endParaRPr lang="sr-Latn-RS"/>
          </a:p>
        </p:txBody>
      </p:sp>
    </p:spTree>
    <p:extLst>
      <p:ext uri="{BB962C8B-B14F-4D97-AF65-F5344CB8AC3E}">
        <p14:creationId xmlns:p14="http://schemas.microsoft.com/office/powerpoint/2010/main" val="1846258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22</a:t>
            </a:fld>
            <a:endParaRPr lang="sr-Latn-RS"/>
          </a:p>
        </p:txBody>
      </p:sp>
    </p:spTree>
    <p:extLst>
      <p:ext uri="{BB962C8B-B14F-4D97-AF65-F5344CB8AC3E}">
        <p14:creationId xmlns:p14="http://schemas.microsoft.com/office/powerpoint/2010/main" val="3434264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23</a:t>
            </a:fld>
            <a:endParaRPr lang="sr-Latn-RS"/>
          </a:p>
        </p:txBody>
      </p:sp>
    </p:spTree>
    <p:extLst>
      <p:ext uri="{BB962C8B-B14F-4D97-AF65-F5344CB8AC3E}">
        <p14:creationId xmlns:p14="http://schemas.microsoft.com/office/powerpoint/2010/main" val="1750935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24</a:t>
            </a:fld>
            <a:endParaRPr lang="sr-Latn-RS"/>
          </a:p>
        </p:txBody>
      </p:sp>
    </p:spTree>
    <p:extLst>
      <p:ext uri="{BB962C8B-B14F-4D97-AF65-F5344CB8AC3E}">
        <p14:creationId xmlns:p14="http://schemas.microsoft.com/office/powerpoint/2010/main" val="455453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25</a:t>
            </a:fld>
            <a:endParaRPr lang="sr-Latn-RS"/>
          </a:p>
        </p:txBody>
      </p:sp>
    </p:spTree>
    <p:extLst>
      <p:ext uri="{BB962C8B-B14F-4D97-AF65-F5344CB8AC3E}">
        <p14:creationId xmlns:p14="http://schemas.microsoft.com/office/powerpoint/2010/main" val="35684976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26</a:t>
            </a:fld>
            <a:endParaRPr lang="sr-Latn-RS"/>
          </a:p>
        </p:txBody>
      </p:sp>
    </p:spTree>
    <p:extLst>
      <p:ext uri="{BB962C8B-B14F-4D97-AF65-F5344CB8AC3E}">
        <p14:creationId xmlns:p14="http://schemas.microsoft.com/office/powerpoint/2010/main" val="3551913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1390">
              <a:defRPr/>
            </a:pPr>
            <a:r>
              <a:rPr lang="fr-FR" dirty="0" err="1" smtClean="0"/>
              <a:t>Chapter</a:t>
            </a:r>
            <a:r>
              <a:rPr lang="fr-FR" dirty="0" smtClean="0"/>
              <a:t> 4.3 Matrix-Matrix Multiplication—A More </a:t>
            </a:r>
            <a:r>
              <a:rPr lang="fr-FR" dirty="0" err="1" smtClean="0"/>
              <a:t>Complex</a:t>
            </a:r>
            <a:r>
              <a:rPr lang="fr-FR" dirty="0" smtClean="0"/>
              <a:t> </a:t>
            </a:r>
            <a:r>
              <a:rPr lang="fr-FR" dirty="0" err="1" smtClean="0"/>
              <a:t>Kernel</a:t>
            </a:r>
            <a:r>
              <a:rPr lang="fr-FR" dirty="0" smtClean="0"/>
              <a:t>, </a:t>
            </a:r>
            <a:r>
              <a:rPr lang="sr-Latn-RS" dirty="0" smtClean="0"/>
              <a:t>David Kirk, Wen-mei Hwu:</a:t>
            </a:r>
            <a:r>
              <a:rPr lang="en-GB" baseline="0" dirty="0" smtClean="0"/>
              <a:t> </a:t>
            </a:r>
            <a:r>
              <a:rPr lang="sr-Latn-RS" i="1" dirty="0" smtClean="0"/>
              <a:t>Programming Massively Parallel Processors: A Hands-on Approach</a:t>
            </a:r>
            <a:r>
              <a:rPr lang="sr-Latn-RS" dirty="0" smtClean="0"/>
              <a:t>, Morgan Kaufmann</a:t>
            </a:r>
            <a:endParaRPr lang="en-US" dirty="0" smtClean="0"/>
          </a:p>
          <a:p>
            <a:endParaRPr lang="sr-Latn-R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27</a:t>
            </a:fld>
            <a:endParaRPr lang="sr-Latn-RS"/>
          </a:p>
        </p:txBody>
      </p:sp>
    </p:spTree>
    <p:extLst>
      <p:ext uri="{BB962C8B-B14F-4D97-AF65-F5344CB8AC3E}">
        <p14:creationId xmlns:p14="http://schemas.microsoft.com/office/powerpoint/2010/main" val="16478891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Npr.</a:t>
            </a:r>
            <a:r>
              <a:rPr lang="en-GB" baseline="0" smtClean="0"/>
              <a:t> za nit (0,0) u bloku (1,1)</a:t>
            </a:r>
          </a:p>
          <a:p>
            <a:r>
              <a:rPr lang="en-GB" baseline="0" smtClean="0"/>
              <a:t>Row = 1 * 2 + 0 = 2</a:t>
            </a:r>
          </a:p>
          <a:p>
            <a:r>
              <a:rPr lang="en-GB" baseline="0" smtClean="0"/>
              <a:t>Col = 1 * 2 + 0 = 2</a:t>
            </a:r>
            <a:endParaRPr lang="sr-Latn-R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28</a:t>
            </a:fld>
            <a:endParaRPr lang="sr-Latn-RS"/>
          </a:p>
        </p:txBody>
      </p:sp>
    </p:spTree>
    <p:extLst>
      <p:ext uri="{BB962C8B-B14F-4D97-AF65-F5344CB8AC3E}">
        <p14:creationId xmlns:p14="http://schemas.microsoft.com/office/powerpoint/2010/main" val="23481099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29</a:t>
            </a:fld>
            <a:endParaRPr lang="sr-Latn-RS"/>
          </a:p>
        </p:txBody>
      </p:sp>
    </p:spTree>
    <p:extLst>
      <p:ext uri="{BB962C8B-B14F-4D97-AF65-F5344CB8AC3E}">
        <p14:creationId xmlns:p14="http://schemas.microsoft.com/office/powerpoint/2010/main" val="3930442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30</a:t>
            </a:fld>
            <a:endParaRPr lang="sr-Latn-RS"/>
          </a:p>
        </p:txBody>
      </p:sp>
    </p:spTree>
    <p:extLst>
      <p:ext uri="{BB962C8B-B14F-4D97-AF65-F5344CB8AC3E}">
        <p14:creationId xmlns:p14="http://schemas.microsoft.com/office/powerpoint/2010/main" val="1011182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31</a:t>
            </a:fld>
            <a:endParaRPr lang="sr-Latn-RS"/>
          </a:p>
        </p:txBody>
      </p:sp>
    </p:spTree>
    <p:extLst>
      <p:ext uri="{BB962C8B-B14F-4D97-AF65-F5344CB8AC3E}">
        <p14:creationId xmlns:p14="http://schemas.microsoft.com/office/powerpoint/2010/main" val="6046306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32</a:t>
            </a:fld>
            <a:endParaRPr lang="sr-Latn-RS"/>
          </a:p>
        </p:txBody>
      </p:sp>
    </p:spTree>
    <p:extLst>
      <p:ext uri="{BB962C8B-B14F-4D97-AF65-F5344CB8AC3E}">
        <p14:creationId xmlns:p14="http://schemas.microsoft.com/office/powerpoint/2010/main" val="6903244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33</a:t>
            </a:fld>
            <a:endParaRPr lang="sr-Latn-RS"/>
          </a:p>
        </p:txBody>
      </p:sp>
    </p:spTree>
    <p:extLst>
      <p:ext uri="{BB962C8B-B14F-4D97-AF65-F5344CB8AC3E}">
        <p14:creationId xmlns:p14="http://schemas.microsoft.com/office/powerpoint/2010/main" val="536541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34</a:t>
            </a:fld>
            <a:endParaRPr lang="sr-Latn-RS"/>
          </a:p>
        </p:txBody>
      </p:sp>
    </p:spTree>
    <p:extLst>
      <p:ext uri="{BB962C8B-B14F-4D97-AF65-F5344CB8AC3E}">
        <p14:creationId xmlns:p14="http://schemas.microsoft.com/office/powerpoint/2010/main" val="13493965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35</a:t>
            </a:fld>
            <a:endParaRPr lang="sr-Latn-RS"/>
          </a:p>
        </p:txBody>
      </p:sp>
    </p:spTree>
    <p:extLst>
      <p:ext uri="{BB962C8B-B14F-4D97-AF65-F5344CB8AC3E}">
        <p14:creationId xmlns:p14="http://schemas.microsoft.com/office/powerpoint/2010/main" val="4225960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36</a:t>
            </a:fld>
            <a:endParaRPr lang="sr-Latn-RS"/>
          </a:p>
        </p:txBody>
      </p:sp>
    </p:spTree>
    <p:extLst>
      <p:ext uri="{BB962C8B-B14F-4D97-AF65-F5344CB8AC3E}">
        <p14:creationId xmlns:p14="http://schemas.microsoft.com/office/powerpoint/2010/main" val="200664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881390">
              <a:defRPr/>
            </a:pPr>
            <a:r>
              <a:rPr lang="fr-FR" smtClean="0"/>
              <a:t>Chapter 5.4 A Tiled Matrix–Matrix Multiplication Kernel, </a:t>
            </a:r>
            <a:r>
              <a:rPr lang="sr-Latn-RS" smtClean="0"/>
              <a:t>David Kirk, Wen-mei Hwu:</a:t>
            </a:r>
            <a:r>
              <a:rPr lang="en-GB" baseline="0" smtClean="0"/>
              <a:t> </a:t>
            </a:r>
            <a:r>
              <a:rPr lang="sr-Latn-RS" i="1" smtClean="0"/>
              <a:t>Programming Massively Parallel Processors: A Hands-on Approach</a:t>
            </a:r>
            <a:r>
              <a:rPr lang="sr-Latn-RS" smtClean="0"/>
              <a:t>, Morgan Kaufmann</a:t>
            </a:r>
            <a:endParaRPr lang="en-US" smtClean="0"/>
          </a:p>
          <a:p>
            <a:endParaRPr lang="sr-Latn-R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37</a:t>
            </a:fld>
            <a:endParaRPr lang="sr-Latn-RS"/>
          </a:p>
        </p:txBody>
      </p:sp>
    </p:spTree>
    <p:extLst>
      <p:ext uri="{BB962C8B-B14F-4D97-AF65-F5344CB8AC3E}">
        <p14:creationId xmlns:p14="http://schemas.microsoft.com/office/powerpoint/2010/main" val="3925579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38</a:t>
            </a:fld>
            <a:endParaRPr lang="sr-Latn-RS"/>
          </a:p>
        </p:txBody>
      </p:sp>
    </p:spTree>
    <p:extLst>
      <p:ext uri="{BB962C8B-B14F-4D97-AF65-F5344CB8AC3E}">
        <p14:creationId xmlns:p14="http://schemas.microsoft.com/office/powerpoint/2010/main" val="6984707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39</a:t>
            </a:fld>
            <a:endParaRPr lang="sr-Latn-RS"/>
          </a:p>
        </p:txBody>
      </p:sp>
    </p:spTree>
    <p:extLst>
      <p:ext uri="{BB962C8B-B14F-4D97-AF65-F5344CB8AC3E}">
        <p14:creationId xmlns:p14="http://schemas.microsoft.com/office/powerpoint/2010/main" val="37457811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40</a:t>
            </a:fld>
            <a:endParaRPr lang="sr-Latn-RS"/>
          </a:p>
        </p:txBody>
      </p:sp>
    </p:spTree>
    <p:extLst>
      <p:ext uri="{BB962C8B-B14F-4D97-AF65-F5344CB8AC3E}">
        <p14:creationId xmlns:p14="http://schemas.microsoft.com/office/powerpoint/2010/main" val="3570609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41</a:t>
            </a:fld>
            <a:endParaRPr lang="sr-Latn-RS"/>
          </a:p>
        </p:txBody>
      </p:sp>
    </p:spTree>
    <p:extLst>
      <p:ext uri="{BB962C8B-B14F-4D97-AF65-F5344CB8AC3E}">
        <p14:creationId xmlns:p14="http://schemas.microsoft.com/office/powerpoint/2010/main" val="25149213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42</a:t>
            </a:fld>
            <a:endParaRPr lang="sr-Latn-R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43</a:t>
            </a:fld>
            <a:endParaRPr lang="sr-Latn-RS"/>
          </a:p>
        </p:txBody>
      </p:sp>
    </p:spTree>
    <p:extLst>
      <p:ext uri="{BB962C8B-B14F-4D97-AF65-F5344CB8AC3E}">
        <p14:creationId xmlns:p14="http://schemas.microsoft.com/office/powerpoint/2010/main" val="21613502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44</a:t>
            </a:fld>
            <a:endParaRPr lang="sr-Latn-RS"/>
          </a:p>
        </p:txBody>
      </p:sp>
    </p:spTree>
    <p:extLst>
      <p:ext uri="{BB962C8B-B14F-4D97-AF65-F5344CB8AC3E}">
        <p14:creationId xmlns:p14="http://schemas.microsoft.com/office/powerpoint/2010/main" val="1207484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45</a:t>
            </a:fld>
            <a:endParaRPr lang="sr-Latn-RS"/>
          </a:p>
        </p:txBody>
      </p:sp>
    </p:spTree>
    <p:extLst>
      <p:ext uri="{BB962C8B-B14F-4D97-AF65-F5344CB8AC3E}">
        <p14:creationId xmlns:p14="http://schemas.microsoft.com/office/powerpoint/2010/main" val="50666753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46</a:t>
            </a:fld>
            <a:endParaRPr lang="sr-Latn-RS"/>
          </a:p>
        </p:txBody>
      </p:sp>
    </p:spTree>
    <p:extLst>
      <p:ext uri="{BB962C8B-B14F-4D97-AF65-F5344CB8AC3E}">
        <p14:creationId xmlns:p14="http://schemas.microsoft.com/office/powerpoint/2010/main" val="42279601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47</a:t>
            </a:fld>
            <a:endParaRPr lang="sr-Latn-RS"/>
          </a:p>
        </p:txBody>
      </p:sp>
    </p:spTree>
    <p:extLst>
      <p:ext uri="{BB962C8B-B14F-4D97-AF65-F5344CB8AC3E}">
        <p14:creationId xmlns:p14="http://schemas.microsoft.com/office/powerpoint/2010/main" val="2875545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48</a:t>
            </a:fld>
            <a:endParaRPr lang="sr-Latn-RS"/>
          </a:p>
        </p:txBody>
      </p:sp>
    </p:spTree>
    <p:extLst>
      <p:ext uri="{BB962C8B-B14F-4D97-AF65-F5344CB8AC3E}">
        <p14:creationId xmlns:p14="http://schemas.microsoft.com/office/powerpoint/2010/main" val="35412034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49</a:t>
            </a:fld>
            <a:endParaRPr lang="sr-Latn-RS"/>
          </a:p>
        </p:txBody>
      </p:sp>
    </p:spTree>
    <p:extLst>
      <p:ext uri="{BB962C8B-B14F-4D97-AF65-F5344CB8AC3E}">
        <p14:creationId xmlns:p14="http://schemas.microsoft.com/office/powerpoint/2010/main" val="12670881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50</a:t>
            </a:fld>
            <a:endParaRPr lang="sr-Latn-RS"/>
          </a:p>
        </p:txBody>
      </p:sp>
    </p:spTree>
    <p:extLst>
      <p:ext uri="{BB962C8B-B14F-4D97-AF65-F5344CB8AC3E}">
        <p14:creationId xmlns:p14="http://schemas.microsoft.com/office/powerpoint/2010/main" val="16344542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51</a:t>
            </a:fld>
            <a:endParaRPr lang="sr-Latn-RS"/>
          </a:p>
        </p:txBody>
      </p:sp>
    </p:spTree>
    <p:extLst>
      <p:ext uri="{BB962C8B-B14F-4D97-AF65-F5344CB8AC3E}">
        <p14:creationId xmlns:p14="http://schemas.microsoft.com/office/powerpoint/2010/main" val="5184759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52</a:t>
            </a:fld>
            <a:endParaRPr lang="sr-Latn-R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53</a:t>
            </a:fld>
            <a:endParaRPr lang="sr-Latn-R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54</a:t>
            </a:fld>
            <a:endParaRPr lang="sr-Latn-R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55</a:t>
            </a:fld>
            <a:endParaRPr lang="sr-Latn-RS"/>
          </a:p>
        </p:txBody>
      </p:sp>
    </p:spTree>
    <p:extLst>
      <p:ext uri="{BB962C8B-B14F-4D97-AF65-F5344CB8AC3E}">
        <p14:creationId xmlns:p14="http://schemas.microsoft.com/office/powerpoint/2010/main" val="16063917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56</a:t>
            </a:fld>
            <a:endParaRPr lang="sr-Latn-RS"/>
          </a:p>
        </p:txBody>
      </p:sp>
    </p:spTree>
    <p:extLst>
      <p:ext uri="{BB962C8B-B14F-4D97-AF65-F5344CB8AC3E}">
        <p14:creationId xmlns:p14="http://schemas.microsoft.com/office/powerpoint/2010/main" val="7608440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57</a:t>
            </a:fld>
            <a:endParaRPr lang="sr-Latn-RS"/>
          </a:p>
        </p:txBody>
      </p:sp>
    </p:spTree>
    <p:extLst>
      <p:ext uri="{BB962C8B-B14F-4D97-AF65-F5344CB8AC3E}">
        <p14:creationId xmlns:p14="http://schemas.microsoft.com/office/powerpoint/2010/main" val="16995889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58</a:t>
            </a:fld>
            <a:endParaRPr lang="sr-Latn-RS"/>
          </a:p>
        </p:txBody>
      </p:sp>
    </p:spTree>
    <p:extLst>
      <p:ext uri="{BB962C8B-B14F-4D97-AF65-F5344CB8AC3E}">
        <p14:creationId xmlns:p14="http://schemas.microsoft.com/office/powerpoint/2010/main" val="36288551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59</a:t>
            </a:fld>
            <a:endParaRPr lang="sr-Latn-RS"/>
          </a:p>
        </p:txBody>
      </p:sp>
    </p:spTree>
    <p:extLst>
      <p:ext uri="{BB962C8B-B14F-4D97-AF65-F5344CB8AC3E}">
        <p14:creationId xmlns:p14="http://schemas.microsoft.com/office/powerpoint/2010/main" val="34582970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60</a:t>
            </a:fld>
            <a:endParaRPr lang="sr-Latn-RS"/>
          </a:p>
        </p:txBody>
      </p:sp>
    </p:spTree>
    <p:extLst>
      <p:ext uri="{BB962C8B-B14F-4D97-AF65-F5344CB8AC3E}">
        <p14:creationId xmlns:p14="http://schemas.microsoft.com/office/powerpoint/2010/main" val="28596969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61</a:t>
            </a:fld>
            <a:endParaRPr lang="sr-Latn-RS"/>
          </a:p>
        </p:txBody>
      </p:sp>
    </p:spTree>
    <p:extLst>
      <p:ext uri="{BB962C8B-B14F-4D97-AF65-F5344CB8AC3E}">
        <p14:creationId xmlns:p14="http://schemas.microsoft.com/office/powerpoint/2010/main" val="25376142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62</a:t>
            </a:fld>
            <a:endParaRPr lang="sr-Latn-RS"/>
          </a:p>
        </p:txBody>
      </p:sp>
    </p:spTree>
    <p:extLst>
      <p:ext uri="{BB962C8B-B14F-4D97-AF65-F5344CB8AC3E}">
        <p14:creationId xmlns:p14="http://schemas.microsoft.com/office/powerpoint/2010/main" val="25389388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63</a:t>
            </a:fld>
            <a:endParaRPr lang="sr-Latn-RS"/>
          </a:p>
        </p:txBody>
      </p:sp>
    </p:spTree>
    <p:extLst>
      <p:ext uri="{BB962C8B-B14F-4D97-AF65-F5344CB8AC3E}">
        <p14:creationId xmlns:p14="http://schemas.microsoft.com/office/powerpoint/2010/main" val="320675193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1390">
              <a:defRPr/>
            </a:pPr>
            <a:r>
              <a:rPr lang="en-GB"/>
              <a:t>Chapter 9.4 </a:t>
            </a:r>
            <a:r>
              <a:rPr lang="sr-Latn-RS"/>
              <a:t>Computing Histograms</a:t>
            </a:r>
            <a:r>
              <a:rPr lang="en-GB"/>
              <a:t>, </a:t>
            </a:r>
            <a:r>
              <a:rPr lang="en-US" smtClean="0"/>
              <a:t>Jason Sanders, Edward Kandrot: </a:t>
            </a:r>
            <a:r>
              <a:rPr lang="en-US" i="1" smtClean="0"/>
              <a:t>CUDA by example: an introduction to general-purpose GPU programming</a:t>
            </a:r>
            <a:r>
              <a:rPr lang="en-US" smtClean="0"/>
              <a:t>, </a:t>
            </a:r>
            <a:r>
              <a:rPr lang="sr-Latn-RS" smtClean="0"/>
              <a:t> Addison-Wesley Professional</a:t>
            </a:r>
            <a:endParaRPr lang="en-GB" smtClean="0"/>
          </a:p>
          <a:p>
            <a:endParaRPr lang="en-US" dirty="0"/>
          </a:p>
        </p:txBody>
      </p:sp>
      <p:sp>
        <p:nvSpPr>
          <p:cNvPr id="4" name="Slide Number Placeholder 3"/>
          <p:cNvSpPr>
            <a:spLocks noGrp="1"/>
          </p:cNvSpPr>
          <p:nvPr>
            <p:ph type="sldNum" sz="quarter" idx="10"/>
          </p:nvPr>
        </p:nvSpPr>
        <p:spPr/>
        <p:txBody>
          <a:bodyPr/>
          <a:lstStyle/>
          <a:p>
            <a:fld id="{9910C887-6775-47AA-8A4F-C833A0029179}" type="slidenum">
              <a:rPr lang="sr-Latn-RS" smtClean="0"/>
              <a:pPr/>
              <a:t>64</a:t>
            </a:fld>
            <a:endParaRPr lang="sr-Latn-R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65</a:t>
            </a:fld>
            <a:endParaRPr lang="sr-Latn-RS"/>
          </a:p>
        </p:txBody>
      </p:sp>
    </p:spTree>
    <p:extLst>
      <p:ext uri="{BB962C8B-B14F-4D97-AF65-F5344CB8AC3E}">
        <p14:creationId xmlns:p14="http://schemas.microsoft.com/office/powerpoint/2010/main" val="210257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66</a:t>
            </a:fld>
            <a:endParaRPr lang="sr-Latn-RS"/>
          </a:p>
        </p:txBody>
      </p:sp>
    </p:spTree>
    <p:extLst>
      <p:ext uri="{BB962C8B-B14F-4D97-AF65-F5344CB8AC3E}">
        <p14:creationId xmlns:p14="http://schemas.microsoft.com/office/powerpoint/2010/main" val="32876890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67</a:t>
            </a:fld>
            <a:endParaRPr lang="sr-Latn-RS"/>
          </a:p>
        </p:txBody>
      </p:sp>
    </p:spTree>
    <p:extLst>
      <p:ext uri="{BB962C8B-B14F-4D97-AF65-F5344CB8AC3E}">
        <p14:creationId xmlns:p14="http://schemas.microsoft.com/office/powerpoint/2010/main" val="26865863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68</a:t>
            </a:fld>
            <a:endParaRPr lang="sr-Latn-RS"/>
          </a:p>
        </p:txBody>
      </p:sp>
    </p:spTree>
    <p:extLst>
      <p:ext uri="{BB962C8B-B14F-4D97-AF65-F5344CB8AC3E}">
        <p14:creationId xmlns:p14="http://schemas.microsoft.com/office/powerpoint/2010/main" val="87401478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call </a:t>
            </a:r>
            <a:r>
              <a:rPr lang="en-GB" b="1"/>
              <a:t>atomicAdd( addr, y );</a:t>
            </a:r>
            <a:r>
              <a:rPr lang="en-GB"/>
              <a:t> generates an atomic sequence of operations that read the value at address addr, adds y to that value, and stores the result back to the memory address addr. The hardware guarantees us that no other thread can read or write the value at address addr while we perform these operations, thus ensuring predictable results.</a:t>
            </a:r>
            <a:endParaRPr lang="sr-Latn-RS"/>
          </a:p>
        </p:txBody>
      </p:sp>
      <p:sp>
        <p:nvSpPr>
          <p:cNvPr id="4" name="Slide Number Placeholder 3"/>
          <p:cNvSpPr>
            <a:spLocks noGrp="1"/>
          </p:cNvSpPr>
          <p:nvPr>
            <p:ph type="sldNum" sz="quarter" idx="10"/>
          </p:nvPr>
        </p:nvSpPr>
        <p:spPr/>
        <p:txBody>
          <a:bodyPr/>
          <a:lstStyle/>
          <a:p>
            <a:fld id="{9910C887-6775-47AA-8A4F-C833A0029179}" type="slidenum">
              <a:rPr lang="sr-Latn-RS" smtClean="0"/>
              <a:pPr/>
              <a:t>69</a:t>
            </a:fld>
            <a:endParaRPr lang="sr-Latn-RS"/>
          </a:p>
        </p:txBody>
      </p:sp>
    </p:spTree>
    <p:extLst>
      <p:ext uri="{BB962C8B-B14F-4D97-AF65-F5344CB8AC3E}">
        <p14:creationId xmlns:p14="http://schemas.microsoft.com/office/powerpoint/2010/main" val="18136826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Each</a:t>
            </a:r>
            <a:r>
              <a:rPr lang="en-GB" baseline="0" smtClean="0"/>
              <a:t> </a:t>
            </a:r>
            <a:r>
              <a:rPr lang="en-GB" smtClean="0"/>
              <a:t>parallel block will compute a separate histogram of the data</a:t>
            </a:r>
            <a:r>
              <a:rPr lang="en-GB" baseline="0" smtClean="0"/>
              <a:t> </a:t>
            </a:r>
            <a:r>
              <a:rPr lang="en-GB" smtClean="0"/>
              <a:t>that its constituent threads examine. Since each block does this independently,</a:t>
            </a:r>
            <a:r>
              <a:rPr lang="en-GB" baseline="0" smtClean="0"/>
              <a:t> </a:t>
            </a:r>
            <a:r>
              <a:rPr lang="en-GB" smtClean="0"/>
              <a:t>we can compute</a:t>
            </a:r>
            <a:r>
              <a:rPr lang="en-GB" baseline="0" smtClean="0"/>
              <a:t> </a:t>
            </a:r>
            <a:r>
              <a:rPr lang="en-GB" smtClean="0"/>
              <a:t>these histograms in shared memory, saving us the time of</a:t>
            </a:r>
            <a:r>
              <a:rPr lang="en-GB" baseline="0" smtClean="0"/>
              <a:t> </a:t>
            </a:r>
            <a:r>
              <a:rPr lang="en-GB" smtClean="0"/>
              <a:t>sending each write-off chip to DRAM. Doing this does not free us from needing</a:t>
            </a:r>
            <a:r>
              <a:rPr lang="en-GB" baseline="0" smtClean="0"/>
              <a:t> </a:t>
            </a:r>
            <a:r>
              <a:rPr lang="en-GB" smtClean="0"/>
              <a:t>atomic operations,</a:t>
            </a:r>
            <a:r>
              <a:rPr lang="en-GB" baseline="0" smtClean="0"/>
              <a:t> </a:t>
            </a:r>
            <a:r>
              <a:rPr lang="en-GB" smtClean="0"/>
              <a:t>though, since multiple threads within the block can still</a:t>
            </a:r>
            <a:r>
              <a:rPr lang="en-GB" baseline="0" smtClean="0"/>
              <a:t> </a:t>
            </a:r>
            <a:r>
              <a:rPr lang="en-GB" smtClean="0"/>
              <a:t>examine data elements with the same value. </a:t>
            </a:r>
            <a:r>
              <a:rPr lang="en-GB" b="1" smtClean="0"/>
              <a:t>However, the fact that only 256</a:t>
            </a:r>
            <a:r>
              <a:rPr lang="en-GB" b="1" baseline="0" smtClean="0"/>
              <a:t> </a:t>
            </a:r>
            <a:r>
              <a:rPr lang="en-GB" b="1" smtClean="0"/>
              <a:t>threads will now be competing</a:t>
            </a:r>
            <a:r>
              <a:rPr lang="en-GB" b="1" baseline="0" smtClean="0"/>
              <a:t> </a:t>
            </a:r>
            <a:r>
              <a:rPr lang="en-GB" b="1" smtClean="0"/>
              <a:t>for 256 addresses will reduce contention from the</a:t>
            </a:r>
            <a:r>
              <a:rPr lang="en-GB" b="1" baseline="0" smtClean="0"/>
              <a:t> </a:t>
            </a:r>
            <a:r>
              <a:rPr lang="en-GB" b="1" smtClean="0"/>
              <a:t>global version where thousands of threads were competing.</a:t>
            </a:r>
          </a:p>
          <a:p>
            <a:endParaRPr lang="en-GB" smtClean="0"/>
          </a:p>
          <a:p>
            <a:r>
              <a:rPr lang="en-GB"/>
              <a:t>Since we have decided to use 256 threads and have 256 histogram bins, </a:t>
            </a:r>
            <a:r>
              <a:rPr lang="en-GB" b="1"/>
              <a:t>each thread atomically adds a single bin to the final histogram’s total</a:t>
            </a:r>
            <a:r>
              <a:rPr lang="en-GB"/>
              <a:t>. If these numbers didn’t match, this phase would be more complicated.</a:t>
            </a:r>
            <a:endParaRPr lang="sr-Latn-RS"/>
          </a:p>
        </p:txBody>
      </p:sp>
      <p:sp>
        <p:nvSpPr>
          <p:cNvPr id="4" name="Slide Number Placeholder 3"/>
          <p:cNvSpPr>
            <a:spLocks noGrp="1"/>
          </p:cNvSpPr>
          <p:nvPr>
            <p:ph type="sldNum" sz="quarter" idx="10"/>
          </p:nvPr>
        </p:nvSpPr>
        <p:spPr/>
        <p:txBody>
          <a:bodyPr/>
          <a:lstStyle/>
          <a:p>
            <a:fld id="{9910C887-6775-47AA-8A4F-C833A0029179}" type="slidenum">
              <a:rPr lang="sr-Latn-RS" smtClean="0"/>
              <a:pPr/>
              <a:t>70</a:t>
            </a:fld>
            <a:endParaRPr lang="sr-Latn-RS"/>
          </a:p>
        </p:txBody>
      </p:sp>
    </p:spTree>
    <p:extLst>
      <p:ext uri="{BB962C8B-B14F-4D97-AF65-F5344CB8AC3E}">
        <p14:creationId xmlns:p14="http://schemas.microsoft.com/office/powerpoint/2010/main" val="586465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1A6BFFF-E78E-43B4-8633-1DEC8BF32782}" type="datetime1">
              <a:rPr lang="en-US" smtClean="0"/>
              <a:t>3/19/2021</a:t>
            </a:fld>
            <a:endParaRPr lang="en-US" dirty="0"/>
          </a:p>
        </p:txBody>
      </p:sp>
      <p:sp>
        <p:nvSpPr>
          <p:cNvPr id="6" name="Slide Number Placeholder 5"/>
          <p:cNvSpPr>
            <a:spLocks noGrp="1"/>
          </p:cNvSpPr>
          <p:nvPr>
            <p:ph type="sldNum" sz="quarter" idx="12"/>
          </p:nvPr>
        </p:nvSpPr>
        <p:spPr/>
        <p:txBody>
          <a:bodyPr/>
          <a:lstStyle/>
          <a:p>
            <a:fld id="{036081D1-8380-407A-ABF3-D12854566F9D}"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6AB457-D035-48AB-89DD-EAF5D6A8EBE1}" type="datetime1">
              <a:rPr lang="en-US" smtClean="0"/>
              <a:t>3/19/2021</a:t>
            </a:fld>
            <a:endParaRPr lang="en-US" dirty="0"/>
          </a:p>
        </p:txBody>
      </p:sp>
      <p:sp>
        <p:nvSpPr>
          <p:cNvPr id="6" name="Slide Number Placeholder 5"/>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FDB98C-E200-4D04-B405-52F553F9A548}" type="datetime1">
              <a:rPr lang="en-US" smtClean="0"/>
              <a:t>3/19/2021</a:t>
            </a:fld>
            <a:endParaRPr lang="en-US" dirty="0"/>
          </a:p>
        </p:txBody>
      </p:sp>
      <p:sp>
        <p:nvSpPr>
          <p:cNvPr id="6" name="Slide Number Placeholder 5"/>
          <p:cNvSpPr>
            <a:spLocks noGrp="1"/>
          </p:cNvSpPr>
          <p:nvPr>
            <p:ph type="sldNum" sz="quarter" idx="12"/>
          </p:nvPr>
        </p:nvSpPr>
        <p:spPr/>
        <p:txBody>
          <a:bodyPr/>
          <a:lstStyle/>
          <a:p>
            <a:fld id="{036081D1-8380-407A-ABF3-D12854566F9D}"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BF56001-D9FB-4904-B18B-A49748237F63}" type="datetime1">
              <a:rPr lang="en-US" smtClean="0"/>
              <a:t>3/19/2021</a:t>
            </a:fld>
            <a:endParaRPr lang="en-US" dirty="0"/>
          </a:p>
        </p:txBody>
      </p:sp>
      <p:sp>
        <p:nvSpPr>
          <p:cNvPr id="7" name="Slide Number Placeholder 6"/>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B8AFBED-4D2A-4D5D-B580-9F418AE21004}" type="datetime1">
              <a:rPr lang="en-US" smtClean="0"/>
              <a:t>3/19/2021</a:t>
            </a:fld>
            <a:endParaRPr lang="en-US" dirty="0"/>
          </a:p>
        </p:txBody>
      </p:sp>
      <p:sp>
        <p:nvSpPr>
          <p:cNvPr id="9" name="Slide Number Placeholder 8"/>
          <p:cNvSpPr>
            <a:spLocks noGrp="1"/>
          </p:cNvSpPr>
          <p:nvPr>
            <p:ph type="sldNum" sz="quarter" idx="12"/>
          </p:nvPr>
        </p:nvSpPr>
        <p:spPr/>
        <p:txBody>
          <a:bodyPr/>
          <a:lstStyle/>
          <a:p>
            <a:fld id="{036081D1-8380-407A-ABF3-D12854566F9D}"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FB6BF0-0BF8-4591-B11A-E141E9D9E753}" type="datetime1">
              <a:rPr lang="en-US" smtClean="0"/>
              <a:t>3/19/2021</a:t>
            </a:fld>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32726F-BD1D-4318-AADE-6AE6541C736F}" type="datetime1">
              <a:rPr lang="en-US" smtClean="0"/>
              <a:t>3/19/2021</a:t>
            </a:fld>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167288C-CB1F-43DF-A0C5-3E760825DE77}" type="datetime1">
              <a:rPr lang="en-US" smtClean="0"/>
              <a:t>3/19/2021</a:t>
            </a:fld>
            <a:endParaRPr lang="en-US" dirty="0"/>
          </a:p>
        </p:txBody>
      </p:sp>
      <p:sp>
        <p:nvSpPr>
          <p:cNvPr id="7" name="Slide Number Placeholder 6"/>
          <p:cNvSpPr>
            <a:spLocks noGrp="1"/>
          </p:cNvSpPr>
          <p:nvPr>
            <p:ph type="sldNum" sz="quarter" idx="12"/>
          </p:nvPr>
        </p:nvSpPr>
        <p:spPr/>
        <p:txBody>
          <a:bodyPr/>
          <a:lstStyle/>
          <a:p>
            <a:fld id="{036081D1-8380-407A-ABF3-D12854566F9D}"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9F64A17-AFB3-47C6-AA38-8FAEE1B45749}" type="datetime1">
              <a:rPr lang="en-US" smtClean="0"/>
              <a:t>3/19/2021</a:t>
            </a:fld>
            <a:endParaRPr lang="en-US" dirty="0"/>
          </a:p>
        </p:txBody>
      </p:sp>
      <p:sp>
        <p:nvSpPr>
          <p:cNvPr id="7" name="Slide Number Placeholder 6"/>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063A79-2448-402B-AA71-BC421FCD6DF9}" type="datetime1">
              <a:rPr lang="en-US" smtClean="0"/>
              <a:t>3/19/2021</a:t>
            </a:fld>
            <a:endParaRPr lang="en-US" dirty="0"/>
          </a:p>
        </p:txBody>
      </p:sp>
      <p:sp>
        <p:nvSpPr>
          <p:cNvPr id="6" name="Slide Number Placeholder 5"/>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DFB1C63-6E27-4437-9DFC-FF553DD6B6DF}" type="datetime1">
              <a:rPr lang="en-US" smtClean="0"/>
              <a:t>3/19/2021</a:t>
            </a:fld>
            <a:endParaRPr lang="en-US" dirty="0"/>
          </a:p>
        </p:txBody>
      </p:sp>
      <p:sp>
        <p:nvSpPr>
          <p:cNvPr id="6" name="Slide Number Placeholder 5"/>
          <p:cNvSpPr>
            <a:spLocks noGrp="1"/>
          </p:cNvSpPr>
          <p:nvPr>
            <p:ph type="sldNum" sz="quarter" idx="12"/>
          </p:nvPr>
        </p:nvSpPr>
        <p:spPr/>
        <p:txBody>
          <a:bodyPr/>
          <a:lstStyle/>
          <a:p>
            <a:fld id="{036081D1-8380-407A-ABF3-D12854566F9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00C84BE-82AA-4004-AD56-1127FD66E6DE}" type="datetime1">
              <a:rPr lang="en-US" smtClean="0"/>
              <a:t>3/19/2021</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36081D1-8380-407A-ABF3-D12854566F9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703"/>
          <a:stretch/>
        </p:blipFill>
        <p:spPr bwMode="auto">
          <a:xfrm>
            <a:off x="1" y="1371600"/>
            <a:ext cx="6236053" cy="5486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685800" y="2057400"/>
            <a:ext cx="7924800" cy="1219200"/>
          </a:xfrm>
        </p:spPr>
        <p:txBody>
          <a:bodyPr/>
          <a:lstStyle/>
          <a:p>
            <a:pPr algn="r"/>
            <a:r>
              <a:rPr lang="sr-Latn-RS" sz="4000" b="1" smtClean="0">
                <a:solidFill>
                  <a:schemeClr val="accent5">
                    <a:lumMod val="60000"/>
                    <a:lumOff val="40000"/>
                  </a:schemeClr>
                </a:solidFill>
              </a:rPr>
              <a:t>Paralelni sistemi</a:t>
            </a:r>
            <a:r>
              <a:rPr lang="sr-Latn-RS" sz="4000" b="1" dirty="0" smtClean="0">
                <a:solidFill>
                  <a:schemeClr val="accent5">
                    <a:lumMod val="60000"/>
                    <a:lumOff val="40000"/>
                  </a:schemeClr>
                </a:solidFill>
              </a:rPr>
              <a:t>:</a:t>
            </a:r>
            <a:r>
              <a:rPr lang="en-US" sz="4000" b="1" dirty="0" smtClean="0"/>
              <a:t/>
            </a:r>
            <a:br>
              <a:rPr lang="en-US" sz="4000" b="1" dirty="0" smtClean="0"/>
            </a:br>
            <a:r>
              <a:rPr lang="sr-Latn-RS" sz="4000" b="1" dirty="0" smtClean="0"/>
              <a:t> </a:t>
            </a:r>
            <a:r>
              <a:rPr lang="sr-Latn-RS" sz="4400" b="1" dirty="0" smtClean="0">
                <a:solidFill>
                  <a:srgbClr val="00B050"/>
                </a:solidFill>
              </a:rPr>
              <a:t>CUDA</a:t>
            </a:r>
            <a:endParaRPr lang="sr-Latn-RS" sz="4000" b="1" dirty="0">
              <a:solidFill>
                <a:srgbClr val="00B050"/>
              </a:solidFill>
            </a:endParaRPr>
          </a:p>
        </p:txBody>
      </p:sp>
      <p:sp>
        <p:nvSpPr>
          <p:cNvPr id="3" name="Subtitle 2"/>
          <p:cNvSpPr>
            <a:spLocks noGrp="1"/>
          </p:cNvSpPr>
          <p:nvPr>
            <p:ph type="subTitle" idx="1"/>
          </p:nvPr>
        </p:nvSpPr>
        <p:spPr>
          <a:xfrm>
            <a:off x="3048000" y="5181600"/>
            <a:ext cx="5867400" cy="1295400"/>
          </a:xfrm>
        </p:spPr>
        <p:txBody>
          <a:bodyPr>
            <a:normAutofit/>
          </a:bodyPr>
          <a:lstStyle/>
          <a:p>
            <a:pPr algn="r"/>
            <a:r>
              <a:rPr lang="en-US" smtClean="0"/>
              <a:t>MSc </a:t>
            </a:r>
            <a:r>
              <a:rPr lang="en-US" dirty="0" smtClean="0"/>
              <a:t>Aleksandra Stojnev</a:t>
            </a:r>
          </a:p>
          <a:p>
            <a:pPr algn="r"/>
            <a:r>
              <a:rPr lang="en-US" dirty="0" smtClean="0"/>
              <a:t>Prof. Dr. </a:t>
            </a:r>
            <a:r>
              <a:rPr lang="en-US" dirty="0" err="1" smtClean="0"/>
              <a:t>Natalija</a:t>
            </a:r>
            <a:r>
              <a:rPr lang="en-US" dirty="0" smtClean="0"/>
              <a:t> </a:t>
            </a:r>
            <a:r>
              <a:rPr lang="en-US" dirty="0" err="1" smtClean="0"/>
              <a:t>Stojanovi</a:t>
            </a:r>
            <a:r>
              <a:rPr lang="sr-Latn-RS" dirty="0"/>
              <a:t>ć</a:t>
            </a:r>
            <a:r>
              <a:rPr lang="en-US" dirty="0" smtClean="0"/>
              <a:t> </a:t>
            </a:r>
            <a:endParaRPr lang="sr-Latn-RS" dirty="0" smtClean="0"/>
          </a:p>
        </p:txBody>
      </p:sp>
      <p:sp>
        <p:nvSpPr>
          <p:cNvPr id="5" name="Rectangle 4"/>
          <p:cNvSpPr>
            <a:spLocks noChangeArrowheads="1"/>
          </p:cNvSpPr>
          <p:nvPr/>
        </p:nvSpPr>
        <p:spPr bwMode="auto">
          <a:xfrm>
            <a:off x="1543050" y="3554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sr-Latn-RS" sz="1800" b="0" i="0" u="none" strike="noStrike" cap="none" normalizeH="0" baseline="0" smtClean="0">
                <a:ln>
                  <a:noFill/>
                </a:ln>
                <a:solidFill>
                  <a:schemeClr val="tx1"/>
                </a:solidFill>
                <a:effectLst/>
                <a:latin typeface="Arial" pitchFamily="34" charset="0"/>
                <a:cs typeface="Arial" pitchFamily="34" charset="0"/>
              </a:rPr>
              <a:t/>
            </a:r>
            <a:br>
              <a:rPr kumimoji="0" lang="sr-Latn-RS" sz="1800" b="0" i="0" u="none" strike="noStrike" cap="none" normalizeH="0" baseline="0" smtClean="0">
                <a:ln>
                  <a:noFill/>
                </a:ln>
                <a:solidFill>
                  <a:schemeClr val="tx1"/>
                </a:solidFill>
                <a:effectLst/>
                <a:latin typeface="Arial" pitchFamily="34" charset="0"/>
                <a:cs typeface="Arial" pitchFamily="34" charset="0"/>
              </a:rPr>
            </a:br>
            <a:endParaRPr kumimoji="0" lang="sr-Latn-RS" sz="1800" b="0" i="0" u="none" strike="noStrike" cap="none" normalizeH="0" baseline="0" smtClean="0">
              <a:ln>
                <a:noFill/>
              </a:ln>
              <a:solidFill>
                <a:schemeClr val="tx1"/>
              </a:solidFill>
              <a:effectLst/>
              <a:latin typeface="Arial" pitchFamily="34" charset="0"/>
              <a:cs typeface="Arial" pitchFamily="34" charset="0"/>
            </a:endParaRPr>
          </a:p>
        </p:txBody>
      </p:sp>
      <p:pic>
        <p:nvPicPr>
          <p:cNvPr id="1026" name="Picture 2" descr="Резултат слика за elfak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38600" y="5181600"/>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4983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Adresiranje niti – 1D</a:t>
            </a:r>
            <a:endParaRPr lang="en-US" dirty="0"/>
          </a:p>
        </p:txBody>
      </p:sp>
      <p:sp>
        <p:nvSpPr>
          <p:cNvPr id="3" name="Content Placeholder 2"/>
          <p:cNvSpPr>
            <a:spLocks noGrp="1"/>
          </p:cNvSpPr>
          <p:nvPr>
            <p:ph idx="1"/>
          </p:nvPr>
        </p:nvSpPr>
        <p:spPr/>
        <p:txBody>
          <a:bodyPr/>
          <a:lstStyle/>
          <a:p>
            <a:pPr marL="0" indent="0">
              <a:buNone/>
            </a:pPr>
            <a:r>
              <a:rPr lang="en-US" sz="1800" dirty="0" smtClean="0"/>
              <a:t>__</a:t>
            </a:r>
            <a:r>
              <a:rPr lang="en-US" sz="1800" dirty="0"/>
              <a:t>global__ void kernel1(float *</a:t>
            </a:r>
            <a:r>
              <a:rPr lang="en-US" sz="1800" dirty="0" err="1"/>
              <a:t>idata</a:t>
            </a:r>
            <a:r>
              <a:rPr lang="en-US" sz="1800" dirty="0"/>
              <a:t>, float *</a:t>
            </a:r>
            <a:r>
              <a:rPr lang="en-US" sz="1800" dirty="0" err="1"/>
              <a:t>odata</a:t>
            </a:r>
            <a:r>
              <a:rPr lang="en-US" sz="1800" dirty="0" smtClean="0"/>
              <a:t>)</a:t>
            </a:r>
            <a:r>
              <a:rPr lang="sr-Latn-RS" sz="1800" dirty="0" smtClean="0"/>
              <a:t> </a:t>
            </a:r>
          </a:p>
          <a:p>
            <a:pPr marL="0" indent="0">
              <a:buNone/>
            </a:pPr>
            <a:r>
              <a:rPr lang="en-US" sz="1800" dirty="0" smtClean="0"/>
              <a:t>{</a:t>
            </a:r>
            <a:endParaRPr lang="en-US" sz="1800" dirty="0"/>
          </a:p>
          <a:p>
            <a:pPr marL="0" indent="0">
              <a:buNone/>
            </a:pPr>
            <a:r>
              <a:rPr lang="en-US" sz="1800" dirty="0"/>
              <a:t> </a:t>
            </a:r>
            <a:r>
              <a:rPr lang="sr-Latn-RS" sz="1800" dirty="0" smtClean="0"/>
              <a:t>	</a:t>
            </a:r>
            <a:r>
              <a:rPr lang="en-US" sz="1800" dirty="0" err="1" smtClean="0"/>
              <a:t>int</a:t>
            </a:r>
            <a:r>
              <a:rPr lang="en-US" sz="1800" dirty="0" smtClean="0"/>
              <a:t> </a:t>
            </a:r>
            <a:r>
              <a:rPr lang="en-US" sz="1800" dirty="0" err="1"/>
              <a:t>i</a:t>
            </a:r>
            <a:r>
              <a:rPr lang="en-US" sz="1800" dirty="0"/>
              <a:t>;</a:t>
            </a:r>
          </a:p>
          <a:p>
            <a:pPr marL="0" indent="0">
              <a:buNone/>
            </a:pPr>
            <a:r>
              <a:rPr lang="en-US" sz="1800" dirty="0"/>
              <a:t> </a:t>
            </a:r>
            <a:r>
              <a:rPr lang="sr-Latn-RS" sz="1800" dirty="0" smtClean="0"/>
              <a:t>	</a:t>
            </a:r>
            <a:r>
              <a:rPr lang="en-US" sz="1800" dirty="0" err="1" smtClean="0"/>
              <a:t>i</a:t>
            </a:r>
            <a:r>
              <a:rPr lang="en-US" sz="1800" dirty="0" smtClean="0"/>
              <a:t> </a:t>
            </a:r>
            <a:r>
              <a:rPr lang="en-US" sz="1800" dirty="0"/>
              <a:t>= </a:t>
            </a:r>
            <a:r>
              <a:rPr lang="en-US" sz="1800" dirty="0" err="1"/>
              <a:t>blockIdx.x</a:t>
            </a:r>
            <a:r>
              <a:rPr lang="en-US" sz="1800" dirty="0"/>
              <a:t> * </a:t>
            </a:r>
            <a:r>
              <a:rPr lang="en-US" sz="1800" dirty="0" err="1"/>
              <a:t>blockDim.x</a:t>
            </a:r>
            <a:r>
              <a:rPr lang="en-US" sz="1800" dirty="0"/>
              <a:t> + </a:t>
            </a:r>
            <a:r>
              <a:rPr lang="en-US" sz="1800" dirty="0" err="1"/>
              <a:t>threadIdx.x</a:t>
            </a:r>
            <a:r>
              <a:rPr lang="en-US" sz="1800" dirty="0"/>
              <a:t>;</a:t>
            </a:r>
          </a:p>
          <a:p>
            <a:pPr marL="0" indent="0">
              <a:buNone/>
            </a:pPr>
            <a:r>
              <a:rPr lang="en-US" sz="1800" dirty="0"/>
              <a:t> </a:t>
            </a:r>
            <a:r>
              <a:rPr lang="sr-Latn-RS" sz="1800" dirty="0" smtClean="0"/>
              <a:t>	</a:t>
            </a:r>
            <a:r>
              <a:rPr lang="en-US" sz="1800" dirty="0" err="1" smtClean="0"/>
              <a:t>odata</a:t>
            </a:r>
            <a:r>
              <a:rPr lang="en-US" sz="1800" dirty="0" smtClean="0"/>
              <a:t>[</a:t>
            </a:r>
            <a:r>
              <a:rPr lang="en-US" sz="1800" dirty="0" err="1" smtClean="0"/>
              <a:t>i</a:t>
            </a:r>
            <a:r>
              <a:rPr lang="en-US" sz="1800" dirty="0"/>
              <a:t>] = </a:t>
            </a:r>
            <a:r>
              <a:rPr lang="en-US" sz="1800" dirty="0" err="1"/>
              <a:t>func</a:t>
            </a:r>
            <a:r>
              <a:rPr lang="en-US" sz="1800" dirty="0"/>
              <a:t>(</a:t>
            </a:r>
            <a:r>
              <a:rPr lang="en-US" sz="1800" dirty="0" err="1"/>
              <a:t>idata</a:t>
            </a:r>
            <a:r>
              <a:rPr lang="en-US" sz="1800" dirty="0"/>
              <a:t>[</a:t>
            </a:r>
            <a:r>
              <a:rPr lang="en-US" sz="1800" dirty="0" err="1"/>
              <a:t>i</a:t>
            </a:r>
            <a:r>
              <a:rPr lang="en-US" sz="1800" dirty="0"/>
              <a:t>]);</a:t>
            </a:r>
          </a:p>
          <a:p>
            <a:pPr marL="0" indent="0">
              <a:buNone/>
            </a:pPr>
            <a:r>
              <a:rPr lang="en-US" sz="1800" dirty="0"/>
              <a:t>}</a:t>
            </a:r>
          </a:p>
          <a:p>
            <a:pPr marL="0" indent="0">
              <a:buNone/>
            </a:pPr>
            <a:r>
              <a:rPr lang="en-US" sz="1800" dirty="0"/>
              <a:t>...</a:t>
            </a:r>
          </a:p>
          <a:p>
            <a:pPr marL="0" indent="0">
              <a:buNone/>
            </a:pPr>
            <a:r>
              <a:rPr lang="en-US" sz="1800" dirty="0"/>
              <a:t>dim3 gridDef1(100,1,1);</a:t>
            </a:r>
          </a:p>
          <a:p>
            <a:pPr marL="0" indent="0">
              <a:buNone/>
            </a:pPr>
            <a:r>
              <a:rPr lang="en-US" sz="1800" dirty="0"/>
              <a:t>dim3 blockDef1(256,1,1);</a:t>
            </a:r>
          </a:p>
          <a:p>
            <a:pPr marL="0" indent="0">
              <a:buNone/>
            </a:pPr>
            <a:r>
              <a:rPr lang="en-US" sz="1800" dirty="0"/>
              <a:t>kernel1&lt;&lt;&lt;gridDef1, blockDef1&gt;&gt;&gt;(</a:t>
            </a:r>
            <a:r>
              <a:rPr lang="en-US" sz="1800" dirty="0" err="1"/>
              <a:t>paramList</a:t>
            </a:r>
            <a:r>
              <a:rPr lang="en-US" sz="1800" dirty="0"/>
              <a:t>); </a:t>
            </a:r>
          </a:p>
          <a:p>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2</a:t>
            </a:fld>
            <a:endParaRPr lang="en-US" dirty="0"/>
          </a:p>
        </p:txBody>
      </p:sp>
      <p:pic>
        <p:nvPicPr>
          <p:cNvPr id="5" name="Picture 4"/>
          <p:cNvPicPr>
            <a:picLocks noChangeAspect="1"/>
          </p:cNvPicPr>
          <p:nvPr/>
        </p:nvPicPr>
        <p:blipFill>
          <a:blip r:embed="rId2"/>
          <a:stretch>
            <a:fillRect/>
          </a:stretch>
        </p:blipFill>
        <p:spPr>
          <a:xfrm>
            <a:off x="1857375" y="4953000"/>
            <a:ext cx="5762625" cy="1704975"/>
          </a:xfrm>
          <a:prstGeom prst="rect">
            <a:avLst/>
          </a:prstGeom>
        </p:spPr>
      </p:pic>
    </p:spTree>
    <p:extLst>
      <p:ext uri="{BB962C8B-B14F-4D97-AF65-F5344CB8AC3E}">
        <p14:creationId xmlns:p14="http://schemas.microsoft.com/office/powerpoint/2010/main" val="2272578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Adresiranje niti – 2D</a:t>
            </a:r>
            <a:endParaRPr lang="en-US" dirty="0"/>
          </a:p>
        </p:txBody>
      </p:sp>
      <p:sp>
        <p:nvSpPr>
          <p:cNvPr id="3" name="Content Placeholder 2"/>
          <p:cNvSpPr>
            <a:spLocks noGrp="1"/>
          </p:cNvSpPr>
          <p:nvPr>
            <p:ph idx="1"/>
          </p:nvPr>
        </p:nvSpPr>
        <p:spPr/>
        <p:txBody>
          <a:bodyPr>
            <a:normAutofit/>
          </a:bodyPr>
          <a:lstStyle/>
          <a:p>
            <a:pPr marL="0" indent="0">
              <a:buNone/>
            </a:pPr>
            <a:r>
              <a:rPr lang="en-US" sz="1800" dirty="0"/>
              <a:t>__global__ void kernel2(float *</a:t>
            </a:r>
            <a:r>
              <a:rPr lang="en-US" sz="1800" dirty="0" err="1"/>
              <a:t>idata</a:t>
            </a:r>
            <a:r>
              <a:rPr lang="en-US" sz="1800" dirty="0"/>
              <a:t>, float *</a:t>
            </a:r>
            <a:r>
              <a:rPr lang="en-US" sz="1800" dirty="0" err="1"/>
              <a:t>odata</a:t>
            </a:r>
            <a:r>
              <a:rPr lang="en-US" sz="1800" dirty="0"/>
              <a:t>, </a:t>
            </a:r>
            <a:r>
              <a:rPr lang="en-US" sz="1800" dirty="0" err="1"/>
              <a:t>int</a:t>
            </a:r>
            <a:r>
              <a:rPr lang="en-US" sz="1800" dirty="0"/>
              <a:t> pitch)</a:t>
            </a:r>
          </a:p>
          <a:p>
            <a:pPr marL="0" indent="0">
              <a:buNone/>
            </a:pPr>
            <a:r>
              <a:rPr lang="en-US" sz="1800" dirty="0"/>
              <a:t>{</a:t>
            </a:r>
          </a:p>
          <a:p>
            <a:pPr marL="0" indent="0">
              <a:buNone/>
            </a:pPr>
            <a:r>
              <a:rPr lang="en-US" sz="1800" dirty="0"/>
              <a:t> </a:t>
            </a:r>
            <a:r>
              <a:rPr lang="sr-Latn-RS" sz="1800" dirty="0" smtClean="0"/>
              <a:t>	</a:t>
            </a:r>
            <a:r>
              <a:rPr lang="en-US" sz="1800" dirty="0" err="1" smtClean="0"/>
              <a:t>int</a:t>
            </a:r>
            <a:r>
              <a:rPr lang="en-US" sz="1800" dirty="0" smtClean="0"/>
              <a:t> </a:t>
            </a:r>
            <a:r>
              <a:rPr lang="en-US" sz="1800" dirty="0"/>
              <a:t>x, y, </a:t>
            </a:r>
            <a:r>
              <a:rPr lang="en-US" sz="1800" dirty="0" err="1"/>
              <a:t>i</a:t>
            </a:r>
            <a:r>
              <a:rPr lang="en-US" sz="1800" dirty="0"/>
              <a:t>;</a:t>
            </a:r>
          </a:p>
          <a:p>
            <a:pPr marL="0" indent="0">
              <a:buNone/>
            </a:pPr>
            <a:r>
              <a:rPr lang="en-US" sz="1800" dirty="0"/>
              <a:t> </a:t>
            </a:r>
            <a:r>
              <a:rPr lang="sr-Latn-RS" sz="1800" dirty="0" smtClean="0"/>
              <a:t>	</a:t>
            </a:r>
            <a:r>
              <a:rPr lang="en-US" sz="1800" dirty="0" smtClean="0"/>
              <a:t>x </a:t>
            </a:r>
            <a:r>
              <a:rPr lang="en-US" sz="1800" dirty="0"/>
              <a:t>= </a:t>
            </a:r>
            <a:r>
              <a:rPr lang="en-US" sz="1800" dirty="0" err="1"/>
              <a:t>blockIdx.x</a:t>
            </a:r>
            <a:r>
              <a:rPr lang="en-US" sz="1800" dirty="0"/>
              <a:t> * </a:t>
            </a:r>
            <a:r>
              <a:rPr lang="en-US" sz="1800" dirty="0" err="1"/>
              <a:t>blockDim.x</a:t>
            </a:r>
            <a:r>
              <a:rPr lang="en-US" sz="1800" dirty="0"/>
              <a:t> + </a:t>
            </a:r>
            <a:r>
              <a:rPr lang="en-US" sz="1800" dirty="0" err="1"/>
              <a:t>threadIdx.x</a:t>
            </a:r>
            <a:r>
              <a:rPr lang="en-US" sz="1800" dirty="0"/>
              <a:t>;</a:t>
            </a:r>
          </a:p>
          <a:p>
            <a:pPr marL="0" indent="0">
              <a:buNone/>
            </a:pPr>
            <a:r>
              <a:rPr lang="en-US" sz="1800" dirty="0"/>
              <a:t> </a:t>
            </a:r>
            <a:r>
              <a:rPr lang="sr-Latn-RS" sz="1800" dirty="0" smtClean="0"/>
              <a:t>	</a:t>
            </a:r>
            <a:r>
              <a:rPr lang="en-US" sz="1800" dirty="0" smtClean="0"/>
              <a:t>y </a:t>
            </a:r>
            <a:r>
              <a:rPr lang="en-US" sz="1800" dirty="0"/>
              <a:t>= </a:t>
            </a:r>
            <a:r>
              <a:rPr lang="en-US" sz="1800" dirty="0" err="1"/>
              <a:t>blockIdx.y</a:t>
            </a:r>
            <a:r>
              <a:rPr lang="en-US" sz="1800" dirty="0"/>
              <a:t> * </a:t>
            </a:r>
            <a:r>
              <a:rPr lang="en-US" sz="1800" dirty="0" err="1"/>
              <a:t>blockDim.y</a:t>
            </a:r>
            <a:r>
              <a:rPr lang="en-US" sz="1800" dirty="0"/>
              <a:t> + </a:t>
            </a:r>
            <a:r>
              <a:rPr lang="en-US" sz="1800" dirty="0" err="1"/>
              <a:t>threadIdx.y</a:t>
            </a:r>
            <a:r>
              <a:rPr lang="en-US" sz="1800" dirty="0"/>
              <a:t>;</a:t>
            </a:r>
          </a:p>
          <a:p>
            <a:pPr marL="0" indent="0">
              <a:buNone/>
            </a:pPr>
            <a:r>
              <a:rPr lang="en-US" sz="1800" dirty="0"/>
              <a:t> </a:t>
            </a:r>
            <a:r>
              <a:rPr lang="sr-Latn-RS" sz="1800" dirty="0" smtClean="0"/>
              <a:t>	</a:t>
            </a:r>
            <a:r>
              <a:rPr lang="en-US" sz="1800" dirty="0" err="1" smtClean="0"/>
              <a:t>i</a:t>
            </a:r>
            <a:r>
              <a:rPr lang="en-US" sz="1800" dirty="0" smtClean="0"/>
              <a:t> </a:t>
            </a:r>
            <a:r>
              <a:rPr lang="en-US" sz="1800" dirty="0"/>
              <a:t>= y * pitch + x;</a:t>
            </a:r>
          </a:p>
          <a:p>
            <a:pPr marL="0" indent="0">
              <a:buNone/>
            </a:pPr>
            <a:r>
              <a:rPr lang="en-US" sz="1800" dirty="0"/>
              <a:t> </a:t>
            </a:r>
            <a:r>
              <a:rPr lang="sr-Latn-RS" sz="1800" dirty="0" smtClean="0"/>
              <a:t>	</a:t>
            </a:r>
            <a:r>
              <a:rPr lang="en-US" sz="1800" dirty="0" err="1" smtClean="0"/>
              <a:t>odata</a:t>
            </a:r>
            <a:r>
              <a:rPr lang="en-US" sz="1800" dirty="0" smtClean="0"/>
              <a:t>[</a:t>
            </a:r>
            <a:r>
              <a:rPr lang="en-US" sz="1800" dirty="0" err="1" smtClean="0"/>
              <a:t>i</a:t>
            </a:r>
            <a:r>
              <a:rPr lang="en-US" sz="1800" dirty="0"/>
              <a:t>] = </a:t>
            </a:r>
            <a:r>
              <a:rPr lang="en-US" sz="1800" dirty="0" err="1"/>
              <a:t>func</a:t>
            </a:r>
            <a:r>
              <a:rPr lang="en-US" sz="1800" dirty="0"/>
              <a:t>(</a:t>
            </a:r>
            <a:r>
              <a:rPr lang="en-US" sz="1800" dirty="0" err="1"/>
              <a:t>idata</a:t>
            </a:r>
            <a:r>
              <a:rPr lang="en-US" sz="1800" dirty="0"/>
              <a:t>[</a:t>
            </a:r>
            <a:r>
              <a:rPr lang="en-US" sz="1800" dirty="0" err="1"/>
              <a:t>i</a:t>
            </a:r>
            <a:r>
              <a:rPr lang="en-US" sz="1800" dirty="0"/>
              <a:t>]);</a:t>
            </a:r>
          </a:p>
          <a:p>
            <a:pPr marL="0" indent="0">
              <a:buNone/>
            </a:pPr>
            <a:r>
              <a:rPr lang="en-US" sz="1800" dirty="0"/>
              <a:t>}</a:t>
            </a:r>
          </a:p>
          <a:p>
            <a:pPr marL="0" indent="0">
              <a:buNone/>
            </a:pPr>
            <a:r>
              <a:rPr lang="en-US" sz="1800" dirty="0"/>
              <a:t>...</a:t>
            </a:r>
          </a:p>
          <a:p>
            <a:pPr marL="0" indent="0">
              <a:buNone/>
            </a:pPr>
            <a:r>
              <a:rPr lang="en-US" sz="1800" dirty="0"/>
              <a:t>dim3 </a:t>
            </a:r>
            <a:r>
              <a:rPr lang="en-US" sz="1800" dirty="0" smtClean="0"/>
              <a:t>gridDef2(</a:t>
            </a:r>
            <a:r>
              <a:rPr lang="sr-Latn-RS" sz="1800" dirty="0" smtClean="0"/>
              <a:t>3</a:t>
            </a:r>
            <a:r>
              <a:rPr lang="en-US" sz="1800" dirty="0" smtClean="0"/>
              <a:t>,</a:t>
            </a:r>
            <a:r>
              <a:rPr lang="sr-Latn-RS" sz="1800" dirty="0" smtClean="0"/>
              <a:t>2</a:t>
            </a:r>
            <a:r>
              <a:rPr lang="en-US" sz="1800" dirty="0" smtClean="0"/>
              <a:t>,1</a:t>
            </a:r>
            <a:r>
              <a:rPr lang="en-US" sz="1800" dirty="0"/>
              <a:t>);</a:t>
            </a:r>
          </a:p>
          <a:p>
            <a:pPr marL="0" indent="0">
              <a:buNone/>
            </a:pPr>
            <a:r>
              <a:rPr lang="en-US" sz="1800" dirty="0"/>
              <a:t>dim3 </a:t>
            </a:r>
            <a:r>
              <a:rPr lang="en-US" sz="1800" dirty="0" smtClean="0"/>
              <a:t>blockDef2(</a:t>
            </a:r>
            <a:r>
              <a:rPr lang="sr-Latn-RS" sz="1800" dirty="0" smtClean="0"/>
              <a:t>5</a:t>
            </a:r>
            <a:r>
              <a:rPr lang="en-US" sz="1800" dirty="0" smtClean="0"/>
              <a:t>,</a:t>
            </a:r>
            <a:r>
              <a:rPr lang="sr-Latn-RS" sz="1800" dirty="0" smtClean="0"/>
              <a:t>3</a:t>
            </a:r>
            <a:r>
              <a:rPr lang="en-US" sz="1800" dirty="0" smtClean="0"/>
              <a:t>,1);</a:t>
            </a:r>
            <a:endParaRPr lang="en-US" sz="1800" dirty="0"/>
          </a:p>
          <a:p>
            <a:pPr marL="0" indent="0">
              <a:buNone/>
            </a:pPr>
            <a:r>
              <a:rPr lang="en-US" sz="1800" dirty="0"/>
              <a:t>kernel2&lt;&lt;&lt;gridDef2, blockDef2&gt;&gt;&gt;(</a:t>
            </a:r>
            <a:r>
              <a:rPr lang="en-US" sz="1800" dirty="0" err="1"/>
              <a:t>paramList</a:t>
            </a:r>
            <a:r>
              <a:rPr lang="en-US" sz="1800" dirty="0"/>
              <a:t>); </a:t>
            </a:r>
          </a:p>
        </p:txBody>
      </p:sp>
      <p:sp>
        <p:nvSpPr>
          <p:cNvPr id="4" name="Slide Number Placeholder 3"/>
          <p:cNvSpPr>
            <a:spLocks noGrp="1"/>
          </p:cNvSpPr>
          <p:nvPr>
            <p:ph type="sldNum" sz="quarter" idx="12"/>
          </p:nvPr>
        </p:nvSpPr>
        <p:spPr/>
        <p:txBody>
          <a:bodyPr/>
          <a:lstStyle/>
          <a:p>
            <a:fld id="{036081D1-8380-407A-ABF3-D12854566F9D}" type="slidenum">
              <a:rPr lang="en-US" smtClean="0"/>
              <a:pPr/>
              <a:t>3</a:t>
            </a:fld>
            <a:endParaRPr lang="en-US" dirty="0"/>
          </a:p>
        </p:txBody>
      </p:sp>
      <p:pic>
        <p:nvPicPr>
          <p:cNvPr id="5" name="Picture 4"/>
          <p:cNvPicPr>
            <a:picLocks noChangeAspect="1"/>
          </p:cNvPicPr>
          <p:nvPr/>
        </p:nvPicPr>
        <p:blipFill>
          <a:blip r:embed="rId2"/>
          <a:stretch>
            <a:fillRect/>
          </a:stretch>
        </p:blipFill>
        <p:spPr>
          <a:xfrm>
            <a:off x="5715000" y="2590800"/>
            <a:ext cx="2705100" cy="3810000"/>
          </a:xfrm>
          <a:prstGeom prst="rect">
            <a:avLst/>
          </a:prstGeom>
        </p:spPr>
      </p:pic>
    </p:spTree>
    <p:extLst>
      <p:ext uri="{BB962C8B-B14F-4D97-AF65-F5344CB8AC3E}">
        <p14:creationId xmlns:p14="http://schemas.microsoft.com/office/powerpoint/2010/main" val="296617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Transponovanje</a:t>
            </a:r>
            <a:r>
              <a:rPr lang="en-US" dirty="0" smtClean="0"/>
              <a:t> </a:t>
            </a:r>
            <a:r>
              <a:rPr lang="en-US" dirty="0" err="1" smtClean="0"/>
              <a:t>matrica</a:t>
            </a:r>
            <a:endParaRPr lang="en-US" dirty="0"/>
          </a:p>
        </p:txBody>
      </p:sp>
      <p:sp>
        <p:nvSpPr>
          <p:cNvPr id="3" name="Content Placeholder 2"/>
          <p:cNvSpPr>
            <a:spLocks noGrp="1"/>
          </p:cNvSpPr>
          <p:nvPr>
            <p:ph idx="1"/>
          </p:nvPr>
        </p:nvSpPr>
        <p:spPr>
          <a:xfrm>
            <a:off x="457200" y="1629711"/>
            <a:ext cx="8229600" cy="4876800"/>
          </a:xfrm>
        </p:spPr>
        <p:txBody>
          <a:bodyPr/>
          <a:lstStyle/>
          <a:p>
            <a:r>
              <a:rPr lang="en-US" dirty="0" err="1" smtClean="0"/>
              <a:t>Vrste</a:t>
            </a:r>
            <a:r>
              <a:rPr lang="en-US" dirty="0" smtClean="0"/>
              <a:t> </a:t>
            </a:r>
            <a:r>
              <a:rPr lang="en-US" dirty="0" err="1" smtClean="0"/>
              <a:t>ulazne</a:t>
            </a:r>
            <a:r>
              <a:rPr lang="en-US" dirty="0" smtClean="0"/>
              <a:t> </a:t>
            </a:r>
            <a:r>
              <a:rPr lang="en-US" dirty="0" err="1" smtClean="0"/>
              <a:t>matrice</a:t>
            </a:r>
            <a:r>
              <a:rPr lang="en-US" dirty="0" smtClean="0"/>
              <a:t> </a:t>
            </a:r>
            <a:r>
              <a:rPr lang="en-US" dirty="0" err="1" smtClean="0"/>
              <a:t>postaju</a:t>
            </a:r>
            <a:r>
              <a:rPr lang="en-US" dirty="0" smtClean="0"/>
              <a:t> </a:t>
            </a:r>
            <a:r>
              <a:rPr lang="en-US" dirty="0" err="1" smtClean="0"/>
              <a:t>kolone</a:t>
            </a:r>
            <a:r>
              <a:rPr lang="en-US" dirty="0" smtClean="0"/>
              <a:t> </a:t>
            </a:r>
            <a:r>
              <a:rPr lang="en-US" dirty="0" err="1" smtClean="0"/>
              <a:t>izlazne</a:t>
            </a:r>
            <a:r>
              <a:rPr lang="en-US" dirty="0" smtClean="0"/>
              <a:t> </a:t>
            </a:r>
            <a:r>
              <a:rPr lang="en-US" dirty="0" err="1" smtClean="0"/>
              <a:t>matrice</a:t>
            </a:r>
            <a:endParaRPr lang="en-US" dirty="0"/>
          </a:p>
        </p:txBody>
      </p:sp>
      <p:grpSp>
        <p:nvGrpSpPr>
          <p:cNvPr id="110" name="Group 109"/>
          <p:cNvGrpSpPr/>
          <p:nvPr/>
        </p:nvGrpSpPr>
        <p:grpSpPr>
          <a:xfrm>
            <a:off x="835760" y="2286000"/>
            <a:ext cx="2508570" cy="2590800"/>
            <a:chOff x="835760" y="2286000"/>
            <a:chExt cx="3050932" cy="3042138"/>
          </a:xfrm>
        </p:grpSpPr>
        <p:grpSp>
          <p:nvGrpSpPr>
            <p:cNvPr id="21" name="Group 20"/>
            <p:cNvGrpSpPr/>
            <p:nvPr/>
          </p:nvGrpSpPr>
          <p:grpSpPr>
            <a:xfrm>
              <a:off x="838200" y="2286000"/>
              <a:ext cx="3047024" cy="381000"/>
              <a:chOff x="838200" y="2286000"/>
              <a:chExt cx="3047024" cy="381000"/>
            </a:xfrm>
          </p:grpSpPr>
          <p:grpSp>
            <p:nvGrpSpPr>
              <p:cNvPr id="18" name="Group 17"/>
              <p:cNvGrpSpPr/>
              <p:nvPr/>
            </p:nvGrpSpPr>
            <p:grpSpPr>
              <a:xfrm>
                <a:off x="838200" y="2286000"/>
                <a:ext cx="2666024" cy="381000"/>
                <a:chOff x="1439008" y="2217615"/>
                <a:chExt cx="2666024" cy="381000"/>
              </a:xfrm>
            </p:grpSpPr>
            <p:sp>
              <p:nvSpPr>
                <p:cNvPr id="4" name="Rectangle 3"/>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1</a:t>
                  </a:r>
                  <a:endParaRPr lang="en-US" dirty="0"/>
                </a:p>
              </p:txBody>
            </p:sp>
            <p:sp>
              <p:nvSpPr>
                <p:cNvPr id="5" name="Rectangle 4"/>
                <p:cNvSpPr/>
                <p:nvPr/>
              </p:nvSpPr>
              <p:spPr>
                <a:xfrm>
                  <a:off x="1827823"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2</a:t>
                  </a:r>
                  <a:endParaRPr lang="en-US" dirty="0"/>
                </a:p>
              </p:txBody>
            </p:sp>
            <p:sp>
              <p:nvSpPr>
                <p:cNvPr id="6" name="Rectangle 5"/>
                <p:cNvSpPr/>
                <p:nvPr/>
              </p:nvSpPr>
              <p:spPr>
                <a:xfrm>
                  <a:off x="2200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3</a:t>
                  </a:r>
                  <a:endParaRPr lang="en-US" dirty="0"/>
                </a:p>
              </p:txBody>
            </p:sp>
            <p:sp>
              <p:nvSpPr>
                <p:cNvPr id="8" name="Rectangle 7"/>
                <p:cNvSpPr/>
                <p:nvPr/>
              </p:nvSpPr>
              <p:spPr>
                <a:xfrm>
                  <a:off x="2581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4</a:t>
                  </a:r>
                  <a:endParaRPr lang="en-US" dirty="0"/>
                </a:p>
              </p:txBody>
            </p:sp>
            <p:sp>
              <p:nvSpPr>
                <p:cNvPr id="9" name="Rectangle 8"/>
                <p:cNvSpPr/>
                <p:nvPr/>
              </p:nvSpPr>
              <p:spPr>
                <a:xfrm>
                  <a:off x="2962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5</a:t>
                  </a:r>
                  <a:endParaRPr lang="en-US" dirty="0"/>
                </a:p>
              </p:txBody>
            </p:sp>
            <p:sp>
              <p:nvSpPr>
                <p:cNvPr id="16" name="Rectangle 15"/>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 name="Rectangle 16"/>
                <p:cNvSpPr/>
                <p:nvPr/>
              </p:nvSpPr>
              <p:spPr>
                <a:xfrm>
                  <a:off x="3343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6</a:t>
                  </a:r>
                  <a:endParaRPr lang="en-US" dirty="0"/>
                </a:p>
              </p:txBody>
            </p:sp>
          </p:grpSp>
          <p:sp>
            <p:nvSpPr>
              <p:cNvPr id="19" name="Rectangle 18"/>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22" name="Group 21"/>
            <p:cNvGrpSpPr/>
            <p:nvPr/>
          </p:nvGrpSpPr>
          <p:grpSpPr>
            <a:xfrm>
              <a:off x="838200" y="2667000"/>
              <a:ext cx="3047024" cy="381000"/>
              <a:chOff x="838200" y="2286000"/>
              <a:chExt cx="3047024" cy="381000"/>
            </a:xfrm>
          </p:grpSpPr>
          <p:grpSp>
            <p:nvGrpSpPr>
              <p:cNvPr id="23" name="Group 22"/>
              <p:cNvGrpSpPr/>
              <p:nvPr/>
            </p:nvGrpSpPr>
            <p:grpSpPr>
              <a:xfrm>
                <a:off x="838200" y="2286000"/>
                <a:ext cx="2666024" cy="381000"/>
                <a:chOff x="1439008" y="2217615"/>
                <a:chExt cx="2666024" cy="381000"/>
              </a:xfrm>
            </p:grpSpPr>
            <p:sp>
              <p:nvSpPr>
                <p:cNvPr id="26" name="Rectangle 25"/>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7" name="Rectangle 26"/>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8" name="Rectangle 27"/>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9" name="Rectangle 28"/>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0" name="Rectangle 29"/>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1" name="Rectangle 30"/>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2" name="Rectangle 31"/>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24" name="Rectangle 23"/>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33" name="Group 32"/>
            <p:cNvGrpSpPr/>
            <p:nvPr/>
          </p:nvGrpSpPr>
          <p:grpSpPr>
            <a:xfrm>
              <a:off x="837712" y="3048000"/>
              <a:ext cx="3047024" cy="381000"/>
              <a:chOff x="838200" y="2286000"/>
              <a:chExt cx="3047024" cy="381000"/>
            </a:xfrm>
          </p:grpSpPr>
          <p:grpSp>
            <p:nvGrpSpPr>
              <p:cNvPr id="34" name="Group 33"/>
              <p:cNvGrpSpPr/>
              <p:nvPr/>
            </p:nvGrpSpPr>
            <p:grpSpPr>
              <a:xfrm>
                <a:off x="838200" y="2286000"/>
                <a:ext cx="2666024" cy="381000"/>
                <a:chOff x="1439008" y="2217615"/>
                <a:chExt cx="2666024" cy="381000"/>
              </a:xfrm>
            </p:grpSpPr>
            <p:sp>
              <p:nvSpPr>
                <p:cNvPr id="37" name="Rectangle 36"/>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8" name="Rectangle 37"/>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9" name="Rectangle 38"/>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0" name="Rectangle 39"/>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1" name="Rectangle 40"/>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2" name="Rectangle 41"/>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3" name="Rectangle 42"/>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35" name="Rectangle 34"/>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44" name="Group 43"/>
            <p:cNvGrpSpPr/>
            <p:nvPr/>
          </p:nvGrpSpPr>
          <p:grpSpPr>
            <a:xfrm>
              <a:off x="837224" y="3429000"/>
              <a:ext cx="3047024" cy="381000"/>
              <a:chOff x="838200" y="2286000"/>
              <a:chExt cx="3047024" cy="381000"/>
            </a:xfrm>
          </p:grpSpPr>
          <p:grpSp>
            <p:nvGrpSpPr>
              <p:cNvPr id="45" name="Group 44"/>
              <p:cNvGrpSpPr/>
              <p:nvPr/>
            </p:nvGrpSpPr>
            <p:grpSpPr>
              <a:xfrm>
                <a:off x="838200" y="2286000"/>
                <a:ext cx="2666024" cy="381000"/>
                <a:chOff x="1439008" y="2217615"/>
                <a:chExt cx="2666024" cy="381000"/>
              </a:xfrm>
            </p:grpSpPr>
            <p:sp>
              <p:nvSpPr>
                <p:cNvPr id="48" name="Rectangle 47"/>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9" name="Rectangle 48"/>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0" name="Rectangle 49"/>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1" name="Rectangle 50"/>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2" name="Rectangle 51"/>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3" name="Rectangle 52"/>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4" name="Rectangle 53"/>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46" name="Rectangle 45"/>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55" name="Group 54"/>
            <p:cNvGrpSpPr/>
            <p:nvPr/>
          </p:nvGrpSpPr>
          <p:grpSpPr>
            <a:xfrm>
              <a:off x="836736" y="3811954"/>
              <a:ext cx="3047024" cy="381000"/>
              <a:chOff x="838200" y="2286000"/>
              <a:chExt cx="3047024" cy="381000"/>
            </a:xfrm>
          </p:grpSpPr>
          <p:grpSp>
            <p:nvGrpSpPr>
              <p:cNvPr id="56" name="Group 55"/>
              <p:cNvGrpSpPr/>
              <p:nvPr/>
            </p:nvGrpSpPr>
            <p:grpSpPr>
              <a:xfrm>
                <a:off x="838200" y="2286000"/>
                <a:ext cx="2666024" cy="381000"/>
                <a:chOff x="1439008" y="2217615"/>
                <a:chExt cx="2666024" cy="381000"/>
              </a:xfrm>
            </p:grpSpPr>
            <p:sp>
              <p:nvSpPr>
                <p:cNvPr id="59" name="Rectangle 58"/>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0" name="Rectangle 59"/>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1" name="Rectangle 60"/>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2" name="Rectangle 61"/>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3" name="Rectangle 62"/>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4" name="Rectangle 63"/>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5" name="Rectangle 64"/>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57" name="Rectangle 56"/>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66" name="Group 65"/>
            <p:cNvGrpSpPr/>
            <p:nvPr/>
          </p:nvGrpSpPr>
          <p:grpSpPr>
            <a:xfrm>
              <a:off x="836248" y="4191000"/>
              <a:ext cx="3047024" cy="381000"/>
              <a:chOff x="838200" y="2286000"/>
              <a:chExt cx="3047024" cy="381000"/>
            </a:xfrm>
          </p:grpSpPr>
          <p:grpSp>
            <p:nvGrpSpPr>
              <p:cNvPr id="67" name="Group 66"/>
              <p:cNvGrpSpPr/>
              <p:nvPr/>
            </p:nvGrpSpPr>
            <p:grpSpPr>
              <a:xfrm>
                <a:off x="838200" y="2286000"/>
                <a:ext cx="2666024" cy="381000"/>
                <a:chOff x="1439008" y="2217615"/>
                <a:chExt cx="2666024" cy="381000"/>
              </a:xfrm>
            </p:grpSpPr>
            <p:sp>
              <p:nvSpPr>
                <p:cNvPr id="70" name="Rectangle 69"/>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1" name="Rectangle 70"/>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2" name="Rectangle 71"/>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3" name="Rectangle 72"/>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4" name="Rectangle 73"/>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5" name="Rectangle 74"/>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6" name="Rectangle 75"/>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68" name="Rectangle 67"/>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77" name="Group 76"/>
            <p:cNvGrpSpPr/>
            <p:nvPr/>
          </p:nvGrpSpPr>
          <p:grpSpPr>
            <a:xfrm>
              <a:off x="835760" y="4570046"/>
              <a:ext cx="3047024" cy="381000"/>
              <a:chOff x="838200" y="2286000"/>
              <a:chExt cx="3047024" cy="381000"/>
            </a:xfrm>
          </p:grpSpPr>
          <p:grpSp>
            <p:nvGrpSpPr>
              <p:cNvPr id="78" name="Group 77"/>
              <p:cNvGrpSpPr/>
              <p:nvPr/>
            </p:nvGrpSpPr>
            <p:grpSpPr>
              <a:xfrm>
                <a:off x="838200" y="2286000"/>
                <a:ext cx="2666024" cy="381000"/>
                <a:chOff x="1439008" y="2217615"/>
                <a:chExt cx="2666024" cy="381000"/>
              </a:xfrm>
            </p:grpSpPr>
            <p:sp>
              <p:nvSpPr>
                <p:cNvPr id="81" name="Rectangle 80"/>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2" name="Rectangle 81"/>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3" name="Rectangle 82"/>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4" name="Rectangle 83"/>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5" name="Rectangle 84"/>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6" name="Rectangle 85"/>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7" name="Rectangle 86"/>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79" name="Rectangle 78"/>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88" name="Group 87"/>
            <p:cNvGrpSpPr/>
            <p:nvPr/>
          </p:nvGrpSpPr>
          <p:grpSpPr>
            <a:xfrm>
              <a:off x="839668" y="4947138"/>
              <a:ext cx="3047024" cy="381000"/>
              <a:chOff x="838200" y="2286000"/>
              <a:chExt cx="3047024" cy="381000"/>
            </a:xfrm>
          </p:grpSpPr>
          <p:grpSp>
            <p:nvGrpSpPr>
              <p:cNvPr id="89" name="Group 88"/>
              <p:cNvGrpSpPr/>
              <p:nvPr/>
            </p:nvGrpSpPr>
            <p:grpSpPr>
              <a:xfrm>
                <a:off x="838200" y="2286000"/>
                <a:ext cx="2666024" cy="381000"/>
                <a:chOff x="1439008" y="2217615"/>
                <a:chExt cx="2666024" cy="381000"/>
              </a:xfrm>
            </p:grpSpPr>
            <p:sp>
              <p:nvSpPr>
                <p:cNvPr id="92" name="Rectangle 91"/>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3" name="Rectangle 92"/>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4" name="Rectangle 93"/>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5" name="Rectangle 94"/>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6" name="Rectangle 95"/>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7" name="Rectangle 96"/>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8" name="Rectangle 97"/>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90" name="Rectangle 89"/>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grpSp>
        <p:nvGrpSpPr>
          <p:cNvPr id="111" name="Group 110"/>
          <p:cNvGrpSpPr/>
          <p:nvPr/>
        </p:nvGrpSpPr>
        <p:grpSpPr>
          <a:xfrm>
            <a:off x="5239070" y="3256926"/>
            <a:ext cx="2508570" cy="2590800"/>
            <a:chOff x="835760" y="2286000"/>
            <a:chExt cx="3050932" cy="3042138"/>
          </a:xfrm>
        </p:grpSpPr>
        <p:grpSp>
          <p:nvGrpSpPr>
            <p:cNvPr id="112" name="Group 111"/>
            <p:cNvGrpSpPr/>
            <p:nvPr/>
          </p:nvGrpSpPr>
          <p:grpSpPr>
            <a:xfrm>
              <a:off x="838200" y="2286000"/>
              <a:ext cx="3047024" cy="381000"/>
              <a:chOff x="838200" y="2286000"/>
              <a:chExt cx="3047024" cy="381000"/>
            </a:xfrm>
          </p:grpSpPr>
          <p:grpSp>
            <p:nvGrpSpPr>
              <p:cNvPr id="190" name="Group 189"/>
              <p:cNvGrpSpPr/>
              <p:nvPr/>
            </p:nvGrpSpPr>
            <p:grpSpPr>
              <a:xfrm>
                <a:off x="838200" y="2286000"/>
                <a:ext cx="2666024" cy="381000"/>
                <a:chOff x="1439008" y="2217615"/>
                <a:chExt cx="2666024" cy="381000"/>
              </a:xfrm>
            </p:grpSpPr>
            <p:sp>
              <p:nvSpPr>
                <p:cNvPr id="193" name="Rectangle 192"/>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1</a:t>
                  </a:r>
                  <a:endParaRPr lang="en-US" dirty="0"/>
                </a:p>
              </p:txBody>
            </p:sp>
            <p:sp>
              <p:nvSpPr>
                <p:cNvPr id="194" name="Rectangle 19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95" name="Rectangle 19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96" name="Rectangle 19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97" name="Rectangle 19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98" name="Rectangle 19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99" name="Rectangle 19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91" name="Rectangle 19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3" name="Group 112"/>
            <p:cNvGrpSpPr/>
            <p:nvPr/>
          </p:nvGrpSpPr>
          <p:grpSpPr>
            <a:xfrm>
              <a:off x="838200" y="2667000"/>
              <a:ext cx="3047024" cy="381000"/>
              <a:chOff x="838200" y="2286000"/>
              <a:chExt cx="3047024" cy="381000"/>
            </a:xfrm>
          </p:grpSpPr>
          <p:grpSp>
            <p:nvGrpSpPr>
              <p:cNvPr id="180" name="Group 179"/>
              <p:cNvGrpSpPr/>
              <p:nvPr/>
            </p:nvGrpSpPr>
            <p:grpSpPr>
              <a:xfrm>
                <a:off x="838200" y="2286000"/>
                <a:ext cx="2666024" cy="381000"/>
                <a:chOff x="1439008" y="2217615"/>
                <a:chExt cx="2666024" cy="381000"/>
              </a:xfrm>
            </p:grpSpPr>
            <p:sp>
              <p:nvSpPr>
                <p:cNvPr id="183" name="Rectangle 182"/>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2</a:t>
                  </a:r>
                  <a:endParaRPr lang="en-US" dirty="0"/>
                </a:p>
              </p:txBody>
            </p:sp>
            <p:sp>
              <p:nvSpPr>
                <p:cNvPr id="184" name="Rectangle 18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5" name="Rectangle 18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6" name="Rectangle 18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7" name="Rectangle 18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8" name="Rectangle 18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89" name="Rectangle 18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81" name="Rectangle 18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4" name="Group 113"/>
            <p:cNvGrpSpPr/>
            <p:nvPr/>
          </p:nvGrpSpPr>
          <p:grpSpPr>
            <a:xfrm>
              <a:off x="837712" y="3048000"/>
              <a:ext cx="3047024" cy="381000"/>
              <a:chOff x="838200" y="2286000"/>
              <a:chExt cx="3047024" cy="381000"/>
            </a:xfrm>
          </p:grpSpPr>
          <p:grpSp>
            <p:nvGrpSpPr>
              <p:cNvPr id="170" name="Group 169"/>
              <p:cNvGrpSpPr/>
              <p:nvPr/>
            </p:nvGrpSpPr>
            <p:grpSpPr>
              <a:xfrm>
                <a:off x="838200" y="2286000"/>
                <a:ext cx="2666024" cy="381000"/>
                <a:chOff x="1439008" y="2217615"/>
                <a:chExt cx="2666024" cy="381000"/>
              </a:xfrm>
            </p:grpSpPr>
            <p:sp>
              <p:nvSpPr>
                <p:cNvPr id="173" name="Rectangle 172"/>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3</a:t>
                  </a:r>
                  <a:endParaRPr lang="en-US" dirty="0"/>
                </a:p>
              </p:txBody>
            </p:sp>
            <p:sp>
              <p:nvSpPr>
                <p:cNvPr id="174" name="Rectangle 17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5" name="Rectangle 17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6" name="Rectangle 17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7" name="Rectangle 17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8" name="Rectangle 17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79" name="Rectangle 17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71" name="Rectangle 17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5" name="Group 114"/>
            <p:cNvGrpSpPr/>
            <p:nvPr/>
          </p:nvGrpSpPr>
          <p:grpSpPr>
            <a:xfrm>
              <a:off x="837224" y="3429000"/>
              <a:ext cx="3047024" cy="381000"/>
              <a:chOff x="838200" y="2286000"/>
              <a:chExt cx="3047024" cy="381000"/>
            </a:xfrm>
          </p:grpSpPr>
          <p:grpSp>
            <p:nvGrpSpPr>
              <p:cNvPr id="160" name="Group 159"/>
              <p:cNvGrpSpPr/>
              <p:nvPr/>
            </p:nvGrpSpPr>
            <p:grpSpPr>
              <a:xfrm>
                <a:off x="838200" y="2286000"/>
                <a:ext cx="2666024" cy="381000"/>
                <a:chOff x="1439008" y="2217615"/>
                <a:chExt cx="2666024" cy="381000"/>
              </a:xfrm>
            </p:grpSpPr>
            <p:sp>
              <p:nvSpPr>
                <p:cNvPr id="163" name="Rectangle 162"/>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4</a:t>
                  </a:r>
                  <a:endParaRPr lang="en-US" dirty="0"/>
                </a:p>
              </p:txBody>
            </p:sp>
            <p:sp>
              <p:nvSpPr>
                <p:cNvPr id="164" name="Rectangle 16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5" name="Rectangle 16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6" name="Rectangle 16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7" name="Rectangle 16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8" name="Rectangle 16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9" name="Rectangle 16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61" name="Rectangle 16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6" name="Group 115"/>
            <p:cNvGrpSpPr/>
            <p:nvPr/>
          </p:nvGrpSpPr>
          <p:grpSpPr>
            <a:xfrm>
              <a:off x="836736" y="3811954"/>
              <a:ext cx="3047024" cy="381000"/>
              <a:chOff x="838200" y="2286000"/>
              <a:chExt cx="3047024" cy="381000"/>
            </a:xfrm>
          </p:grpSpPr>
          <p:grpSp>
            <p:nvGrpSpPr>
              <p:cNvPr id="150" name="Group 149"/>
              <p:cNvGrpSpPr/>
              <p:nvPr/>
            </p:nvGrpSpPr>
            <p:grpSpPr>
              <a:xfrm>
                <a:off x="838200" y="2286000"/>
                <a:ext cx="2666024" cy="381000"/>
                <a:chOff x="1439008" y="2217615"/>
                <a:chExt cx="2666024" cy="381000"/>
              </a:xfrm>
            </p:grpSpPr>
            <p:sp>
              <p:nvSpPr>
                <p:cNvPr id="153" name="Rectangle 152"/>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5</a:t>
                  </a:r>
                  <a:endParaRPr lang="en-US" dirty="0"/>
                </a:p>
              </p:txBody>
            </p:sp>
            <p:sp>
              <p:nvSpPr>
                <p:cNvPr id="154" name="Rectangle 15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55" name="Rectangle 15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56" name="Rectangle 15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57" name="Rectangle 15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58" name="Rectangle 15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59" name="Rectangle 15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51" name="Rectangle 15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7" name="Group 116"/>
            <p:cNvGrpSpPr/>
            <p:nvPr/>
          </p:nvGrpSpPr>
          <p:grpSpPr>
            <a:xfrm>
              <a:off x="836248" y="4191000"/>
              <a:ext cx="3047024" cy="381000"/>
              <a:chOff x="838200" y="2286000"/>
              <a:chExt cx="3047024" cy="381000"/>
            </a:xfrm>
          </p:grpSpPr>
          <p:grpSp>
            <p:nvGrpSpPr>
              <p:cNvPr id="140" name="Group 139"/>
              <p:cNvGrpSpPr/>
              <p:nvPr/>
            </p:nvGrpSpPr>
            <p:grpSpPr>
              <a:xfrm>
                <a:off x="838200" y="2286000"/>
                <a:ext cx="2666024" cy="381000"/>
                <a:chOff x="1439008" y="2217615"/>
                <a:chExt cx="2666024" cy="381000"/>
              </a:xfrm>
            </p:grpSpPr>
            <p:sp>
              <p:nvSpPr>
                <p:cNvPr id="143" name="Rectangle 142"/>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6</a:t>
                  </a:r>
                  <a:endParaRPr lang="en-US" dirty="0"/>
                </a:p>
              </p:txBody>
            </p:sp>
            <p:sp>
              <p:nvSpPr>
                <p:cNvPr id="144" name="Rectangle 14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5" name="Rectangle 14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6" name="Rectangle 14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7" name="Rectangle 14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8" name="Rectangle 14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9" name="Rectangle 14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41" name="Rectangle 14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8" name="Group 117"/>
            <p:cNvGrpSpPr/>
            <p:nvPr/>
          </p:nvGrpSpPr>
          <p:grpSpPr>
            <a:xfrm>
              <a:off x="835760" y="4570046"/>
              <a:ext cx="3047024" cy="381000"/>
              <a:chOff x="838200" y="2286000"/>
              <a:chExt cx="3047024" cy="381000"/>
            </a:xfrm>
          </p:grpSpPr>
          <p:grpSp>
            <p:nvGrpSpPr>
              <p:cNvPr id="130" name="Group 129"/>
              <p:cNvGrpSpPr/>
              <p:nvPr/>
            </p:nvGrpSpPr>
            <p:grpSpPr>
              <a:xfrm>
                <a:off x="838200" y="2286000"/>
                <a:ext cx="2666024" cy="381000"/>
                <a:chOff x="1439008" y="2217615"/>
                <a:chExt cx="2666024" cy="381000"/>
              </a:xfrm>
            </p:grpSpPr>
            <p:sp>
              <p:nvSpPr>
                <p:cNvPr id="133" name="Rectangle 132"/>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4" name="Rectangle 13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5" name="Rectangle 13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6" name="Rectangle 13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7" name="Rectangle 13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8" name="Rectangle 13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9" name="Rectangle 13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31" name="Rectangle 13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nvGrpSpPr>
            <p:cNvPr id="119" name="Group 118"/>
            <p:cNvGrpSpPr/>
            <p:nvPr/>
          </p:nvGrpSpPr>
          <p:grpSpPr>
            <a:xfrm>
              <a:off x="839668" y="4947138"/>
              <a:ext cx="3047024" cy="381000"/>
              <a:chOff x="838200" y="2286000"/>
              <a:chExt cx="3047024" cy="381000"/>
            </a:xfrm>
          </p:grpSpPr>
          <p:grpSp>
            <p:nvGrpSpPr>
              <p:cNvPr id="120" name="Group 119"/>
              <p:cNvGrpSpPr/>
              <p:nvPr/>
            </p:nvGrpSpPr>
            <p:grpSpPr>
              <a:xfrm>
                <a:off x="838200" y="2286000"/>
                <a:ext cx="2666024" cy="381000"/>
                <a:chOff x="1439008" y="2217615"/>
                <a:chExt cx="2666024" cy="381000"/>
              </a:xfrm>
            </p:grpSpPr>
            <p:sp>
              <p:nvSpPr>
                <p:cNvPr id="123" name="Rectangle 122"/>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4" name="Rectangle 123"/>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5" name="Rectangle 124"/>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6" name="Rectangle 125"/>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7" name="Rectangle 126"/>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8" name="Rectangle 127"/>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9" name="Rectangle 128"/>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sp>
            <p:nvSpPr>
              <p:cNvPr id="121" name="Rectangle 120"/>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grpSp>
      <p:cxnSp>
        <p:nvCxnSpPr>
          <p:cNvPr id="201" name="Straight Arrow Connector 200"/>
          <p:cNvCxnSpPr>
            <a:stCxn id="26" idx="0"/>
            <a:endCxn id="193" idx="1"/>
          </p:cNvCxnSpPr>
          <p:nvPr/>
        </p:nvCxnSpPr>
        <p:spPr>
          <a:xfrm>
            <a:off x="994401" y="2610474"/>
            <a:ext cx="4246675" cy="808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5" idx="2"/>
            <a:endCxn id="183" idx="1"/>
          </p:cNvCxnSpPr>
          <p:nvPr/>
        </p:nvCxnSpPr>
        <p:spPr>
          <a:xfrm>
            <a:off x="1314097" y="2610474"/>
            <a:ext cx="3926979" cy="1133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p:cNvCxnSpPr>
            <a:stCxn id="28" idx="0"/>
            <a:endCxn id="173" idx="1"/>
          </p:cNvCxnSpPr>
          <p:nvPr/>
        </p:nvCxnSpPr>
        <p:spPr>
          <a:xfrm>
            <a:off x="1620138" y="2610474"/>
            <a:ext cx="3620537" cy="1457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p:cNvCxnSpPr>
            <a:stCxn id="8" idx="2"/>
            <a:endCxn id="163" idx="1"/>
          </p:cNvCxnSpPr>
          <p:nvPr/>
        </p:nvCxnSpPr>
        <p:spPr>
          <a:xfrm>
            <a:off x="1933408" y="2610474"/>
            <a:ext cx="3306866" cy="1782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9" name="Straight Arrow Connector 208"/>
          <p:cNvCxnSpPr>
            <a:stCxn id="30" idx="0"/>
            <a:endCxn id="153" idx="1"/>
          </p:cNvCxnSpPr>
          <p:nvPr/>
        </p:nvCxnSpPr>
        <p:spPr>
          <a:xfrm>
            <a:off x="2246678" y="2610474"/>
            <a:ext cx="2993194" cy="2108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p:cNvCxnSpPr>
            <a:stCxn id="17" idx="2"/>
            <a:endCxn id="143" idx="1"/>
          </p:cNvCxnSpPr>
          <p:nvPr/>
        </p:nvCxnSpPr>
        <p:spPr>
          <a:xfrm>
            <a:off x="2559948" y="2610474"/>
            <a:ext cx="2679523" cy="243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lstStyle/>
          <a:p>
            <a:fld id="{036081D1-8380-407A-ABF3-D12854566F9D}" type="slidenum">
              <a:rPr lang="en-US" smtClean="0"/>
              <a:pPr/>
              <a:t>4</a:t>
            </a:fld>
            <a:endParaRPr lang="en-US" dirty="0"/>
          </a:p>
        </p:txBody>
      </p:sp>
    </p:spTree>
    <p:extLst>
      <p:ext uri="{BB962C8B-B14F-4D97-AF65-F5344CB8AC3E}">
        <p14:creationId xmlns:p14="http://schemas.microsoft.com/office/powerpoint/2010/main" val="21978768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Jednostavno</a:t>
            </a:r>
            <a:r>
              <a:rPr lang="en-US" dirty="0" smtClean="0"/>
              <a:t> re</a:t>
            </a:r>
            <a:r>
              <a:rPr lang="sr-Latn-RS" dirty="0" smtClean="0"/>
              <a:t>šenje</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__global__ void </a:t>
            </a:r>
            <a:r>
              <a:rPr lang="en-US" dirty="0" err="1"/>
              <a:t>transpose_naive</a:t>
            </a:r>
            <a:r>
              <a:rPr lang="en-US" dirty="0" smtClean="0"/>
              <a:t>(</a:t>
            </a:r>
            <a:endParaRPr lang="sr-Latn-RS" dirty="0" smtClean="0"/>
          </a:p>
          <a:p>
            <a:pPr marL="0" indent="0">
              <a:buNone/>
            </a:pPr>
            <a:r>
              <a:rPr lang="sr-Latn-RS" dirty="0" smtClean="0"/>
              <a:t>			</a:t>
            </a:r>
            <a:r>
              <a:rPr lang="en-US" dirty="0" smtClean="0"/>
              <a:t>float </a:t>
            </a:r>
            <a:r>
              <a:rPr lang="en-US" dirty="0"/>
              <a:t>*</a:t>
            </a:r>
            <a:r>
              <a:rPr lang="en-US" dirty="0" err="1"/>
              <a:t>odata</a:t>
            </a:r>
            <a:r>
              <a:rPr lang="en-US" dirty="0"/>
              <a:t>, float *</a:t>
            </a:r>
            <a:r>
              <a:rPr lang="en-US" dirty="0" err="1"/>
              <a:t>idata</a:t>
            </a:r>
            <a:r>
              <a:rPr lang="en-US" dirty="0"/>
              <a:t>, </a:t>
            </a:r>
            <a:r>
              <a:rPr lang="en-US" dirty="0" err="1"/>
              <a:t>int</a:t>
            </a:r>
            <a:r>
              <a:rPr lang="en-US" dirty="0"/>
              <a:t> </a:t>
            </a:r>
            <a:r>
              <a:rPr lang="en-US" dirty="0" err="1"/>
              <a:t>width,int</a:t>
            </a:r>
            <a:r>
              <a:rPr lang="en-US" dirty="0"/>
              <a:t> height) </a:t>
            </a:r>
            <a:endParaRPr lang="sr-Latn-RS" dirty="0" smtClean="0"/>
          </a:p>
          <a:p>
            <a:pPr marL="0" indent="0">
              <a:buNone/>
            </a:pPr>
            <a:r>
              <a:rPr lang="en-US" dirty="0" smtClean="0"/>
              <a:t>{ </a:t>
            </a:r>
            <a:endParaRPr lang="sr-Latn-RS" dirty="0" smtClean="0"/>
          </a:p>
          <a:p>
            <a:pPr marL="0" indent="0">
              <a:buNone/>
            </a:pPr>
            <a:r>
              <a:rPr lang="sr-Latn-RS" dirty="0"/>
              <a:t>	</a:t>
            </a:r>
            <a:r>
              <a:rPr lang="en-US" dirty="0" err="1" smtClean="0"/>
              <a:t>int</a:t>
            </a:r>
            <a:r>
              <a:rPr lang="en-US" dirty="0" smtClean="0"/>
              <a:t> </a:t>
            </a:r>
            <a:r>
              <a:rPr lang="en-US" dirty="0" err="1"/>
              <a:t>xIndex</a:t>
            </a:r>
            <a:r>
              <a:rPr lang="en-US" dirty="0"/>
              <a:t>, </a:t>
            </a:r>
            <a:r>
              <a:rPr lang="en-US" dirty="0" err="1"/>
              <a:t>yIndex</a:t>
            </a:r>
            <a:r>
              <a:rPr lang="en-US" dirty="0"/>
              <a:t>, </a:t>
            </a:r>
            <a:r>
              <a:rPr lang="en-US" dirty="0" err="1"/>
              <a:t>index_in</a:t>
            </a:r>
            <a:r>
              <a:rPr lang="en-US" dirty="0"/>
              <a:t>, </a:t>
            </a:r>
            <a:r>
              <a:rPr lang="en-US" dirty="0" err="1"/>
              <a:t>index_out</a:t>
            </a:r>
            <a:r>
              <a:rPr lang="en-US" dirty="0"/>
              <a:t>; </a:t>
            </a:r>
            <a:endParaRPr lang="sr-Latn-RS" dirty="0" smtClean="0"/>
          </a:p>
          <a:p>
            <a:pPr marL="0" indent="0">
              <a:buNone/>
            </a:pPr>
            <a:endParaRPr lang="sr-Latn-RS" dirty="0" smtClean="0"/>
          </a:p>
          <a:p>
            <a:pPr marL="0" indent="0">
              <a:buNone/>
            </a:pPr>
            <a:r>
              <a:rPr lang="sr-Latn-RS" dirty="0"/>
              <a:t>	</a:t>
            </a:r>
            <a:r>
              <a:rPr lang="en-US" dirty="0" err="1" smtClean="0"/>
              <a:t>xIndex</a:t>
            </a:r>
            <a:r>
              <a:rPr lang="en-US" dirty="0" smtClean="0"/>
              <a:t> </a:t>
            </a:r>
            <a:r>
              <a:rPr lang="en-US" dirty="0"/>
              <a:t>= </a:t>
            </a:r>
            <a:r>
              <a:rPr lang="en-US" dirty="0" err="1"/>
              <a:t>blockDim.x</a:t>
            </a:r>
            <a:r>
              <a:rPr lang="en-US" dirty="0"/>
              <a:t> * </a:t>
            </a:r>
            <a:r>
              <a:rPr lang="en-US" dirty="0" err="1"/>
              <a:t>blockIdx.x</a:t>
            </a:r>
            <a:r>
              <a:rPr lang="en-US" dirty="0"/>
              <a:t> + </a:t>
            </a:r>
            <a:r>
              <a:rPr lang="en-US" dirty="0" err="1"/>
              <a:t>threadIdx.x</a:t>
            </a:r>
            <a:r>
              <a:rPr lang="en-US" dirty="0"/>
              <a:t>; </a:t>
            </a:r>
            <a:r>
              <a:rPr lang="sr-Latn-RS" dirty="0" smtClean="0"/>
              <a:t>	</a:t>
            </a:r>
          </a:p>
          <a:p>
            <a:pPr marL="0" indent="0">
              <a:buNone/>
            </a:pPr>
            <a:r>
              <a:rPr lang="sr-Latn-RS" dirty="0"/>
              <a:t>	</a:t>
            </a:r>
            <a:r>
              <a:rPr lang="en-US" dirty="0" err="1" smtClean="0"/>
              <a:t>yIndex</a:t>
            </a:r>
            <a:r>
              <a:rPr lang="en-US" dirty="0" smtClean="0"/>
              <a:t> </a:t>
            </a:r>
            <a:r>
              <a:rPr lang="en-US" dirty="0"/>
              <a:t>= </a:t>
            </a:r>
            <a:r>
              <a:rPr lang="en-US" dirty="0" err="1"/>
              <a:t>blockDim.y</a:t>
            </a:r>
            <a:r>
              <a:rPr lang="en-US" dirty="0"/>
              <a:t> * </a:t>
            </a:r>
            <a:r>
              <a:rPr lang="en-US" dirty="0" err="1"/>
              <a:t>blockIdx.y</a:t>
            </a:r>
            <a:r>
              <a:rPr lang="en-US" dirty="0"/>
              <a:t> + </a:t>
            </a:r>
            <a:r>
              <a:rPr lang="en-US" dirty="0" err="1"/>
              <a:t>threadIdx.y</a:t>
            </a:r>
            <a:r>
              <a:rPr lang="en-US" dirty="0" smtClean="0"/>
              <a:t>;</a:t>
            </a:r>
            <a:endParaRPr lang="sr-Latn-RS" dirty="0" smtClean="0"/>
          </a:p>
          <a:p>
            <a:pPr marL="0" indent="0">
              <a:buNone/>
            </a:pPr>
            <a:endParaRPr lang="sr-Latn-RS" dirty="0"/>
          </a:p>
          <a:p>
            <a:pPr marL="0" indent="0">
              <a:buNone/>
            </a:pPr>
            <a:r>
              <a:rPr lang="sr-Latn-RS" dirty="0" smtClean="0"/>
              <a:t>	</a:t>
            </a:r>
            <a:r>
              <a:rPr lang="en-US" dirty="0" smtClean="0"/>
              <a:t> </a:t>
            </a:r>
            <a:r>
              <a:rPr lang="en-US" dirty="0"/>
              <a:t>if (</a:t>
            </a:r>
            <a:r>
              <a:rPr lang="en-US" dirty="0" err="1"/>
              <a:t>xIndex</a:t>
            </a:r>
            <a:r>
              <a:rPr lang="en-US" dirty="0"/>
              <a:t> &lt; width &amp;&amp; </a:t>
            </a:r>
            <a:r>
              <a:rPr lang="en-US" dirty="0" err="1"/>
              <a:t>yIndex</a:t>
            </a:r>
            <a:r>
              <a:rPr lang="en-US" dirty="0"/>
              <a:t> &lt; height) </a:t>
            </a:r>
            <a:endParaRPr lang="sr-Latn-RS" dirty="0" smtClean="0"/>
          </a:p>
          <a:p>
            <a:pPr marL="0" indent="0">
              <a:buNone/>
            </a:pPr>
            <a:r>
              <a:rPr lang="sr-Latn-RS" dirty="0" smtClean="0"/>
              <a:t>	</a:t>
            </a:r>
            <a:r>
              <a:rPr lang="en-US" dirty="0" smtClean="0"/>
              <a:t>{</a:t>
            </a:r>
            <a:endParaRPr lang="sr-Latn-RS" dirty="0" smtClean="0"/>
          </a:p>
          <a:p>
            <a:pPr marL="0" indent="0">
              <a:buNone/>
            </a:pPr>
            <a:r>
              <a:rPr lang="en-US" dirty="0" smtClean="0"/>
              <a:t> </a:t>
            </a:r>
            <a:r>
              <a:rPr lang="sr-Latn-RS" dirty="0" smtClean="0"/>
              <a:t>		</a:t>
            </a:r>
            <a:r>
              <a:rPr lang="en-US" dirty="0" err="1" smtClean="0"/>
              <a:t>index_in</a:t>
            </a:r>
            <a:r>
              <a:rPr lang="en-US" dirty="0" smtClean="0"/>
              <a:t> </a:t>
            </a:r>
            <a:r>
              <a:rPr lang="en-US" dirty="0"/>
              <a:t>= </a:t>
            </a:r>
            <a:r>
              <a:rPr lang="en-US" dirty="0" err="1"/>
              <a:t>xIndex</a:t>
            </a:r>
            <a:r>
              <a:rPr lang="en-US" dirty="0"/>
              <a:t> + width * </a:t>
            </a:r>
            <a:r>
              <a:rPr lang="en-US" dirty="0" err="1"/>
              <a:t>yIndex</a:t>
            </a:r>
            <a:r>
              <a:rPr lang="en-US" dirty="0" smtClean="0"/>
              <a:t>;</a:t>
            </a:r>
            <a:endParaRPr lang="sr-Latn-RS" dirty="0" smtClean="0"/>
          </a:p>
          <a:p>
            <a:pPr marL="0" indent="0">
              <a:buNone/>
            </a:pPr>
            <a:r>
              <a:rPr lang="sr-Latn-RS" dirty="0" smtClean="0"/>
              <a:t>		</a:t>
            </a:r>
            <a:r>
              <a:rPr lang="en-US" dirty="0" err="1" smtClean="0"/>
              <a:t>index_out</a:t>
            </a:r>
            <a:r>
              <a:rPr lang="en-US" dirty="0" smtClean="0"/>
              <a:t> </a:t>
            </a:r>
            <a:r>
              <a:rPr lang="en-US" dirty="0"/>
              <a:t>= </a:t>
            </a:r>
            <a:r>
              <a:rPr lang="en-US" dirty="0" err="1"/>
              <a:t>yIndex</a:t>
            </a:r>
            <a:r>
              <a:rPr lang="en-US" dirty="0"/>
              <a:t> + height * </a:t>
            </a:r>
            <a:r>
              <a:rPr lang="en-US" dirty="0" err="1"/>
              <a:t>xIndex</a:t>
            </a:r>
            <a:r>
              <a:rPr lang="en-US" dirty="0"/>
              <a:t>; </a:t>
            </a:r>
            <a:r>
              <a:rPr lang="sr-Latn-RS" dirty="0" smtClean="0"/>
              <a:t>				</a:t>
            </a:r>
            <a:r>
              <a:rPr lang="en-US" dirty="0" err="1" smtClean="0"/>
              <a:t>odata</a:t>
            </a:r>
            <a:r>
              <a:rPr lang="en-US" dirty="0" smtClean="0"/>
              <a:t>[</a:t>
            </a:r>
            <a:r>
              <a:rPr lang="en-US" dirty="0" err="1" smtClean="0"/>
              <a:t>index_out</a:t>
            </a:r>
            <a:r>
              <a:rPr lang="en-US" dirty="0"/>
              <a:t>] = </a:t>
            </a:r>
            <a:r>
              <a:rPr lang="en-US" dirty="0" err="1"/>
              <a:t>idata</a:t>
            </a:r>
            <a:r>
              <a:rPr lang="en-US" dirty="0"/>
              <a:t>[</a:t>
            </a:r>
            <a:r>
              <a:rPr lang="en-US" dirty="0" err="1"/>
              <a:t>index_in</a:t>
            </a:r>
            <a:r>
              <a:rPr lang="en-US" dirty="0"/>
              <a:t>]; </a:t>
            </a:r>
            <a:endParaRPr lang="sr-Latn-RS" dirty="0" smtClean="0"/>
          </a:p>
          <a:p>
            <a:pPr marL="0" indent="0">
              <a:buNone/>
            </a:pPr>
            <a:r>
              <a:rPr lang="sr-Latn-RS" dirty="0"/>
              <a:t>	</a:t>
            </a:r>
            <a:r>
              <a:rPr lang="en-US" dirty="0" smtClean="0"/>
              <a:t>}</a:t>
            </a:r>
            <a:endParaRPr lang="sr-Latn-RS" dirty="0" smtClean="0"/>
          </a:p>
          <a:p>
            <a:pPr marL="0" indent="0">
              <a:buNone/>
            </a:pPr>
            <a:r>
              <a:rPr lang="en-US" dirty="0" smtClean="0"/>
              <a:t>}</a:t>
            </a:r>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5</a:t>
            </a:fld>
            <a:endParaRPr lang="en-US" dirty="0"/>
          </a:p>
        </p:txBody>
      </p:sp>
    </p:spTree>
    <p:extLst>
      <p:ext uri="{BB962C8B-B14F-4D97-AF65-F5344CB8AC3E}">
        <p14:creationId xmlns:p14="http://schemas.microsoft.com/office/powerpoint/2010/main" val="3417086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Jednostavno</a:t>
            </a:r>
            <a:r>
              <a:rPr lang="en-US" dirty="0"/>
              <a:t> re</a:t>
            </a:r>
            <a:r>
              <a:rPr lang="sr-Latn-RS" dirty="0" smtClean="0"/>
              <a:t>šenje - problemi</a:t>
            </a:r>
            <a:endParaRPr lang="en-US" dirty="0"/>
          </a:p>
        </p:txBody>
      </p:sp>
      <p:sp>
        <p:nvSpPr>
          <p:cNvPr id="3" name="Content Placeholder 2"/>
          <p:cNvSpPr>
            <a:spLocks noGrp="1"/>
          </p:cNvSpPr>
          <p:nvPr>
            <p:ph idx="1"/>
          </p:nvPr>
        </p:nvSpPr>
        <p:spPr/>
        <p:txBody>
          <a:bodyPr/>
          <a:lstStyle/>
          <a:p>
            <a:endParaRPr lang="en-US" dirty="0"/>
          </a:p>
        </p:txBody>
      </p:sp>
      <p:cxnSp>
        <p:nvCxnSpPr>
          <p:cNvPr id="167" name="Straight Arrow Connector 166"/>
          <p:cNvCxnSpPr>
            <a:stCxn id="78" idx="2"/>
            <a:endCxn id="159" idx="0"/>
          </p:cNvCxnSpPr>
          <p:nvPr/>
        </p:nvCxnSpPr>
        <p:spPr>
          <a:xfrm>
            <a:off x="614391" y="2589846"/>
            <a:ext cx="15809" cy="1619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p:cNvCxnSpPr>
            <a:stCxn id="79" idx="2"/>
            <a:endCxn id="150" idx="0"/>
          </p:cNvCxnSpPr>
          <p:nvPr/>
        </p:nvCxnSpPr>
        <p:spPr>
          <a:xfrm>
            <a:off x="876900" y="2589846"/>
            <a:ext cx="1839199" cy="1617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a:stCxn id="80" idx="2"/>
            <a:endCxn id="141" idx="0"/>
          </p:cNvCxnSpPr>
          <p:nvPr/>
        </p:nvCxnSpPr>
        <p:spPr>
          <a:xfrm>
            <a:off x="1128197" y="2589846"/>
            <a:ext cx="3687483" cy="1617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81" idx="2"/>
            <a:endCxn id="132" idx="0"/>
          </p:cNvCxnSpPr>
          <p:nvPr/>
        </p:nvCxnSpPr>
        <p:spPr>
          <a:xfrm>
            <a:off x="1385430" y="2589846"/>
            <a:ext cx="5518578" cy="1617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82" name="Group 181"/>
          <p:cNvGrpSpPr/>
          <p:nvPr/>
        </p:nvGrpSpPr>
        <p:grpSpPr>
          <a:xfrm>
            <a:off x="485774" y="2351262"/>
            <a:ext cx="8210546" cy="238584"/>
            <a:chOff x="837407" y="2286001"/>
            <a:chExt cx="8210546" cy="238584"/>
          </a:xfrm>
        </p:grpSpPr>
        <p:grpSp>
          <p:nvGrpSpPr>
            <p:cNvPr id="5" name="Group 4"/>
            <p:cNvGrpSpPr/>
            <p:nvPr/>
          </p:nvGrpSpPr>
          <p:grpSpPr>
            <a:xfrm>
              <a:off x="837407" y="2286001"/>
              <a:ext cx="2057202" cy="238584"/>
              <a:chOff x="838200" y="2286000"/>
              <a:chExt cx="3047024" cy="381000"/>
            </a:xfrm>
          </p:grpSpPr>
          <p:grpSp>
            <p:nvGrpSpPr>
              <p:cNvPr id="76" name="Group 75"/>
              <p:cNvGrpSpPr/>
              <p:nvPr/>
            </p:nvGrpSpPr>
            <p:grpSpPr>
              <a:xfrm>
                <a:off x="838200" y="2286000"/>
                <a:ext cx="2666024" cy="381000"/>
                <a:chOff x="1439008" y="2217615"/>
                <a:chExt cx="2666024" cy="381000"/>
              </a:xfrm>
            </p:grpSpPr>
            <p:sp>
              <p:nvSpPr>
                <p:cNvPr id="78" name="Rectangle 77"/>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1</a:t>
                  </a:r>
                  <a:endParaRPr lang="en-US" sz="1600" dirty="0"/>
                </a:p>
              </p:txBody>
            </p:sp>
            <p:sp>
              <p:nvSpPr>
                <p:cNvPr id="79" name="Rectangle 78"/>
                <p:cNvSpPr/>
                <p:nvPr/>
              </p:nvSpPr>
              <p:spPr>
                <a:xfrm>
                  <a:off x="1827823"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2</a:t>
                  </a:r>
                  <a:endParaRPr lang="en-US" sz="1600" dirty="0"/>
                </a:p>
              </p:txBody>
            </p:sp>
            <p:sp>
              <p:nvSpPr>
                <p:cNvPr id="80" name="Rectangle 79"/>
                <p:cNvSpPr/>
                <p:nvPr/>
              </p:nvSpPr>
              <p:spPr>
                <a:xfrm>
                  <a:off x="2200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3</a:t>
                  </a:r>
                  <a:endParaRPr lang="en-US" sz="1600" dirty="0"/>
                </a:p>
              </p:txBody>
            </p:sp>
            <p:sp>
              <p:nvSpPr>
                <p:cNvPr id="81" name="Rectangle 80"/>
                <p:cNvSpPr/>
                <p:nvPr/>
              </p:nvSpPr>
              <p:spPr>
                <a:xfrm>
                  <a:off x="2581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4</a:t>
                  </a:r>
                  <a:endParaRPr lang="en-US" sz="1600" dirty="0"/>
                </a:p>
              </p:txBody>
            </p:sp>
            <p:sp>
              <p:nvSpPr>
                <p:cNvPr id="82" name="Rectangle 81"/>
                <p:cNvSpPr/>
                <p:nvPr/>
              </p:nvSpPr>
              <p:spPr>
                <a:xfrm>
                  <a:off x="2962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5</a:t>
                  </a:r>
                  <a:endParaRPr lang="en-US" sz="1600" dirty="0"/>
                </a:p>
              </p:txBody>
            </p:sp>
            <p:sp>
              <p:nvSpPr>
                <p:cNvPr id="83" name="Rectangle 82"/>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84" name="Rectangle 83"/>
                <p:cNvSpPr/>
                <p:nvPr/>
              </p:nvSpPr>
              <p:spPr>
                <a:xfrm>
                  <a:off x="3343032"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6</a:t>
                  </a:r>
                  <a:endParaRPr lang="en-US" sz="1600" dirty="0"/>
                </a:p>
              </p:txBody>
            </p:sp>
          </p:grpSp>
          <p:sp>
            <p:nvSpPr>
              <p:cNvPr id="77" name="Rectangle 76"/>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6" name="Group 5"/>
            <p:cNvGrpSpPr/>
            <p:nvPr/>
          </p:nvGrpSpPr>
          <p:grpSpPr>
            <a:xfrm>
              <a:off x="2923306" y="2286001"/>
              <a:ext cx="2057202" cy="238584"/>
              <a:chOff x="838200" y="2286000"/>
              <a:chExt cx="3047024" cy="381000"/>
            </a:xfrm>
          </p:grpSpPr>
          <p:grpSp>
            <p:nvGrpSpPr>
              <p:cNvPr id="67" name="Group 66"/>
              <p:cNvGrpSpPr/>
              <p:nvPr/>
            </p:nvGrpSpPr>
            <p:grpSpPr>
              <a:xfrm>
                <a:off x="838200" y="2286000"/>
                <a:ext cx="2666024" cy="381000"/>
                <a:chOff x="1439008" y="2217615"/>
                <a:chExt cx="2666024" cy="381000"/>
              </a:xfrm>
            </p:grpSpPr>
            <p:sp>
              <p:nvSpPr>
                <p:cNvPr id="69" name="Rectangle 68"/>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70" name="Rectangle 69"/>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71" name="Rectangle 70"/>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72" name="Rectangle 71"/>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73" name="Rectangle 72"/>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74" name="Rectangle 73"/>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75" name="Rectangle 74"/>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sp>
            <p:nvSpPr>
              <p:cNvPr id="68" name="Rectangle 67"/>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7" name="Group 6"/>
            <p:cNvGrpSpPr/>
            <p:nvPr/>
          </p:nvGrpSpPr>
          <p:grpSpPr>
            <a:xfrm>
              <a:off x="5016505" y="2286001"/>
              <a:ext cx="2057202" cy="238584"/>
              <a:chOff x="838200" y="2286000"/>
              <a:chExt cx="3047024" cy="381000"/>
            </a:xfrm>
          </p:grpSpPr>
          <p:grpSp>
            <p:nvGrpSpPr>
              <p:cNvPr id="58" name="Group 57"/>
              <p:cNvGrpSpPr/>
              <p:nvPr/>
            </p:nvGrpSpPr>
            <p:grpSpPr>
              <a:xfrm>
                <a:off x="838200" y="2286000"/>
                <a:ext cx="2666024" cy="381000"/>
                <a:chOff x="1439008" y="2217615"/>
                <a:chExt cx="2666024" cy="381000"/>
              </a:xfrm>
            </p:grpSpPr>
            <p:sp>
              <p:nvSpPr>
                <p:cNvPr id="60" name="Rectangle 59"/>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61" name="Rectangle 60"/>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62" name="Rectangle 61"/>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63" name="Rectangle 62"/>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64" name="Rectangle 63"/>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65" name="Rectangle 64"/>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66" name="Rectangle 65"/>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sp>
            <p:nvSpPr>
              <p:cNvPr id="59" name="Rectangle 58"/>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49" name="Group 48"/>
            <p:cNvGrpSpPr/>
            <p:nvPr/>
          </p:nvGrpSpPr>
          <p:grpSpPr>
            <a:xfrm>
              <a:off x="7112863" y="2286001"/>
              <a:ext cx="1542736" cy="238584"/>
              <a:chOff x="1439008" y="2217615"/>
              <a:chExt cx="2285024" cy="381000"/>
            </a:xfrm>
          </p:grpSpPr>
          <p:sp>
            <p:nvSpPr>
              <p:cNvPr id="51" name="Rectangle 50"/>
              <p:cNvSpPr/>
              <p:nvPr/>
            </p:nvSpPr>
            <p:spPr>
              <a:xfrm>
                <a:off x="1439008"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52" name="Rectangle 51"/>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53" name="Rectangle 52"/>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54" name="Rectangle 53"/>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55" name="Rectangle 54"/>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57" name="Rectangle 56"/>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177" name="Group 176"/>
            <p:cNvGrpSpPr/>
            <p:nvPr/>
          </p:nvGrpSpPr>
          <p:grpSpPr>
            <a:xfrm>
              <a:off x="8749309" y="2382433"/>
              <a:ext cx="298644" cy="45719"/>
              <a:chOff x="1865678" y="5105400"/>
              <a:chExt cx="298644" cy="45719"/>
            </a:xfrm>
          </p:grpSpPr>
          <p:sp>
            <p:nvSpPr>
              <p:cNvPr id="174" name="Oval 173"/>
              <p:cNvSpPr/>
              <p:nvPr/>
            </p:nvSpPr>
            <p:spPr>
              <a:xfrm>
                <a:off x="1865678" y="51054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a:off x="1994294" y="51054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a:off x="2118603" y="51054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 182"/>
          <p:cNvGrpSpPr/>
          <p:nvPr/>
        </p:nvGrpSpPr>
        <p:grpSpPr>
          <a:xfrm>
            <a:off x="501748" y="4207203"/>
            <a:ext cx="8185052" cy="231388"/>
            <a:chOff x="840042" y="4113920"/>
            <a:chExt cx="8185052" cy="231388"/>
          </a:xfrm>
        </p:grpSpPr>
        <p:grpSp>
          <p:nvGrpSpPr>
            <p:cNvPr id="86" name="Group 85"/>
            <p:cNvGrpSpPr/>
            <p:nvPr/>
          </p:nvGrpSpPr>
          <p:grpSpPr>
            <a:xfrm>
              <a:off x="840042" y="4116268"/>
              <a:ext cx="2054567" cy="229040"/>
              <a:chOff x="838200" y="2286000"/>
              <a:chExt cx="3047024" cy="381000"/>
            </a:xfrm>
          </p:grpSpPr>
          <p:grpSp>
            <p:nvGrpSpPr>
              <p:cNvPr id="157" name="Group 156"/>
              <p:cNvGrpSpPr/>
              <p:nvPr/>
            </p:nvGrpSpPr>
            <p:grpSpPr>
              <a:xfrm>
                <a:off x="838200" y="2286000"/>
                <a:ext cx="2666024" cy="381000"/>
                <a:chOff x="1439008" y="2217615"/>
                <a:chExt cx="2666024" cy="381000"/>
              </a:xfrm>
            </p:grpSpPr>
            <p:sp>
              <p:nvSpPr>
                <p:cNvPr id="159" name="Rectangle 158"/>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1</a:t>
                  </a:r>
                  <a:endParaRPr lang="en-US" sz="1600" dirty="0"/>
                </a:p>
              </p:txBody>
            </p:sp>
            <p:sp>
              <p:nvSpPr>
                <p:cNvPr id="160" name="Rectangle 159"/>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61" name="Rectangle 160"/>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62" name="Rectangle 161"/>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63" name="Rectangle 162"/>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64" name="Rectangle 163"/>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65" name="Rectangle 164"/>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sp>
            <p:nvSpPr>
              <p:cNvPr id="158" name="Rectangle 157"/>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87" name="Group 86"/>
            <p:cNvGrpSpPr/>
            <p:nvPr/>
          </p:nvGrpSpPr>
          <p:grpSpPr>
            <a:xfrm>
              <a:off x="2925941" y="4113920"/>
              <a:ext cx="2054567" cy="229040"/>
              <a:chOff x="838200" y="2286000"/>
              <a:chExt cx="3047024" cy="381000"/>
            </a:xfrm>
          </p:grpSpPr>
          <p:grpSp>
            <p:nvGrpSpPr>
              <p:cNvPr id="148" name="Group 147"/>
              <p:cNvGrpSpPr/>
              <p:nvPr/>
            </p:nvGrpSpPr>
            <p:grpSpPr>
              <a:xfrm>
                <a:off x="838200" y="2286000"/>
                <a:ext cx="2666024" cy="381000"/>
                <a:chOff x="1439008" y="2217615"/>
                <a:chExt cx="2666024" cy="381000"/>
              </a:xfrm>
            </p:grpSpPr>
            <p:sp>
              <p:nvSpPr>
                <p:cNvPr id="150" name="Rectangle 149"/>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2</a:t>
                  </a:r>
                  <a:endParaRPr lang="en-US" sz="1600" dirty="0"/>
                </a:p>
              </p:txBody>
            </p:sp>
            <p:sp>
              <p:nvSpPr>
                <p:cNvPr id="151" name="Rectangle 150"/>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52" name="Rectangle 151"/>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53" name="Rectangle 152"/>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54" name="Rectangle 153"/>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55" name="Rectangle 154"/>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56" name="Rectangle 155"/>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sp>
            <p:nvSpPr>
              <p:cNvPr id="149" name="Rectangle 148"/>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88" name="Group 87"/>
            <p:cNvGrpSpPr/>
            <p:nvPr/>
          </p:nvGrpSpPr>
          <p:grpSpPr>
            <a:xfrm>
              <a:off x="5025522" y="4113920"/>
              <a:ext cx="2054567" cy="229040"/>
              <a:chOff x="838200" y="2286000"/>
              <a:chExt cx="3047024" cy="381000"/>
            </a:xfrm>
          </p:grpSpPr>
          <p:grpSp>
            <p:nvGrpSpPr>
              <p:cNvPr id="139" name="Group 138"/>
              <p:cNvGrpSpPr/>
              <p:nvPr/>
            </p:nvGrpSpPr>
            <p:grpSpPr>
              <a:xfrm>
                <a:off x="838200" y="2286000"/>
                <a:ext cx="2666024" cy="381000"/>
                <a:chOff x="1439008" y="2217615"/>
                <a:chExt cx="2666024" cy="381000"/>
              </a:xfrm>
            </p:grpSpPr>
            <p:sp>
              <p:nvSpPr>
                <p:cNvPr id="141" name="Rectangle 140"/>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3</a:t>
                  </a:r>
                  <a:endParaRPr lang="en-US" sz="1600" dirty="0"/>
                </a:p>
              </p:txBody>
            </p:sp>
            <p:sp>
              <p:nvSpPr>
                <p:cNvPr id="142" name="Rectangle 141"/>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43" name="Rectangle 142"/>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44" name="Rectangle 143"/>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45" name="Rectangle 144"/>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46" name="Rectangle 145"/>
                <p:cNvSpPr/>
                <p:nvPr/>
              </p:nvSpPr>
              <p:spPr>
                <a:xfrm>
                  <a:off x="3724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47" name="Rectangle 146"/>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sp>
            <p:nvSpPr>
              <p:cNvPr id="140" name="Rectangle 139"/>
              <p:cNvSpPr/>
              <p:nvPr/>
            </p:nvSpPr>
            <p:spPr>
              <a:xfrm>
                <a:off x="3504224" y="2286000"/>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130" name="Group 129"/>
            <p:cNvGrpSpPr/>
            <p:nvPr/>
          </p:nvGrpSpPr>
          <p:grpSpPr>
            <a:xfrm>
              <a:off x="7113850" y="4113920"/>
              <a:ext cx="1540761" cy="229040"/>
              <a:chOff x="1439008" y="2217615"/>
              <a:chExt cx="2285024" cy="381000"/>
            </a:xfrm>
          </p:grpSpPr>
          <p:sp>
            <p:nvSpPr>
              <p:cNvPr id="132" name="Rectangle 131"/>
              <p:cNvSpPr/>
              <p:nvPr/>
            </p:nvSpPr>
            <p:spPr>
              <a:xfrm>
                <a:off x="1439008" y="2217615"/>
                <a:ext cx="381000" cy="381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600" dirty="0" smtClean="0"/>
                  <a:t>4</a:t>
                </a:r>
                <a:endParaRPr lang="en-US" sz="1600" dirty="0"/>
              </a:p>
            </p:txBody>
          </p:sp>
          <p:sp>
            <p:nvSpPr>
              <p:cNvPr id="133" name="Rectangle 132"/>
              <p:cNvSpPr/>
              <p:nvPr/>
            </p:nvSpPr>
            <p:spPr>
              <a:xfrm>
                <a:off x="1827823"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34" name="Rectangle 133"/>
              <p:cNvSpPr/>
              <p:nvPr/>
            </p:nvSpPr>
            <p:spPr>
              <a:xfrm>
                <a:off x="2200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35" name="Rectangle 134"/>
              <p:cNvSpPr/>
              <p:nvPr/>
            </p:nvSpPr>
            <p:spPr>
              <a:xfrm>
                <a:off x="2581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36" name="Rectangle 135"/>
              <p:cNvSpPr/>
              <p:nvPr/>
            </p:nvSpPr>
            <p:spPr>
              <a:xfrm>
                <a:off x="2962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sp>
            <p:nvSpPr>
              <p:cNvPr id="138" name="Rectangle 137"/>
              <p:cNvSpPr/>
              <p:nvPr/>
            </p:nvSpPr>
            <p:spPr>
              <a:xfrm>
                <a:off x="3343032" y="2217615"/>
                <a:ext cx="3810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600"/>
              </a:p>
            </p:txBody>
          </p:sp>
        </p:grpSp>
        <p:grpSp>
          <p:nvGrpSpPr>
            <p:cNvPr id="178" name="Group 177"/>
            <p:cNvGrpSpPr/>
            <p:nvPr/>
          </p:nvGrpSpPr>
          <p:grpSpPr>
            <a:xfrm>
              <a:off x="8726450" y="4205580"/>
              <a:ext cx="298644" cy="45719"/>
              <a:chOff x="1865678" y="5105400"/>
              <a:chExt cx="298644" cy="45719"/>
            </a:xfrm>
          </p:grpSpPr>
          <p:sp>
            <p:nvSpPr>
              <p:cNvPr id="179" name="Oval 178"/>
              <p:cNvSpPr/>
              <p:nvPr/>
            </p:nvSpPr>
            <p:spPr>
              <a:xfrm>
                <a:off x="1865678" y="51054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a:off x="1994294" y="51054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a:off x="2118603" y="51054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 name="Slide Number Placeholder 3"/>
          <p:cNvSpPr>
            <a:spLocks noGrp="1"/>
          </p:cNvSpPr>
          <p:nvPr>
            <p:ph type="sldNum" sz="quarter" idx="12"/>
          </p:nvPr>
        </p:nvSpPr>
        <p:spPr/>
        <p:txBody>
          <a:bodyPr/>
          <a:lstStyle/>
          <a:p>
            <a:fld id="{036081D1-8380-407A-ABF3-D12854566F9D}" type="slidenum">
              <a:rPr lang="en-US" smtClean="0"/>
              <a:pPr/>
              <a:t>6</a:t>
            </a:fld>
            <a:endParaRPr lang="en-US" dirty="0"/>
          </a:p>
        </p:txBody>
      </p:sp>
    </p:spTree>
    <p:extLst>
      <p:ext uri="{BB962C8B-B14F-4D97-AF65-F5344CB8AC3E}">
        <p14:creationId xmlns:p14="http://schemas.microsoft.com/office/powerpoint/2010/main" val="10499931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Moguće rešenje</a:t>
            </a:r>
            <a:endParaRPr lang="en-US" dirty="0"/>
          </a:p>
        </p:txBody>
      </p:sp>
      <p:sp>
        <p:nvSpPr>
          <p:cNvPr id="3" name="Content Placeholder 2"/>
          <p:cNvSpPr>
            <a:spLocks noGrp="1"/>
          </p:cNvSpPr>
          <p:nvPr>
            <p:ph idx="1"/>
          </p:nvPr>
        </p:nvSpPr>
        <p:spPr/>
        <p:txBody>
          <a:bodyPr/>
          <a:lstStyle/>
          <a:p>
            <a:r>
              <a:rPr lang="sr-Latn-RS" dirty="0" smtClean="0"/>
              <a:t>Navedeni problem može biti adresiran korišćenjem deljive memorije uređaja</a:t>
            </a:r>
          </a:p>
          <a:p>
            <a:r>
              <a:rPr lang="sr-Latn-RS" dirty="0" smtClean="0"/>
              <a:t>Svaki SM na GPU ima svoju deljivu memoriju</a:t>
            </a:r>
          </a:p>
          <a:p>
            <a:r>
              <a:rPr lang="sr-Latn-RS" dirty="0" smtClean="0"/>
              <a:t>Niti u okviru jednog bloka mogu da komuniciraju putem deljive memorije</a:t>
            </a:r>
          </a:p>
          <a:p>
            <a:r>
              <a:rPr lang="sr-Latn-RS" dirty="0" smtClean="0"/>
              <a:t>Svaka nit u okviru bloka ima R/W pristup deljivoj memoriji koja je alocirana bloku</a:t>
            </a:r>
          </a:p>
          <a:p>
            <a:r>
              <a:rPr lang="sr-Latn-RS" dirty="0" smtClean="0"/>
              <a:t>Niti se mogu sinhronizovati pomoću </a:t>
            </a:r>
            <a:r>
              <a:rPr lang="en-US" dirty="0"/>
              <a:t>__</a:t>
            </a:r>
            <a:r>
              <a:rPr lang="en-US" dirty="0" err="1"/>
              <a:t>syncthreads</a:t>
            </a:r>
            <a:r>
              <a:rPr lang="en-US" dirty="0"/>
              <a:t>();</a:t>
            </a:r>
            <a:endParaRPr lang="sr-Latn-RS" dirty="0" smtClean="0"/>
          </a:p>
          <a:p>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7</a:t>
            </a:fld>
            <a:endParaRPr lang="en-US" dirty="0"/>
          </a:p>
        </p:txBody>
      </p:sp>
    </p:spTree>
    <p:extLst>
      <p:ext uri="{BB962C8B-B14F-4D97-AF65-F5344CB8AC3E}">
        <p14:creationId xmlns:p14="http://schemas.microsoft.com/office/powerpoint/2010/main" val="37350360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Korišćenje deljive memorije</a:t>
            </a:r>
            <a:endParaRPr lang="en-US" dirty="0"/>
          </a:p>
        </p:txBody>
      </p:sp>
      <p:sp>
        <p:nvSpPr>
          <p:cNvPr id="3" name="Content Placeholder 2"/>
          <p:cNvSpPr>
            <a:spLocks noGrp="1"/>
          </p:cNvSpPr>
          <p:nvPr>
            <p:ph idx="1"/>
          </p:nvPr>
        </p:nvSpPr>
        <p:spPr/>
        <p:txBody>
          <a:bodyPr/>
          <a:lstStyle/>
          <a:p>
            <a:r>
              <a:rPr lang="sr-Latn-RS" dirty="0" smtClean="0"/>
              <a:t>Matricu delimo na tajlove veličine 32x32. Svaki tajl će procesirati poseban blok</a:t>
            </a:r>
          </a:p>
          <a:p>
            <a:r>
              <a:rPr lang="sr-Latn-RS" dirty="0" smtClean="0"/>
              <a:t>Blok niti će učitati svoj tajl iz ulazne matrice u deljivu memoriju</a:t>
            </a:r>
          </a:p>
          <a:p>
            <a:r>
              <a:rPr lang="sr-Latn-RS" dirty="0" smtClean="0"/>
              <a:t>Svaki tajl se transpose-uje tako što se elementi upišu na odgovarajuća mesta u izlaznoj matrici</a:t>
            </a:r>
          </a:p>
          <a:p>
            <a:r>
              <a:rPr lang="sr-Latn-RS" dirty="0" smtClean="0"/>
              <a:t>Sada je i upis u izlaznu matricu coalesced</a:t>
            </a:r>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8</a:t>
            </a:fld>
            <a:endParaRPr lang="en-US" dirty="0"/>
          </a:p>
        </p:txBody>
      </p:sp>
    </p:spTree>
    <p:extLst>
      <p:ext uri="{BB962C8B-B14F-4D97-AF65-F5344CB8AC3E}">
        <p14:creationId xmlns:p14="http://schemas.microsoft.com/office/powerpoint/2010/main" val="19492010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Optimizovano transponovanje matrica</a:t>
            </a:r>
            <a:endParaRPr lang="en-US" dirty="0"/>
          </a:p>
        </p:txBody>
      </p:sp>
      <p:graphicFrame>
        <p:nvGraphicFramePr>
          <p:cNvPr id="96" name="Content Placeholder 95"/>
          <p:cNvGraphicFramePr>
            <a:graphicFrameLocks noGrp="1"/>
          </p:cNvGraphicFramePr>
          <p:nvPr>
            <p:ph idx="1"/>
            <p:extLst>
              <p:ext uri="{D42A27DB-BD31-4B8C-83A1-F6EECF244321}">
                <p14:modId xmlns:p14="http://schemas.microsoft.com/office/powerpoint/2010/main" val="3520566058"/>
              </p:ext>
            </p:extLst>
          </p:nvPr>
        </p:nvGraphicFramePr>
        <p:xfrm>
          <a:off x="468923" y="3429000"/>
          <a:ext cx="2819400" cy="2819400"/>
        </p:xfrm>
        <a:graphic>
          <a:graphicData uri="http://schemas.openxmlformats.org/drawingml/2006/table">
            <a:tbl>
              <a:tblPr firstRow="1" bandRow="1">
                <a:tableStyleId>{5C22544A-7EE6-4342-B048-85BDC9FD1C3A}</a:tableStyleId>
              </a:tblPr>
              <a:tblGrid>
                <a:gridCol w="704850">
                  <a:extLst>
                    <a:ext uri="{9D8B030D-6E8A-4147-A177-3AD203B41FA5}">
                      <a16:colId xmlns:a16="http://schemas.microsoft.com/office/drawing/2014/main" val="2074653127"/>
                    </a:ext>
                  </a:extLst>
                </a:gridCol>
                <a:gridCol w="704850">
                  <a:extLst>
                    <a:ext uri="{9D8B030D-6E8A-4147-A177-3AD203B41FA5}">
                      <a16:colId xmlns:a16="http://schemas.microsoft.com/office/drawing/2014/main" val="2959054033"/>
                    </a:ext>
                  </a:extLst>
                </a:gridCol>
                <a:gridCol w="704850">
                  <a:extLst>
                    <a:ext uri="{9D8B030D-6E8A-4147-A177-3AD203B41FA5}">
                      <a16:colId xmlns:a16="http://schemas.microsoft.com/office/drawing/2014/main" val="3234843788"/>
                    </a:ext>
                  </a:extLst>
                </a:gridCol>
                <a:gridCol w="704850">
                  <a:extLst>
                    <a:ext uri="{9D8B030D-6E8A-4147-A177-3AD203B41FA5}">
                      <a16:colId xmlns:a16="http://schemas.microsoft.com/office/drawing/2014/main" val="2477700194"/>
                    </a:ext>
                  </a:extLst>
                </a:gridCol>
              </a:tblGrid>
              <a:tr h="704850">
                <a:tc>
                  <a:txBody>
                    <a:bodyPr/>
                    <a:lstStyle/>
                    <a:p>
                      <a:pPr algn="ctr"/>
                      <a:r>
                        <a:rPr lang="sr-Latn-RS" b="0" dirty="0" smtClean="0">
                          <a:solidFill>
                            <a:schemeClr val="tx1"/>
                          </a:solidFill>
                        </a:rPr>
                        <a:t>(0,0)</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(1,0)</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sr-Latn-RS" b="0" dirty="0" smtClean="0">
                          <a:solidFill>
                            <a:schemeClr val="tx1"/>
                          </a:solidFill>
                        </a:rPr>
                        <a:t>(2,0)</a:t>
                      </a:r>
                      <a:endParaRPr lang="en-US" b="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(3,0)</a:t>
                      </a:r>
                      <a:endParaRPr lang="en-US" b="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1619770"/>
                  </a:ext>
                </a:extLst>
              </a:tr>
              <a:tr h="704850">
                <a:tc>
                  <a:txBody>
                    <a:bodyPr/>
                    <a:lstStyle/>
                    <a:p>
                      <a:pPr algn="ctr"/>
                      <a:r>
                        <a:rPr lang="sr-Latn-RS" dirty="0" smtClean="0">
                          <a:solidFill>
                            <a:schemeClr val="tx1"/>
                          </a:solidFill>
                        </a:rPr>
                        <a:t>(0,1)</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dirty="0" smtClean="0">
                          <a:solidFill>
                            <a:schemeClr val="tx1"/>
                          </a:solidFill>
                        </a:rPr>
                        <a:t>(1,1)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dirty="0" smtClean="0">
                          <a:solidFill>
                            <a:schemeClr val="tx1"/>
                          </a:solidFill>
                        </a:rPr>
                        <a:t>(2,1)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dirty="0" smtClean="0">
                          <a:solidFill>
                            <a:schemeClr val="tx1"/>
                          </a:solidFill>
                        </a:rPr>
                        <a:t>(3,1)</a:t>
                      </a:r>
                      <a:endParaRPr 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69375"/>
                  </a:ext>
                </a:extLst>
              </a:tr>
              <a:tr h="704850">
                <a:tc>
                  <a:txBody>
                    <a:bodyPr/>
                    <a:lstStyle/>
                    <a:p>
                      <a:pPr algn="ctr"/>
                      <a:r>
                        <a:rPr lang="sr-Latn-RS" dirty="0" smtClean="0">
                          <a:solidFill>
                            <a:schemeClr val="tx1"/>
                          </a:solidFill>
                        </a:rPr>
                        <a:t>(0,2)</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dirty="0" smtClean="0">
                          <a:solidFill>
                            <a:schemeClr val="tx1"/>
                          </a:solidFill>
                        </a:rPr>
                        <a:t>(1,2)</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dirty="0" smtClean="0">
                          <a:solidFill>
                            <a:schemeClr val="tx1"/>
                          </a:solidFill>
                        </a:rPr>
                        <a:t>(2,2)</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dirty="0" smtClean="0">
                          <a:solidFill>
                            <a:schemeClr val="tx1"/>
                          </a:solidFill>
                        </a:rPr>
                        <a:t>(3,2)</a:t>
                      </a:r>
                      <a:endParaRPr 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198753"/>
                  </a:ext>
                </a:extLst>
              </a:tr>
              <a:tr h="704850">
                <a:tc>
                  <a:txBody>
                    <a:bodyPr/>
                    <a:lstStyle/>
                    <a:p>
                      <a:pPr algn="ctr"/>
                      <a:r>
                        <a:rPr lang="sr-Latn-RS" dirty="0" smtClean="0">
                          <a:solidFill>
                            <a:schemeClr val="tx1"/>
                          </a:solidFill>
                        </a:rPr>
                        <a:t>(0,2)</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sr-Latn-RS" dirty="0" smtClean="0">
                          <a:solidFill>
                            <a:schemeClr val="tx1"/>
                          </a:solidFill>
                        </a:rPr>
                        <a:t>(1,3)</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sr-Latn-RS" dirty="0" smtClean="0">
                          <a:solidFill>
                            <a:schemeClr val="tx1"/>
                          </a:solidFill>
                        </a:rPr>
                        <a:t>(2,3)</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sr-Latn-RS" dirty="0" smtClean="0">
                          <a:solidFill>
                            <a:schemeClr val="tx1"/>
                          </a:solidFill>
                        </a:rPr>
                        <a:t>(3,3)</a:t>
                      </a:r>
                      <a:endParaRPr lang="en-US"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561934532"/>
                  </a:ext>
                </a:extLst>
              </a:tr>
            </a:tbl>
          </a:graphicData>
        </a:graphic>
      </p:graphicFrame>
      <p:graphicFrame>
        <p:nvGraphicFramePr>
          <p:cNvPr id="97" name="Content Placeholder 95"/>
          <p:cNvGraphicFramePr>
            <a:graphicFrameLocks/>
          </p:cNvGraphicFramePr>
          <p:nvPr>
            <p:extLst>
              <p:ext uri="{D42A27DB-BD31-4B8C-83A1-F6EECF244321}">
                <p14:modId xmlns:p14="http://schemas.microsoft.com/office/powerpoint/2010/main" val="1968465873"/>
              </p:ext>
            </p:extLst>
          </p:nvPr>
        </p:nvGraphicFramePr>
        <p:xfrm>
          <a:off x="5105400" y="3429000"/>
          <a:ext cx="3048000" cy="2829168"/>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74653127"/>
                    </a:ext>
                  </a:extLst>
                </a:gridCol>
                <a:gridCol w="762000">
                  <a:extLst>
                    <a:ext uri="{9D8B030D-6E8A-4147-A177-3AD203B41FA5}">
                      <a16:colId xmlns:a16="http://schemas.microsoft.com/office/drawing/2014/main" val="2959054033"/>
                    </a:ext>
                  </a:extLst>
                </a:gridCol>
                <a:gridCol w="762000">
                  <a:extLst>
                    <a:ext uri="{9D8B030D-6E8A-4147-A177-3AD203B41FA5}">
                      <a16:colId xmlns:a16="http://schemas.microsoft.com/office/drawing/2014/main" val="3234843788"/>
                    </a:ext>
                  </a:extLst>
                </a:gridCol>
                <a:gridCol w="762000">
                  <a:extLst>
                    <a:ext uri="{9D8B030D-6E8A-4147-A177-3AD203B41FA5}">
                      <a16:colId xmlns:a16="http://schemas.microsoft.com/office/drawing/2014/main" val="2477700194"/>
                    </a:ext>
                  </a:extLst>
                </a:gridCol>
              </a:tblGrid>
              <a:tr h="707292">
                <a:tc>
                  <a:txBody>
                    <a:bodyPr/>
                    <a:lstStyle/>
                    <a:p>
                      <a:pPr algn="ctr"/>
                      <a:r>
                        <a:rPr lang="sr-Latn-RS" b="0" dirty="0" smtClean="0">
                          <a:solidFill>
                            <a:schemeClr val="tx1"/>
                          </a:solidFill>
                        </a:rPr>
                        <a:t>(0,0)</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(0,1)</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(0,2)</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(0,3)</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1619770"/>
                  </a:ext>
                </a:extLst>
              </a:tr>
              <a:tr h="707292">
                <a:tc>
                  <a:txBody>
                    <a:bodyPr/>
                    <a:lstStyle/>
                    <a:p>
                      <a:pPr algn="ctr"/>
                      <a:r>
                        <a:rPr lang="sr-Latn-RS" b="0" dirty="0" smtClean="0">
                          <a:solidFill>
                            <a:schemeClr val="tx1"/>
                          </a:solidFill>
                        </a:rPr>
                        <a:t>(1,0)</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sr-Latn-RS" b="0" dirty="0" smtClean="0">
                          <a:solidFill>
                            <a:schemeClr val="tx1"/>
                          </a:solidFill>
                        </a:rPr>
                        <a:t>(1,1)</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(1,2)</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r-Latn-RS" sz="1800" b="0" i="0" u="none" strike="noStrike" kern="1200" cap="none" spc="0" normalizeH="0" baseline="0" noProof="0" dirty="0" smtClean="0">
                          <a:ln>
                            <a:noFill/>
                          </a:ln>
                          <a:solidFill>
                            <a:prstClr val="black"/>
                          </a:solidFill>
                          <a:effectLst/>
                          <a:uLnTx/>
                          <a:uFillTx/>
                          <a:latin typeface="Arial"/>
                          <a:ea typeface="+mn-ea"/>
                          <a:cs typeface="+mn-cs"/>
                        </a:rPr>
                        <a:t>(1,3)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769375"/>
                  </a:ext>
                </a:extLst>
              </a:tr>
              <a:tr h="707292">
                <a:tc>
                  <a:txBody>
                    <a:bodyPr/>
                    <a:lstStyle/>
                    <a:p>
                      <a:pPr algn="ctr"/>
                      <a:r>
                        <a:rPr lang="sr-Latn-RS" b="0" dirty="0" smtClean="0">
                          <a:solidFill>
                            <a:schemeClr val="tx1"/>
                          </a:solidFill>
                        </a:rPr>
                        <a:t>(2,0)</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(2,1)</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sr-Latn-RS" b="0" dirty="0" smtClean="0">
                          <a:solidFill>
                            <a:schemeClr val="tx1"/>
                          </a:solidFill>
                        </a:rPr>
                        <a:t>(2,2)</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r-Latn-RS" sz="1800" b="0" i="0" u="none" strike="noStrike" kern="1200" cap="none" spc="0" normalizeH="0" baseline="0" noProof="0" dirty="0" smtClean="0">
                          <a:ln>
                            <a:noFill/>
                          </a:ln>
                          <a:solidFill>
                            <a:prstClr val="black"/>
                          </a:solidFill>
                          <a:effectLst/>
                          <a:uLnTx/>
                          <a:uFillTx/>
                          <a:latin typeface="Arial"/>
                          <a:ea typeface="+mn-ea"/>
                          <a:cs typeface="+mn-cs"/>
                        </a:rPr>
                        <a:t>(2,3)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198753"/>
                  </a:ext>
                </a:extLst>
              </a:tr>
              <a:tr h="707292">
                <a:tc>
                  <a:txBody>
                    <a:bodyPr/>
                    <a:lstStyle/>
                    <a:p>
                      <a:pPr algn="ctr"/>
                      <a:r>
                        <a:rPr lang="sr-Latn-RS" b="0" dirty="0" smtClean="0">
                          <a:solidFill>
                            <a:schemeClr val="tx1"/>
                          </a:solidFill>
                        </a:rPr>
                        <a:t>(3,0)</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sr-Latn-RS" b="0" dirty="0" smtClean="0">
                          <a:solidFill>
                            <a:schemeClr val="tx1"/>
                          </a:solidFill>
                        </a:rPr>
                        <a:t>(3,1)</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sr-Latn-RS" b="0" dirty="0" smtClean="0">
                          <a:solidFill>
                            <a:schemeClr val="tx1"/>
                          </a:solidFill>
                        </a:rPr>
                        <a:t>(3,2)</a:t>
                      </a:r>
                      <a:endParaRPr 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r-Latn-RS" sz="1800" b="0" i="0" u="none" strike="noStrike" kern="1200" cap="none" spc="0" normalizeH="0" baseline="0" noProof="0" dirty="0" smtClean="0">
                          <a:ln>
                            <a:noFill/>
                          </a:ln>
                          <a:solidFill>
                            <a:prstClr val="black"/>
                          </a:solidFill>
                          <a:effectLst/>
                          <a:uLnTx/>
                          <a:uFillTx/>
                          <a:latin typeface="Arial"/>
                          <a:ea typeface="+mn-ea"/>
                          <a:cs typeface="+mn-cs"/>
                        </a:rPr>
                        <a:t>(3,3)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561934532"/>
                  </a:ext>
                </a:extLst>
              </a:tr>
            </a:tbl>
          </a:graphicData>
        </a:graphic>
      </p:graphicFrame>
      <p:graphicFrame>
        <p:nvGraphicFramePr>
          <p:cNvPr id="98" name="Table 97"/>
          <p:cNvGraphicFramePr>
            <a:graphicFrameLocks noGrp="1"/>
          </p:cNvGraphicFramePr>
          <p:nvPr>
            <p:extLst>
              <p:ext uri="{D42A27DB-BD31-4B8C-83A1-F6EECF244321}">
                <p14:modId xmlns:p14="http://schemas.microsoft.com/office/powerpoint/2010/main" val="341073279"/>
              </p:ext>
            </p:extLst>
          </p:nvPr>
        </p:nvGraphicFramePr>
        <p:xfrm>
          <a:off x="2962392" y="1524000"/>
          <a:ext cx="1764320" cy="1727200"/>
        </p:xfrm>
        <a:graphic>
          <a:graphicData uri="http://schemas.openxmlformats.org/drawingml/2006/table">
            <a:tbl>
              <a:tblPr firstRow="1" bandRow="1">
                <a:tableStyleId>{69CF1AB2-1976-4502-BF36-3FF5EA218861}</a:tableStyleId>
              </a:tblPr>
              <a:tblGrid>
                <a:gridCol w="220540">
                  <a:extLst>
                    <a:ext uri="{9D8B030D-6E8A-4147-A177-3AD203B41FA5}">
                      <a16:colId xmlns:a16="http://schemas.microsoft.com/office/drawing/2014/main" val="2988215904"/>
                    </a:ext>
                  </a:extLst>
                </a:gridCol>
                <a:gridCol w="220540">
                  <a:extLst>
                    <a:ext uri="{9D8B030D-6E8A-4147-A177-3AD203B41FA5}">
                      <a16:colId xmlns:a16="http://schemas.microsoft.com/office/drawing/2014/main" val="3225875920"/>
                    </a:ext>
                  </a:extLst>
                </a:gridCol>
                <a:gridCol w="220540">
                  <a:extLst>
                    <a:ext uri="{9D8B030D-6E8A-4147-A177-3AD203B41FA5}">
                      <a16:colId xmlns:a16="http://schemas.microsoft.com/office/drawing/2014/main" val="1332509554"/>
                    </a:ext>
                  </a:extLst>
                </a:gridCol>
                <a:gridCol w="220540">
                  <a:extLst>
                    <a:ext uri="{9D8B030D-6E8A-4147-A177-3AD203B41FA5}">
                      <a16:colId xmlns:a16="http://schemas.microsoft.com/office/drawing/2014/main" val="1981242007"/>
                    </a:ext>
                  </a:extLst>
                </a:gridCol>
                <a:gridCol w="220540">
                  <a:extLst>
                    <a:ext uri="{9D8B030D-6E8A-4147-A177-3AD203B41FA5}">
                      <a16:colId xmlns:a16="http://schemas.microsoft.com/office/drawing/2014/main" val="1343311560"/>
                    </a:ext>
                  </a:extLst>
                </a:gridCol>
                <a:gridCol w="220540">
                  <a:extLst>
                    <a:ext uri="{9D8B030D-6E8A-4147-A177-3AD203B41FA5}">
                      <a16:colId xmlns:a16="http://schemas.microsoft.com/office/drawing/2014/main" val="3239435633"/>
                    </a:ext>
                  </a:extLst>
                </a:gridCol>
                <a:gridCol w="220540">
                  <a:extLst>
                    <a:ext uri="{9D8B030D-6E8A-4147-A177-3AD203B41FA5}">
                      <a16:colId xmlns:a16="http://schemas.microsoft.com/office/drawing/2014/main" val="2019343996"/>
                    </a:ext>
                  </a:extLst>
                </a:gridCol>
                <a:gridCol w="220540">
                  <a:extLst>
                    <a:ext uri="{9D8B030D-6E8A-4147-A177-3AD203B41FA5}">
                      <a16:colId xmlns:a16="http://schemas.microsoft.com/office/drawing/2014/main" val="2064562047"/>
                    </a:ext>
                  </a:extLst>
                </a:gridCol>
              </a:tblGrid>
              <a:tr h="215900">
                <a:tc>
                  <a:txBody>
                    <a:bodyPr/>
                    <a:lstStyle/>
                    <a:p>
                      <a:endParaRPr lang="en-US" sz="600" dirty="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450092056"/>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3340458013"/>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497681128"/>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dirty="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151690147"/>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3281752372"/>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3285982907"/>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extLst>
                  <a:ext uri="{0D108BD9-81ED-4DB2-BD59-A6C34878D82A}">
                    <a16:rowId xmlns:a16="http://schemas.microsoft.com/office/drawing/2014/main" val="2475252937"/>
                  </a:ext>
                </a:extLst>
              </a:tr>
              <a:tr h="215900">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a:p>
                  </a:txBody>
                  <a:tcPr>
                    <a:solidFill>
                      <a:schemeClr val="accent1">
                        <a:lumMod val="75000"/>
                      </a:schemeClr>
                    </a:solidFill>
                  </a:tcPr>
                </a:tc>
                <a:tc>
                  <a:txBody>
                    <a:bodyPr/>
                    <a:lstStyle/>
                    <a:p>
                      <a:endParaRPr lang="en-US" sz="600" dirty="0"/>
                    </a:p>
                  </a:txBody>
                  <a:tcPr>
                    <a:solidFill>
                      <a:schemeClr val="accent1">
                        <a:lumMod val="75000"/>
                      </a:schemeClr>
                    </a:solidFill>
                  </a:tcPr>
                </a:tc>
                <a:extLst>
                  <a:ext uri="{0D108BD9-81ED-4DB2-BD59-A6C34878D82A}">
                    <a16:rowId xmlns:a16="http://schemas.microsoft.com/office/drawing/2014/main" val="3519599915"/>
                  </a:ext>
                </a:extLst>
              </a:tr>
            </a:tbl>
          </a:graphicData>
        </a:graphic>
      </p:graphicFrame>
      <p:cxnSp>
        <p:nvCxnSpPr>
          <p:cNvPr id="100" name="Straight Arrow Connector 99"/>
          <p:cNvCxnSpPr>
            <a:endCxn id="98" idx="1"/>
          </p:cNvCxnSpPr>
          <p:nvPr/>
        </p:nvCxnSpPr>
        <p:spPr>
          <a:xfrm flipV="1">
            <a:off x="1600200" y="2387600"/>
            <a:ext cx="1362192" cy="1041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841572" y="2617149"/>
            <a:ext cx="1120820" cy="369332"/>
          </a:xfrm>
          <a:prstGeom prst="rect">
            <a:avLst/>
          </a:prstGeom>
          <a:noFill/>
        </p:spPr>
        <p:txBody>
          <a:bodyPr wrap="none" rtlCol="0">
            <a:spAutoFit/>
          </a:bodyPr>
          <a:lstStyle/>
          <a:p>
            <a:r>
              <a:rPr lang="sr-Latn-RS" dirty="0" smtClean="0"/>
              <a:t>kopiranje</a:t>
            </a:r>
            <a:endParaRPr lang="en-US" dirty="0"/>
          </a:p>
        </p:txBody>
      </p:sp>
      <p:sp>
        <p:nvSpPr>
          <p:cNvPr id="102" name="TextBox 101"/>
          <p:cNvSpPr txBox="1"/>
          <p:nvPr/>
        </p:nvSpPr>
        <p:spPr>
          <a:xfrm>
            <a:off x="5052643" y="2668146"/>
            <a:ext cx="1894493" cy="646331"/>
          </a:xfrm>
          <a:prstGeom prst="rect">
            <a:avLst/>
          </a:prstGeom>
          <a:noFill/>
        </p:spPr>
        <p:txBody>
          <a:bodyPr wrap="none" rtlCol="0">
            <a:spAutoFit/>
          </a:bodyPr>
          <a:lstStyle/>
          <a:p>
            <a:r>
              <a:rPr lang="sr-Latn-RS" dirty="0" smtClean="0"/>
              <a:t>Transponovanje </a:t>
            </a:r>
          </a:p>
          <a:p>
            <a:r>
              <a:rPr lang="sr-Latn-RS" dirty="0" smtClean="0"/>
              <a:t>prilikom upisa</a:t>
            </a:r>
            <a:endParaRPr lang="en-US" dirty="0"/>
          </a:p>
        </p:txBody>
      </p:sp>
      <p:cxnSp>
        <p:nvCxnSpPr>
          <p:cNvPr id="104" name="Straight Arrow Connector 103"/>
          <p:cNvCxnSpPr>
            <a:stCxn id="98" idx="3"/>
          </p:cNvCxnSpPr>
          <p:nvPr/>
        </p:nvCxnSpPr>
        <p:spPr>
          <a:xfrm>
            <a:off x="4726712" y="2387600"/>
            <a:ext cx="651862" cy="172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203764" y="1878485"/>
            <a:ext cx="1313180" cy="923330"/>
          </a:xfrm>
          <a:prstGeom prst="rect">
            <a:avLst/>
          </a:prstGeom>
          <a:noFill/>
        </p:spPr>
        <p:txBody>
          <a:bodyPr wrap="none" rtlCol="0">
            <a:spAutoFit/>
          </a:bodyPr>
          <a:lstStyle/>
          <a:p>
            <a:r>
              <a:rPr lang="sr-Latn-RS" dirty="0" smtClean="0">
                <a:solidFill>
                  <a:schemeClr val="accent1">
                    <a:lumMod val="20000"/>
                    <a:lumOff val="80000"/>
                  </a:schemeClr>
                </a:solidFill>
              </a:rPr>
              <a:t>Kopija tajla</a:t>
            </a:r>
          </a:p>
          <a:p>
            <a:r>
              <a:rPr lang="sr-Latn-RS" dirty="0" smtClean="0">
                <a:solidFill>
                  <a:schemeClr val="accent1">
                    <a:lumMod val="20000"/>
                    <a:lumOff val="80000"/>
                  </a:schemeClr>
                </a:solidFill>
              </a:rPr>
              <a:t>u deljivoj </a:t>
            </a:r>
          </a:p>
          <a:p>
            <a:r>
              <a:rPr lang="sr-Latn-RS" dirty="0" smtClean="0">
                <a:solidFill>
                  <a:schemeClr val="accent1">
                    <a:lumMod val="20000"/>
                    <a:lumOff val="80000"/>
                  </a:schemeClr>
                </a:solidFill>
              </a:rPr>
              <a:t>memoriji</a:t>
            </a:r>
            <a:endParaRPr lang="en-US" dirty="0">
              <a:solidFill>
                <a:schemeClr val="accent1">
                  <a:lumMod val="20000"/>
                  <a:lumOff val="80000"/>
                </a:schemeClr>
              </a:solidFill>
            </a:endParaRPr>
          </a:p>
        </p:txBody>
      </p:sp>
      <p:sp>
        <p:nvSpPr>
          <p:cNvPr id="3" name="Slide Number Placeholder 2"/>
          <p:cNvSpPr>
            <a:spLocks noGrp="1"/>
          </p:cNvSpPr>
          <p:nvPr>
            <p:ph type="sldNum" sz="quarter" idx="12"/>
          </p:nvPr>
        </p:nvSpPr>
        <p:spPr/>
        <p:txBody>
          <a:bodyPr/>
          <a:lstStyle/>
          <a:p>
            <a:fld id="{036081D1-8380-407A-ABF3-D12854566F9D}" type="slidenum">
              <a:rPr lang="en-US" smtClean="0"/>
              <a:pPr/>
              <a:t>9</a:t>
            </a:fld>
            <a:endParaRPr lang="en-US" dirty="0"/>
          </a:p>
        </p:txBody>
      </p:sp>
    </p:spTree>
    <p:extLst>
      <p:ext uri="{BB962C8B-B14F-4D97-AF65-F5344CB8AC3E}">
        <p14:creationId xmlns:p14="http://schemas.microsoft.com/office/powerpoint/2010/main" val="25074403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Optimizovano transponovanje matrica - 1</a:t>
            </a:r>
            <a:endParaRPr lang="en-US" dirty="0"/>
          </a:p>
        </p:txBody>
      </p:sp>
      <p:sp>
        <p:nvSpPr>
          <p:cNvPr id="3" name="Content Placeholder 2"/>
          <p:cNvSpPr>
            <a:spLocks noGrp="1"/>
          </p:cNvSpPr>
          <p:nvPr>
            <p:ph idx="1"/>
          </p:nvPr>
        </p:nvSpPr>
        <p:spPr/>
        <p:txBody>
          <a:bodyPr>
            <a:noAutofit/>
          </a:bodyPr>
          <a:lstStyle/>
          <a:p>
            <a:pPr marL="0" indent="0">
              <a:buNone/>
            </a:pPr>
            <a:r>
              <a:rPr lang="en-US" sz="1600" dirty="0"/>
              <a:t>__global__ void transpose(float *</a:t>
            </a:r>
            <a:r>
              <a:rPr lang="en-US" sz="1600" dirty="0" err="1"/>
              <a:t>odata</a:t>
            </a:r>
            <a:r>
              <a:rPr lang="en-US" sz="1600" dirty="0"/>
              <a:t>, float *</a:t>
            </a:r>
            <a:r>
              <a:rPr lang="en-US" sz="1600" dirty="0" err="1" smtClean="0"/>
              <a:t>idata</a:t>
            </a:r>
            <a:r>
              <a:rPr lang="en-US" sz="1600" dirty="0" smtClean="0"/>
              <a:t>,</a:t>
            </a:r>
            <a:r>
              <a:rPr lang="sr-Latn-RS" sz="1600" dirty="0" smtClean="0"/>
              <a:t> </a:t>
            </a:r>
            <a:r>
              <a:rPr lang="en-US" sz="1600" dirty="0" err="1" smtClean="0"/>
              <a:t>int</a:t>
            </a:r>
            <a:r>
              <a:rPr lang="en-US" sz="1600" dirty="0" smtClean="0"/>
              <a:t> </a:t>
            </a:r>
            <a:r>
              <a:rPr lang="en-US" sz="1600" dirty="0"/>
              <a:t>width, </a:t>
            </a:r>
            <a:r>
              <a:rPr lang="en-US" sz="1600" dirty="0" err="1"/>
              <a:t>int</a:t>
            </a:r>
            <a:r>
              <a:rPr lang="en-US" sz="1600" dirty="0"/>
              <a:t> height)</a:t>
            </a:r>
          </a:p>
          <a:p>
            <a:pPr marL="0" indent="0">
              <a:buNone/>
            </a:pPr>
            <a:r>
              <a:rPr lang="en-US" sz="1600" dirty="0"/>
              <a:t>{</a:t>
            </a:r>
          </a:p>
          <a:p>
            <a:pPr marL="0" indent="0">
              <a:buNone/>
            </a:pPr>
            <a:r>
              <a:rPr lang="en-US" sz="1600" dirty="0"/>
              <a:t> </a:t>
            </a:r>
            <a:r>
              <a:rPr lang="sr-Latn-RS" sz="1600" dirty="0" smtClean="0"/>
              <a:t>	</a:t>
            </a:r>
            <a:r>
              <a:rPr lang="en-US" sz="1600" dirty="0" smtClean="0"/>
              <a:t>__</a:t>
            </a:r>
            <a:r>
              <a:rPr lang="en-US" sz="1600" dirty="0"/>
              <a:t>shared__ float block[BLOCK_DIM][BLOCK_DIM];</a:t>
            </a:r>
          </a:p>
          <a:p>
            <a:pPr marL="0" indent="0">
              <a:buNone/>
            </a:pPr>
            <a:r>
              <a:rPr lang="en-US" sz="1600" dirty="0"/>
              <a:t> </a:t>
            </a:r>
            <a:r>
              <a:rPr lang="sr-Latn-RS" sz="1600" dirty="0" smtClean="0"/>
              <a:t>	</a:t>
            </a:r>
            <a:r>
              <a:rPr lang="en-US" sz="1600" dirty="0" smtClean="0"/>
              <a:t>unsigned </a:t>
            </a:r>
            <a:r>
              <a:rPr lang="en-US" sz="1600" dirty="0" err="1"/>
              <a:t>int</a:t>
            </a:r>
            <a:r>
              <a:rPr lang="en-US" sz="1600" dirty="0"/>
              <a:t> </a:t>
            </a:r>
            <a:r>
              <a:rPr lang="en-US" sz="1600" dirty="0" err="1"/>
              <a:t>xIndex</a:t>
            </a:r>
            <a:r>
              <a:rPr lang="en-US" sz="1600" dirty="0"/>
              <a:t>, </a:t>
            </a:r>
            <a:r>
              <a:rPr lang="en-US" sz="1600" dirty="0" err="1"/>
              <a:t>yIndex</a:t>
            </a:r>
            <a:r>
              <a:rPr lang="en-US" sz="1600" dirty="0"/>
              <a:t>, </a:t>
            </a:r>
            <a:r>
              <a:rPr lang="en-US" sz="1600" dirty="0" err="1"/>
              <a:t>index_in</a:t>
            </a:r>
            <a:r>
              <a:rPr lang="en-US" sz="1600" dirty="0"/>
              <a:t>, </a:t>
            </a:r>
            <a:r>
              <a:rPr lang="en-US" sz="1600" dirty="0" err="1"/>
              <a:t>index_out</a:t>
            </a:r>
            <a:r>
              <a:rPr lang="en-US" sz="1600" dirty="0"/>
              <a:t>;</a:t>
            </a:r>
          </a:p>
          <a:p>
            <a:pPr marL="0" indent="0">
              <a:buNone/>
            </a:pPr>
            <a:endParaRPr lang="en-US" sz="1600" dirty="0"/>
          </a:p>
          <a:p>
            <a:pPr marL="0" indent="0">
              <a:buNone/>
            </a:pPr>
            <a:r>
              <a:rPr lang="en-US" sz="1600" dirty="0"/>
              <a:t> </a:t>
            </a:r>
            <a:r>
              <a:rPr lang="sr-Latn-RS" sz="1600" dirty="0" smtClean="0"/>
              <a:t>	</a:t>
            </a:r>
          </a:p>
          <a:p>
            <a:pPr marL="0" indent="0">
              <a:buNone/>
            </a:pPr>
            <a:r>
              <a:rPr lang="en-US" sz="1600" dirty="0" smtClean="0"/>
              <a:t> </a:t>
            </a:r>
            <a:r>
              <a:rPr lang="sr-Latn-RS" sz="1600" dirty="0" smtClean="0"/>
              <a:t>	</a:t>
            </a:r>
            <a:r>
              <a:rPr lang="en-US" sz="1600" dirty="0" err="1" smtClean="0"/>
              <a:t>xIndex</a:t>
            </a:r>
            <a:r>
              <a:rPr lang="en-US" sz="1600" dirty="0" smtClean="0"/>
              <a:t> </a:t>
            </a:r>
            <a:r>
              <a:rPr lang="en-US" sz="1600" dirty="0"/>
              <a:t>= </a:t>
            </a:r>
            <a:r>
              <a:rPr lang="en-US" sz="1600" dirty="0" err="1"/>
              <a:t>blockIdx.x</a:t>
            </a:r>
            <a:r>
              <a:rPr lang="en-US" sz="1600" dirty="0"/>
              <a:t> * BLOCK_DIM + </a:t>
            </a:r>
            <a:r>
              <a:rPr lang="en-US" sz="1600" dirty="0" err="1"/>
              <a:t>threadIdx.x</a:t>
            </a:r>
            <a:r>
              <a:rPr lang="en-US" sz="1600" dirty="0"/>
              <a:t>;</a:t>
            </a:r>
          </a:p>
          <a:p>
            <a:pPr marL="0" indent="0">
              <a:buNone/>
            </a:pPr>
            <a:r>
              <a:rPr lang="en-US" sz="1600" dirty="0"/>
              <a:t> </a:t>
            </a:r>
            <a:r>
              <a:rPr lang="sr-Latn-RS" sz="1600" dirty="0" smtClean="0"/>
              <a:t>	</a:t>
            </a:r>
            <a:r>
              <a:rPr lang="en-US" sz="1600" dirty="0" err="1" smtClean="0"/>
              <a:t>yIndex</a:t>
            </a:r>
            <a:r>
              <a:rPr lang="en-US" sz="1600" dirty="0" smtClean="0"/>
              <a:t> </a:t>
            </a:r>
            <a:r>
              <a:rPr lang="en-US" sz="1600" dirty="0"/>
              <a:t>= </a:t>
            </a:r>
            <a:r>
              <a:rPr lang="en-US" sz="1600" dirty="0" err="1"/>
              <a:t>blockIdx.y</a:t>
            </a:r>
            <a:r>
              <a:rPr lang="en-US" sz="1600" dirty="0"/>
              <a:t> * BLOCK_DIM + </a:t>
            </a:r>
            <a:r>
              <a:rPr lang="en-US" sz="1600" dirty="0" err="1"/>
              <a:t>threadIdx.y</a:t>
            </a:r>
            <a:r>
              <a:rPr lang="en-US" sz="1600" dirty="0" smtClean="0"/>
              <a:t>;</a:t>
            </a:r>
            <a:endParaRPr lang="sr-Latn-RS" sz="1600" dirty="0" smtClean="0"/>
          </a:p>
          <a:p>
            <a:pPr marL="0" indent="0">
              <a:buNone/>
            </a:pPr>
            <a:endParaRPr lang="en-US" sz="1600" dirty="0"/>
          </a:p>
          <a:p>
            <a:pPr marL="0" indent="0">
              <a:buNone/>
            </a:pPr>
            <a:r>
              <a:rPr lang="en-US" sz="1600" dirty="0"/>
              <a:t> </a:t>
            </a:r>
            <a:r>
              <a:rPr lang="sr-Latn-RS" sz="1600" dirty="0" smtClean="0"/>
              <a:t>	</a:t>
            </a:r>
            <a:r>
              <a:rPr lang="en-US" sz="1600" dirty="0" smtClean="0"/>
              <a:t>if </a:t>
            </a:r>
            <a:r>
              <a:rPr lang="en-US" sz="1600" dirty="0"/>
              <a:t>((</a:t>
            </a:r>
            <a:r>
              <a:rPr lang="en-US" sz="1600" dirty="0" err="1"/>
              <a:t>xIndex</a:t>
            </a:r>
            <a:r>
              <a:rPr lang="en-US" sz="1600" dirty="0"/>
              <a:t> &lt; width) &amp;&amp; (</a:t>
            </a:r>
            <a:r>
              <a:rPr lang="en-US" sz="1600" dirty="0" err="1"/>
              <a:t>yIndex</a:t>
            </a:r>
            <a:r>
              <a:rPr lang="en-US" sz="1600" dirty="0"/>
              <a:t> &lt; height))</a:t>
            </a:r>
          </a:p>
          <a:p>
            <a:pPr marL="0" indent="0">
              <a:buNone/>
            </a:pPr>
            <a:r>
              <a:rPr lang="en-US" sz="1600" dirty="0"/>
              <a:t> </a:t>
            </a:r>
            <a:r>
              <a:rPr lang="sr-Latn-RS" sz="1600" dirty="0" smtClean="0"/>
              <a:t>	</a:t>
            </a:r>
            <a:r>
              <a:rPr lang="en-US" sz="1600" dirty="0" smtClean="0"/>
              <a:t>{</a:t>
            </a:r>
            <a:endParaRPr lang="en-US" sz="1600" dirty="0"/>
          </a:p>
          <a:p>
            <a:pPr marL="0" indent="0">
              <a:buNone/>
            </a:pPr>
            <a:r>
              <a:rPr lang="sr-Latn-RS" sz="1600" dirty="0" smtClean="0"/>
              <a:t>		</a:t>
            </a:r>
            <a:r>
              <a:rPr lang="en-US" sz="1600" dirty="0" err="1" smtClean="0"/>
              <a:t>index_in</a:t>
            </a:r>
            <a:r>
              <a:rPr lang="en-US" sz="1600" dirty="0" smtClean="0"/>
              <a:t> </a:t>
            </a:r>
            <a:r>
              <a:rPr lang="en-US" sz="1600" dirty="0"/>
              <a:t>= </a:t>
            </a:r>
            <a:r>
              <a:rPr lang="en-US" sz="1600" dirty="0" err="1"/>
              <a:t>yIndex</a:t>
            </a:r>
            <a:r>
              <a:rPr lang="en-US" sz="1600" dirty="0"/>
              <a:t> * width + </a:t>
            </a:r>
            <a:r>
              <a:rPr lang="en-US" sz="1600" dirty="0" err="1"/>
              <a:t>xIndex</a:t>
            </a:r>
            <a:r>
              <a:rPr lang="en-US" sz="1600" dirty="0"/>
              <a:t>;</a:t>
            </a:r>
          </a:p>
          <a:p>
            <a:pPr marL="0" indent="0">
              <a:buNone/>
            </a:pPr>
            <a:r>
              <a:rPr lang="en-US" sz="1600" dirty="0"/>
              <a:t> </a:t>
            </a:r>
            <a:r>
              <a:rPr lang="sr-Latn-RS" sz="1600" dirty="0" smtClean="0"/>
              <a:t>		</a:t>
            </a:r>
            <a:r>
              <a:rPr lang="en-US" sz="1600" dirty="0" smtClean="0"/>
              <a:t>block[</a:t>
            </a:r>
            <a:r>
              <a:rPr lang="en-US" sz="1600" dirty="0" err="1" smtClean="0"/>
              <a:t>threadIdx.y</a:t>
            </a:r>
            <a:r>
              <a:rPr lang="en-US" sz="1600" dirty="0"/>
              <a:t>][</a:t>
            </a:r>
            <a:r>
              <a:rPr lang="en-US" sz="1600" dirty="0" err="1"/>
              <a:t>threadIdx.x</a:t>
            </a:r>
            <a:r>
              <a:rPr lang="en-US" sz="1600" dirty="0"/>
              <a:t>] = </a:t>
            </a:r>
            <a:r>
              <a:rPr lang="en-US" sz="1600" dirty="0" err="1"/>
              <a:t>idata</a:t>
            </a:r>
            <a:r>
              <a:rPr lang="en-US" sz="1600" dirty="0"/>
              <a:t>[</a:t>
            </a:r>
            <a:r>
              <a:rPr lang="en-US" sz="1600" dirty="0" err="1"/>
              <a:t>index_in</a:t>
            </a:r>
            <a:r>
              <a:rPr lang="en-US" sz="1600" dirty="0"/>
              <a:t>];</a:t>
            </a:r>
          </a:p>
          <a:p>
            <a:pPr marL="0" indent="0">
              <a:buNone/>
            </a:pPr>
            <a:r>
              <a:rPr lang="en-US" sz="1600" dirty="0"/>
              <a:t> </a:t>
            </a:r>
            <a:r>
              <a:rPr lang="sr-Latn-RS" sz="1600" dirty="0" smtClean="0"/>
              <a:t>	</a:t>
            </a:r>
            <a:r>
              <a:rPr lang="en-US" sz="1600" dirty="0" smtClean="0"/>
              <a:t>}</a:t>
            </a:r>
            <a:endParaRPr lang="sr-Latn-RS" sz="1600" dirty="0" smtClean="0"/>
          </a:p>
          <a:p>
            <a:pPr marL="0" indent="0">
              <a:buNone/>
            </a:pPr>
            <a:endParaRPr lang="en-US" sz="1600" dirty="0"/>
          </a:p>
          <a:p>
            <a:pPr marL="0" indent="0">
              <a:buNone/>
            </a:pPr>
            <a:r>
              <a:rPr lang="en-US" sz="1600" dirty="0"/>
              <a:t> </a:t>
            </a:r>
            <a:r>
              <a:rPr lang="sr-Latn-RS" sz="1600" dirty="0" smtClean="0"/>
              <a:t>	</a:t>
            </a:r>
            <a:r>
              <a:rPr lang="en-US" sz="1600" dirty="0" smtClean="0"/>
              <a:t>__</a:t>
            </a:r>
            <a:r>
              <a:rPr lang="en-US" sz="1600" dirty="0" err="1"/>
              <a:t>syncthreads</a:t>
            </a:r>
            <a:r>
              <a:rPr lang="en-US" sz="1600" dirty="0" smtClean="0"/>
              <a:t>();</a:t>
            </a:r>
            <a:endParaRPr lang="sr-Latn-RS" sz="1600" dirty="0" smtClean="0"/>
          </a:p>
          <a:p>
            <a:pPr marL="0" indent="0">
              <a:buNone/>
            </a:pPr>
            <a:r>
              <a:rPr lang="sr-Latn-RS" sz="1600" dirty="0" smtClean="0"/>
              <a:t>***</a:t>
            </a:r>
          </a:p>
          <a:p>
            <a:pPr marL="0" indent="0">
              <a:buNone/>
            </a:pPr>
            <a:endParaRPr lang="en-US" sz="1600" dirty="0"/>
          </a:p>
          <a:p>
            <a:pPr marL="0" indent="0">
              <a:buNone/>
            </a:pPr>
            <a:r>
              <a:rPr lang="en-US" sz="1600" dirty="0"/>
              <a:t> </a:t>
            </a:r>
            <a:r>
              <a:rPr lang="sr-Latn-RS" sz="1600" dirty="0" smtClean="0"/>
              <a:t>	</a:t>
            </a:r>
            <a:endParaRPr lang="en-US" sz="1600" dirty="0"/>
          </a:p>
        </p:txBody>
      </p:sp>
      <p:sp>
        <p:nvSpPr>
          <p:cNvPr id="4" name="Flowchart: Punched Tape 3"/>
          <p:cNvSpPr/>
          <p:nvPr/>
        </p:nvSpPr>
        <p:spPr>
          <a:xfrm>
            <a:off x="6477000" y="2133600"/>
            <a:ext cx="2209800" cy="8382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dirty="0" smtClean="0"/>
              <a:t>BLOCK_DIM = 32</a:t>
            </a:r>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10</a:t>
            </a:fld>
            <a:endParaRPr lang="en-US" dirty="0"/>
          </a:p>
        </p:txBody>
      </p:sp>
      <p:sp>
        <p:nvSpPr>
          <p:cNvPr id="6" name="Cloud 5"/>
          <p:cNvSpPr/>
          <p:nvPr/>
        </p:nvSpPr>
        <p:spPr>
          <a:xfrm>
            <a:off x="5943600" y="3886200"/>
            <a:ext cx="3048000" cy="11430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sr-Latn-RS" dirty="0" smtClean="0"/>
              <a:t>Učitavanje tajla u shared memoriju</a:t>
            </a:r>
            <a:endParaRPr lang="en-US" dirty="0"/>
          </a:p>
        </p:txBody>
      </p:sp>
    </p:spTree>
    <p:extLst>
      <p:ext uri="{BB962C8B-B14F-4D97-AF65-F5344CB8AC3E}">
        <p14:creationId xmlns:p14="http://schemas.microsoft.com/office/powerpoint/2010/main" val="32123006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Optimizovano transponovanje matrica</a:t>
            </a:r>
            <a:endParaRPr lang="en-US" dirty="0"/>
          </a:p>
        </p:txBody>
      </p:sp>
      <p:sp>
        <p:nvSpPr>
          <p:cNvPr id="3" name="Content Placeholder 2"/>
          <p:cNvSpPr>
            <a:spLocks noGrp="1"/>
          </p:cNvSpPr>
          <p:nvPr>
            <p:ph idx="1"/>
          </p:nvPr>
        </p:nvSpPr>
        <p:spPr/>
        <p:txBody>
          <a:bodyPr>
            <a:noAutofit/>
          </a:bodyPr>
          <a:lstStyle/>
          <a:p>
            <a:pPr marL="0" indent="0">
              <a:buNone/>
            </a:pPr>
            <a:r>
              <a:rPr lang="sr-Latn-RS" sz="1600" dirty="0" smtClean="0"/>
              <a:t>***</a:t>
            </a:r>
          </a:p>
          <a:p>
            <a:pPr marL="0" indent="0">
              <a:buNone/>
            </a:pPr>
            <a:endParaRPr lang="sr-Latn-RS" sz="1600" dirty="0"/>
          </a:p>
          <a:p>
            <a:pPr marL="0" indent="0">
              <a:buNone/>
            </a:pPr>
            <a:r>
              <a:rPr lang="sr-Latn-RS" sz="1600" dirty="0" smtClean="0"/>
              <a:t>	</a:t>
            </a:r>
            <a:endParaRPr lang="en-US" sz="1600" dirty="0"/>
          </a:p>
          <a:p>
            <a:pPr marL="274320" lvl="1" indent="0">
              <a:buNone/>
            </a:pPr>
            <a:r>
              <a:rPr lang="sr-Latn-RS" sz="1600" dirty="0" smtClean="0"/>
              <a:t>	</a:t>
            </a:r>
            <a:r>
              <a:rPr lang="en-US" sz="1600" dirty="0" err="1" smtClean="0"/>
              <a:t>xIndex</a:t>
            </a:r>
            <a:r>
              <a:rPr lang="en-US" sz="1600" dirty="0" smtClean="0"/>
              <a:t> </a:t>
            </a:r>
            <a:r>
              <a:rPr lang="en-US" sz="1600" dirty="0"/>
              <a:t>= </a:t>
            </a:r>
            <a:r>
              <a:rPr lang="en-US" sz="1600" dirty="0" err="1"/>
              <a:t>blockIdx.y</a:t>
            </a:r>
            <a:r>
              <a:rPr lang="en-US" sz="1600" dirty="0"/>
              <a:t> * BLOCK_DIM + </a:t>
            </a:r>
            <a:r>
              <a:rPr lang="en-US" sz="1600" dirty="0" err="1"/>
              <a:t>threadIdx.x</a:t>
            </a:r>
            <a:r>
              <a:rPr lang="en-US" sz="1600" dirty="0"/>
              <a:t>;</a:t>
            </a:r>
          </a:p>
          <a:p>
            <a:pPr marL="274320" lvl="1" indent="0">
              <a:buNone/>
            </a:pPr>
            <a:r>
              <a:rPr lang="en-US" sz="1600" dirty="0"/>
              <a:t> </a:t>
            </a:r>
            <a:r>
              <a:rPr lang="sr-Latn-RS" sz="1600" dirty="0" smtClean="0"/>
              <a:t>	</a:t>
            </a:r>
            <a:r>
              <a:rPr lang="en-US" sz="1600" dirty="0" err="1" smtClean="0"/>
              <a:t>yIndex</a:t>
            </a:r>
            <a:r>
              <a:rPr lang="en-US" sz="1600" dirty="0" smtClean="0"/>
              <a:t> </a:t>
            </a:r>
            <a:r>
              <a:rPr lang="en-US" sz="1600" dirty="0"/>
              <a:t>= </a:t>
            </a:r>
            <a:r>
              <a:rPr lang="en-US" sz="1600" dirty="0" err="1"/>
              <a:t>blockIdx.x</a:t>
            </a:r>
            <a:r>
              <a:rPr lang="en-US" sz="1600" dirty="0"/>
              <a:t> * BLOCK_DIM + </a:t>
            </a:r>
            <a:r>
              <a:rPr lang="en-US" sz="1600" dirty="0" err="1"/>
              <a:t>threadIdx.y</a:t>
            </a:r>
            <a:r>
              <a:rPr lang="en-US" sz="1600" dirty="0"/>
              <a:t>;</a:t>
            </a:r>
          </a:p>
          <a:p>
            <a:pPr marL="0" indent="0">
              <a:buNone/>
            </a:pPr>
            <a:r>
              <a:rPr lang="en-US" sz="1600" dirty="0"/>
              <a:t> </a:t>
            </a:r>
            <a:endParaRPr lang="sr-Latn-RS" sz="1600" dirty="0" smtClean="0"/>
          </a:p>
          <a:p>
            <a:pPr marL="0" indent="0">
              <a:buNone/>
            </a:pPr>
            <a:r>
              <a:rPr lang="sr-Latn-RS" sz="1600" dirty="0"/>
              <a:t>	</a:t>
            </a:r>
            <a:r>
              <a:rPr lang="en-US" sz="1600" dirty="0" smtClean="0"/>
              <a:t>if </a:t>
            </a:r>
            <a:r>
              <a:rPr lang="en-US" sz="1600" dirty="0"/>
              <a:t>((</a:t>
            </a:r>
            <a:r>
              <a:rPr lang="en-US" sz="1600" dirty="0" err="1"/>
              <a:t>xIndex</a:t>
            </a:r>
            <a:r>
              <a:rPr lang="en-US" sz="1600" dirty="0"/>
              <a:t> &lt; height) &amp;&amp; (</a:t>
            </a:r>
            <a:r>
              <a:rPr lang="en-US" sz="1600" dirty="0" err="1"/>
              <a:t>yIndex</a:t>
            </a:r>
            <a:r>
              <a:rPr lang="en-US" sz="1600" dirty="0"/>
              <a:t> &lt; width))</a:t>
            </a:r>
          </a:p>
          <a:p>
            <a:pPr marL="0" indent="0">
              <a:buNone/>
            </a:pPr>
            <a:r>
              <a:rPr lang="sr-Latn-RS" sz="1600" dirty="0" smtClean="0"/>
              <a:t>	</a:t>
            </a:r>
            <a:r>
              <a:rPr lang="en-US" sz="1600" dirty="0" smtClean="0"/>
              <a:t>{</a:t>
            </a:r>
            <a:endParaRPr lang="en-US" sz="1600" dirty="0"/>
          </a:p>
          <a:p>
            <a:pPr marL="0" indent="0">
              <a:buNone/>
            </a:pPr>
            <a:r>
              <a:rPr lang="en-US" sz="1600" dirty="0"/>
              <a:t> </a:t>
            </a:r>
            <a:r>
              <a:rPr lang="sr-Latn-RS" sz="1600" dirty="0" smtClean="0"/>
              <a:t>		</a:t>
            </a:r>
            <a:r>
              <a:rPr lang="en-US" sz="1600" dirty="0" err="1" smtClean="0"/>
              <a:t>index_out</a:t>
            </a:r>
            <a:r>
              <a:rPr lang="en-US" sz="1600" dirty="0" smtClean="0"/>
              <a:t> </a:t>
            </a:r>
            <a:r>
              <a:rPr lang="en-US" sz="1600" dirty="0"/>
              <a:t>= </a:t>
            </a:r>
            <a:r>
              <a:rPr lang="en-US" sz="1600" dirty="0" err="1"/>
              <a:t>yIndex</a:t>
            </a:r>
            <a:r>
              <a:rPr lang="en-US" sz="1600" dirty="0"/>
              <a:t> * height + </a:t>
            </a:r>
            <a:r>
              <a:rPr lang="en-US" sz="1600" dirty="0" err="1"/>
              <a:t>xIndex</a:t>
            </a:r>
            <a:r>
              <a:rPr lang="en-US" sz="1600" dirty="0"/>
              <a:t>;</a:t>
            </a:r>
          </a:p>
          <a:p>
            <a:pPr marL="0" indent="0">
              <a:buNone/>
            </a:pPr>
            <a:r>
              <a:rPr lang="en-US" sz="1600" dirty="0"/>
              <a:t> </a:t>
            </a:r>
            <a:r>
              <a:rPr lang="sr-Latn-RS" sz="1600" dirty="0" smtClean="0"/>
              <a:t>		</a:t>
            </a:r>
            <a:r>
              <a:rPr lang="en-US" sz="1600" dirty="0" err="1" smtClean="0"/>
              <a:t>odata</a:t>
            </a:r>
            <a:r>
              <a:rPr lang="en-US" sz="1600" dirty="0" smtClean="0"/>
              <a:t>[</a:t>
            </a:r>
            <a:r>
              <a:rPr lang="en-US" sz="1600" dirty="0" err="1" smtClean="0"/>
              <a:t>index_out</a:t>
            </a:r>
            <a:r>
              <a:rPr lang="en-US" sz="1600" dirty="0"/>
              <a:t>] = block[</a:t>
            </a:r>
            <a:r>
              <a:rPr lang="en-US" sz="1600" dirty="0" err="1"/>
              <a:t>threadIdx.x</a:t>
            </a:r>
            <a:r>
              <a:rPr lang="en-US" sz="1600" dirty="0"/>
              <a:t>][</a:t>
            </a:r>
            <a:r>
              <a:rPr lang="en-US" sz="1600" dirty="0" err="1"/>
              <a:t>threadIdx.y</a:t>
            </a:r>
            <a:r>
              <a:rPr lang="en-US" sz="1600" dirty="0"/>
              <a:t>];</a:t>
            </a:r>
          </a:p>
          <a:p>
            <a:pPr marL="0" indent="0">
              <a:buNone/>
            </a:pPr>
            <a:r>
              <a:rPr lang="en-US" sz="1600" dirty="0"/>
              <a:t> </a:t>
            </a:r>
            <a:r>
              <a:rPr lang="sr-Latn-RS" sz="1600" dirty="0" smtClean="0"/>
              <a:t>	</a:t>
            </a:r>
            <a:r>
              <a:rPr lang="en-US" sz="1600" dirty="0" smtClean="0"/>
              <a:t>}</a:t>
            </a:r>
            <a:endParaRPr lang="en-US" sz="1600" dirty="0"/>
          </a:p>
          <a:p>
            <a:pPr marL="0" indent="0">
              <a:buNone/>
            </a:pPr>
            <a:r>
              <a:rPr lang="en-US" sz="1600" dirty="0"/>
              <a:t>}</a:t>
            </a:r>
          </a:p>
        </p:txBody>
      </p:sp>
      <p:sp>
        <p:nvSpPr>
          <p:cNvPr id="4" name="Chevron 3"/>
          <p:cNvSpPr/>
          <p:nvPr/>
        </p:nvSpPr>
        <p:spPr>
          <a:xfrm>
            <a:off x="1371600" y="5486400"/>
            <a:ext cx="533400" cy="533400"/>
          </a:xfrm>
          <a:prstGeom prst="chevr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sp>
        <p:nvSpPr>
          <p:cNvPr id="5" name="Chevron 4"/>
          <p:cNvSpPr/>
          <p:nvPr/>
        </p:nvSpPr>
        <p:spPr>
          <a:xfrm>
            <a:off x="1828800" y="5486400"/>
            <a:ext cx="533400" cy="533400"/>
          </a:xfrm>
          <a:prstGeom prst="chevr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sp>
        <p:nvSpPr>
          <p:cNvPr id="6" name="Chevron 5"/>
          <p:cNvSpPr/>
          <p:nvPr/>
        </p:nvSpPr>
        <p:spPr>
          <a:xfrm>
            <a:off x="2286000" y="5498123"/>
            <a:ext cx="533400" cy="533400"/>
          </a:xfrm>
          <a:prstGeom prst="chevr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tx1"/>
              </a:solidFill>
            </a:endParaRPr>
          </a:p>
        </p:txBody>
      </p:sp>
      <p:sp>
        <p:nvSpPr>
          <p:cNvPr id="7" name="Chevron 6"/>
          <p:cNvSpPr/>
          <p:nvPr/>
        </p:nvSpPr>
        <p:spPr>
          <a:xfrm>
            <a:off x="2933700" y="5509846"/>
            <a:ext cx="2362200" cy="533400"/>
          </a:xfrm>
          <a:prstGeom prst="chevron">
            <a:avLst>
              <a:gd name="adj" fmla="val 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sr-Latn-RS" dirty="0" smtClean="0">
                <a:solidFill>
                  <a:schemeClr val="tx1"/>
                </a:solidFill>
              </a:rPr>
              <a:t>Problem?</a:t>
            </a:r>
            <a:endParaRPr lang="en-US" dirty="0">
              <a:solidFill>
                <a:schemeClr val="tx1"/>
              </a:solidFill>
            </a:endParaRPr>
          </a:p>
        </p:txBody>
      </p:sp>
      <p:sp>
        <p:nvSpPr>
          <p:cNvPr id="8" name="Slide Number Placeholder 7"/>
          <p:cNvSpPr>
            <a:spLocks noGrp="1"/>
          </p:cNvSpPr>
          <p:nvPr>
            <p:ph type="sldNum" sz="quarter" idx="12"/>
          </p:nvPr>
        </p:nvSpPr>
        <p:spPr/>
        <p:txBody>
          <a:bodyPr/>
          <a:lstStyle/>
          <a:p>
            <a:fld id="{036081D1-8380-407A-ABF3-D12854566F9D}" type="slidenum">
              <a:rPr lang="en-US" smtClean="0"/>
              <a:pPr/>
              <a:t>11</a:t>
            </a:fld>
            <a:endParaRPr lang="en-US" dirty="0"/>
          </a:p>
        </p:txBody>
      </p:sp>
      <p:sp>
        <p:nvSpPr>
          <p:cNvPr id="9" name="Cloud 8"/>
          <p:cNvSpPr/>
          <p:nvPr/>
        </p:nvSpPr>
        <p:spPr>
          <a:xfrm>
            <a:off x="5329115" y="1371600"/>
            <a:ext cx="3657600" cy="1143000"/>
          </a:xfrm>
          <a:prstGeom prst="cloud">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sr-Latn-RS" dirty="0" smtClean="0"/>
              <a:t>Upis transponovanog tajla u izlaznu matricu</a:t>
            </a:r>
            <a:endParaRPr lang="en-US" dirty="0"/>
          </a:p>
        </p:txBody>
      </p:sp>
    </p:spTree>
    <p:extLst>
      <p:ext uri="{BB962C8B-B14F-4D97-AF65-F5344CB8AC3E}">
        <p14:creationId xmlns:p14="http://schemas.microsoft.com/office/powerpoint/2010/main" val="17443048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Paralelna memorijska arhitektura (1)</a:t>
            </a:r>
            <a:endParaRPr lang="en-US" dirty="0"/>
          </a:p>
        </p:txBody>
      </p:sp>
      <p:sp>
        <p:nvSpPr>
          <p:cNvPr id="3" name="Content Placeholder 2"/>
          <p:cNvSpPr>
            <a:spLocks noGrp="1"/>
          </p:cNvSpPr>
          <p:nvPr>
            <p:ph sz="half" idx="1"/>
          </p:nvPr>
        </p:nvSpPr>
        <p:spPr>
          <a:xfrm>
            <a:off x="457200" y="1673352"/>
            <a:ext cx="5105400" cy="4718304"/>
          </a:xfrm>
        </p:spPr>
        <p:txBody>
          <a:bodyPr>
            <a:normAutofit fontScale="77500" lnSpcReduction="20000"/>
          </a:bodyPr>
          <a:lstStyle/>
          <a:p>
            <a:r>
              <a:rPr lang="sr-Latn-RS" dirty="0" smtClean="0"/>
              <a:t>Kod paralelne mašine, veliki broj niti pristupa memoriji</a:t>
            </a:r>
          </a:p>
          <a:p>
            <a:pPr lvl="1"/>
            <a:r>
              <a:rPr lang="en-US" dirty="0" err="1" smtClean="0"/>
              <a:t>Memorija</a:t>
            </a:r>
            <a:r>
              <a:rPr lang="en-US" dirty="0" smtClean="0"/>
              <a:t> je </a:t>
            </a:r>
            <a:r>
              <a:rPr lang="en-US" dirty="0" err="1" smtClean="0"/>
              <a:t>preklopljena</a:t>
            </a:r>
            <a:r>
              <a:rPr lang="en-US" dirty="0" smtClean="0"/>
              <a:t> </a:t>
            </a:r>
            <a:r>
              <a:rPr lang="en-US" dirty="0" err="1" smtClean="0"/>
              <a:t>i</a:t>
            </a:r>
            <a:r>
              <a:rPr lang="en-US" dirty="0" smtClean="0"/>
              <a:t> </a:t>
            </a:r>
            <a:r>
              <a:rPr lang="en-US" dirty="0" err="1" smtClean="0"/>
              <a:t>podeljena</a:t>
            </a:r>
            <a:r>
              <a:rPr lang="en-US" dirty="0" smtClean="0"/>
              <a:t> u </a:t>
            </a:r>
            <a:r>
              <a:rPr lang="en-US" dirty="0" err="1" smtClean="0"/>
              <a:t>banke</a:t>
            </a:r>
            <a:endParaRPr lang="sr-Latn-RS" dirty="0" smtClean="0"/>
          </a:p>
          <a:p>
            <a:pPr lvl="2"/>
            <a:r>
              <a:rPr lang="en-US" dirty="0" smtClean="0"/>
              <a:t> I </a:t>
            </a:r>
            <a:r>
              <a:rPr lang="en-US" dirty="0" err="1" smtClean="0"/>
              <a:t>globalna</a:t>
            </a:r>
            <a:r>
              <a:rPr lang="en-US" dirty="0" smtClean="0"/>
              <a:t> </a:t>
            </a:r>
            <a:r>
              <a:rPr lang="en-US" dirty="0" err="1" smtClean="0"/>
              <a:t>i</a:t>
            </a:r>
            <a:r>
              <a:rPr lang="en-US" dirty="0" smtClean="0"/>
              <a:t> </a:t>
            </a:r>
            <a:r>
              <a:rPr lang="en-US" dirty="0" err="1" smtClean="0"/>
              <a:t>deljena</a:t>
            </a:r>
            <a:r>
              <a:rPr lang="en-US" dirty="0" smtClean="0"/>
              <a:t> </a:t>
            </a:r>
            <a:r>
              <a:rPr lang="en-US" dirty="0" err="1" smtClean="0"/>
              <a:t>memorija</a:t>
            </a:r>
            <a:endParaRPr lang="sr-Latn-RS" dirty="0" smtClean="0"/>
          </a:p>
          <a:p>
            <a:pPr lvl="1"/>
            <a:r>
              <a:rPr lang="en-US" dirty="0" err="1" smtClean="0"/>
              <a:t>Vrlo</a:t>
            </a:r>
            <a:r>
              <a:rPr lang="en-US" dirty="0" smtClean="0"/>
              <a:t> </a:t>
            </a:r>
            <a:r>
              <a:rPr lang="en-US" dirty="0" err="1" smtClean="0"/>
              <a:t>bitno</a:t>
            </a:r>
            <a:r>
              <a:rPr lang="en-US" dirty="0" smtClean="0"/>
              <a:t> </a:t>
            </a:r>
            <a:r>
              <a:rPr lang="en-US" dirty="0" err="1" smtClean="0"/>
              <a:t>za</a:t>
            </a:r>
            <a:r>
              <a:rPr lang="en-US" dirty="0" smtClean="0"/>
              <a:t> </a:t>
            </a:r>
            <a:r>
              <a:rPr lang="en-US" dirty="0" err="1" smtClean="0"/>
              <a:t>postizanje</a:t>
            </a:r>
            <a:r>
              <a:rPr lang="en-US" dirty="0" smtClean="0"/>
              <a:t> </a:t>
            </a:r>
            <a:r>
              <a:rPr lang="en-US" dirty="0" err="1" smtClean="0"/>
              <a:t>velikog</a:t>
            </a:r>
            <a:r>
              <a:rPr lang="en-US" dirty="0" smtClean="0"/>
              <a:t> </a:t>
            </a:r>
            <a:r>
              <a:rPr lang="en-US" dirty="0" err="1" smtClean="0"/>
              <a:t>propusnog</a:t>
            </a:r>
            <a:r>
              <a:rPr lang="en-US" dirty="0" smtClean="0"/>
              <a:t> </a:t>
            </a:r>
            <a:r>
              <a:rPr lang="en-US" dirty="0" err="1" smtClean="0"/>
              <a:t>opsega</a:t>
            </a:r>
            <a:endParaRPr lang="sr-Latn-RS" dirty="0" smtClean="0"/>
          </a:p>
          <a:p>
            <a:r>
              <a:rPr lang="en-US" dirty="0" err="1" smtClean="0"/>
              <a:t>Svaka</a:t>
            </a:r>
            <a:r>
              <a:rPr lang="en-US" dirty="0" smtClean="0"/>
              <a:t> </a:t>
            </a:r>
            <a:r>
              <a:rPr lang="en-US" dirty="0" err="1" smtClean="0"/>
              <a:t>memorijska</a:t>
            </a:r>
            <a:r>
              <a:rPr lang="en-US" dirty="0" smtClean="0"/>
              <a:t> </a:t>
            </a:r>
            <a:r>
              <a:rPr lang="en-US" dirty="0" err="1" smtClean="0"/>
              <a:t>banka</a:t>
            </a:r>
            <a:r>
              <a:rPr lang="en-US" dirty="0" smtClean="0"/>
              <a:t> </a:t>
            </a:r>
            <a:r>
              <a:rPr lang="en-US" dirty="0" err="1" smtClean="0"/>
              <a:t>može</a:t>
            </a:r>
            <a:r>
              <a:rPr lang="sr-Latn-RS" dirty="0" smtClean="0"/>
              <a:t> </a:t>
            </a:r>
            <a:r>
              <a:rPr lang="en-US" dirty="0" err="1" smtClean="0"/>
              <a:t>da</a:t>
            </a:r>
            <a:r>
              <a:rPr lang="en-US" dirty="0" smtClean="0"/>
              <a:t> </a:t>
            </a:r>
            <a:r>
              <a:rPr lang="en-US" dirty="0" err="1" smtClean="0"/>
              <a:t>usluži</a:t>
            </a:r>
            <a:r>
              <a:rPr lang="en-US" dirty="0" smtClean="0"/>
              <a:t> </a:t>
            </a:r>
            <a:r>
              <a:rPr lang="en-US" dirty="0" err="1" smtClean="0"/>
              <a:t>jedan</a:t>
            </a:r>
            <a:r>
              <a:rPr lang="en-US" dirty="0" smtClean="0"/>
              <a:t> </a:t>
            </a:r>
            <a:r>
              <a:rPr lang="en-US" dirty="0" err="1" smtClean="0"/>
              <a:t>zahtev</a:t>
            </a:r>
            <a:r>
              <a:rPr lang="en-US" dirty="0" smtClean="0"/>
              <a:t> u </a:t>
            </a:r>
            <a:r>
              <a:rPr lang="en-US" dirty="0" err="1" smtClean="0"/>
              <a:t>jednom</a:t>
            </a:r>
            <a:r>
              <a:rPr lang="en-US" dirty="0" smtClean="0"/>
              <a:t> </a:t>
            </a:r>
            <a:r>
              <a:rPr lang="en-US" dirty="0" err="1" smtClean="0"/>
              <a:t>ciklusu</a:t>
            </a:r>
            <a:endParaRPr lang="sr-Latn-RS" dirty="0" smtClean="0"/>
          </a:p>
          <a:p>
            <a:pPr lvl="1"/>
            <a:r>
              <a:rPr lang="en-US" dirty="0" err="1" smtClean="0"/>
              <a:t>Celokupna</a:t>
            </a:r>
            <a:r>
              <a:rPr lang="en-US" dirty="0" smtClean="0"/>
              <a:t> </a:t>
            </a:r>
            <a:r>
              <a:rPr lang="en-US" dirty="0" err="1" smtClean="0"/>
              <a:t>memorija</a:t>
            </a:r>
            <a:r>
              <a:rPr lang="en-US" dirty="0" smtClean="0"/>
              <a:t> </a:t>
            </a:r>
            <a:r>
              <a:rPr lang="en-US" dirty="0" err="1" smtClean="0"/>
              <a:t>može</a:t>
            </a:r>
            <a:r>
              <a:rPr lang="en-US" dirty="0" smtClean="0"/>
              <a:t> </a:t>
            </a:r>
            <a:r>
              <a:rPr lang="en-US" dirty="0" err="1" smtClean="0"/>
              <a:t>simultano</a:t>
            </a:r>
            <a:r>
              <a:rPr lang="en-US" dirty="0" smtClean="0"/>
              <a:t> </a:t>
            </a:r>
            <a:r>
              <a:rPr lang="en-US" dirty="0" err="1" smtClean="0"/>
              <a:t>da</a:t>
            </a:r>
            <a:r>
              <a:rPr lang="en-US" dirty="0" smtClean="0"/>
              <a:t> </a:t>
            </a:r>
            <a:r>
              <a:rPr lang="en-US" dirty="0" err="1" smtClean="0"/>
              <a:t>usluži</a:t>
            </a:r>
            <a:r>
              <a:rPr lang="sr-Latn-RS" dirty="0" smtClean="0"/>
              <a:t> </a:t>
            </a:r>
            <a:r>
              <a:rPr lang="en-US" dirty="0" err="1" smtClean="0"/>
              <a:t>onoliko</a:t>
            </a:r>
            <a:r>
              <a:rPr lang="en-US" dirty="0" smtClean="0"/>
              <a:t> </a:t>
            </a:r>
            <a:r>
              <a:rPr lang="en-US" dirty="0" err="1" smtClean="0"/>
              <a:t>pristupa</a:t>
            </a:r>
            <a:r>
              <a:rPr lang="en-US" dirty="0" smtClean="0"/>
              <a:t> </a:t>
            </a:r>
            <a:r>
              <a:rPr lang="en-US" dirty="0" err="1" smtClean="0"/>
              <a:t>koliko</a:t>
            </a:r>
            <a:r>
              <a:rPr lang="en-US" dirty="0" smtClean="0"/>
              <a:t> </a:t>
            </a:r>
            <a:r>
              <a:rPr lang="en-US" dirty="0" err="1" smtClean="0"/>
              <a:t>ima</a:t>
            </a:r>
            <a:r>
              <a:rPr lang="en-US" dirty="0" smtClean="0"/>
              <a:t> </a:t>
            </a:r>
            <a:r>
              <a:rPr lang="en-US" dirty="0" err="1" smtClean="0"/>
              <a:t>memorijskih</a:t>
            </a:r>
            <a:r>
              <a:rPr lang="en-US" dirty="0" smtClean="0"/>
              <a:t> </a:t>
            </a:r>
            <a:r>
              <a:rPr lang="en-US" dirty="0" err="1" smtClean="0"/>
              <a:t>banki</a:t>
            </a:r>
            <a:endParaRPr lang="sr-Latn-RS" dirty="0" smtClean="0"/>
          </a:p>
          <a:p>
            <a:r>
              <a:rPr lang="en-US" dirty="0" err="1" smtClean="0"/>
              <a:t>Više</a:t>
            </a:r>
            <a:r>
              <a:rPr lang="en-US" dirty="0" smtClean="0"/>
              <a:t> </a:t>
            </a:r>
            <a:r>
              <a:rPr lang="en-US" dirty="0" err="1" smtClean="0"/>
              <a:t>simultanih</a:t>
            </a:r>
            <a:r>
              <a:rPr lang="en-US" dirty="0" smtClean="0"/>
              <a:t> </a:t>
            </a:r>
            <a:r>
              <a:rPr lang="en-US" dirty="0" err="1" smtClean="0"/>
              <a:t>pristupa</a:t>
            </a:r>
            <a:r>
              <a:rPr lang="en-US" dirty="0" smtClean="0"/>
              <a:t> </a:t>
            </a:r>
            <a:r>
              <a:rPr lang="en-US" dirty="0" err="1" smtClean="0"/>
              <a:t>istoj</a:t>
            </a:r>
            <a:r>
              <a:rPr lang="en-US" dirty="0" smtClean="0"/>
              <a:t> </a:t>
            </a:r>
            <a:r>
              <a:rPr lang="en-US" dirty="0" err="1" smtClean="0"/>
              <a:t>banki</a:t>
            </a:r>
            <a:r>
              <a:rPr lang="sr-Latn-RS" dirty="0" smtClean="0"/>
              <a:t> </a:t>
            </a:r>
            <a:r>
              <a:rPr lang="en-US" dirty="0" err="1" smtClean="0"/>
              <a:t>dovodi</a:t>
            </a:r>
            <a:r>
              <a:rPr lang="en-US" dirty="0" smtClean="0"/>
              <a:t> do </a:t>
            </a:r>
            <a:r>
              <a:rPr lang="en-US" dirty="0" err="1" smtClean="0"/>
              <a:t>konflikta</a:t>
            </a:r>
            <a:endParaRPr lang="sr-Latn-RS" dirty="0" smtClean="0"/>
          </a:p>
          <a:p>
            <a:pPr lvl="1"/>
            <a:r>
              <a:rPr lang="en-US" dirty="0" err="1" smtClean="0"/>
              <a:t>Konfliktni</a:t>
            </a:r>
            <a:r>
              <a:rPr lang="en-US" dirty="0" smtClean="0"/>
              <a:t> </a:t>
            </a:r>
            <a:r>
              <a:rPr lang="en-US" dirty="0" err="1" smtClean="0"/>
              <a:t>pristupi</a:t>
            </a:r>
            <a:r>
              <a:rPr lang="en-US" dirty="0" smtClean="0"/>
              <a:t> se </a:t>
            </a:r>
            <a:r>
              <a:rPr lang="en-US" dirty="0" err="1" smtClean="0"/>
              <a:t>serijalizuju</a:t>
            </a:r>
            <a:r>
              <a:rPr lang="en-US" dirty="0" smtClean="0"/>
              <a:t> </a:t>
            </a:r>
            <a:br>
              <a:rPr lang="en-US" dirty="0" smtClean="0"/>
            </a:br>
            <a:endParaRPr lang="en-US" dirty="0"/>
          </a:p>
        </p:txBody>
      </p:sp>
      <p:grpSp>
        <p:nvGrpSpPr>
          <p:cNvPr id="19" name="Group 18"/>
          <p:cNvGrpSpPr/>
          <p:nvPr/>
        </p:nvGrpSpPr>
        <p:grpSpPr>
          <a:xfrm>
            <a:off x="6858000" y="2057400"/>
            <a:ext cx="1524000" cy="3429000"/>
            <a:chOff x="6858000" y="2057400"/>
            <a:chExt cx="1524000" cy="3429000"/>
          </a:xfrm>
        </p:grpSpPr>
        <p:sp>
          <p:nvSpPr>
            <p:cNvPr id="12" name="Cube 11"/>
            <p:cNvSpPr/>
            <p:nvPr/>
          </p:nvSpPr>
          <p:spPr>
            <a:xfrm>
              <a:off x="6858000" y="4191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7</a:t>
              </a:r>
              <a:endParaRPr lang="en-US" dirty="0"/>
            </a:p>
          </p:txBody>
        </p:sp>
        <p:sp>
          <p:nvSpPr>
            <p:cNvPr id="11" name="Cube 10"/>
            <p:cNvSpPr/>
            <p:nvPr/>
          </p:nvSpPr>
          <p:spPr>
            <a:xfrm>
              <a:off x="6858000" y="3886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6</a:t>
              </a:r>
              <a:endParaRPr lang="en-US" dirty="0"/>
            </a:p>
          </p:txBody>
        </p:sp>
        <p:sp>
          <p:nvSpPr>
            <p:cNvPr id="10" name="Cube 9"/>
            <p:cNvSpPr/>
            <p:nvPr/>
          </p:nvSpPr>
          <p:spPr>
            <a:xfrm>
              <a:off x="6858000" y="3581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5</a:t>
              </a:r>
              <a:endParaRPr lang="en-US" dirty="0"/>
            </a:p>
          </p:txBody>
        </p:sp>
        <p:sp>
          <p:nvSpPr>
            <p:cNvPr id="9" name="Cube 8"/>
            <p:cNvSpPr/>
            <p:nvPr/>
          </p:nvSpPr>
          <p:spPr>
            <a:xfrm>
              <a:off x="6858000" y="32766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4</a:t>
              </a:r>
              <a:endParaRPr lang="en-US" dirty="0"/>
            </a:p>
          </p:txBody>
        </p:sp>
        <p:sp>
          <p:nvSpPr>
            <p:cNvPr id="8" name="Cube 7"/>
            <p:cNvSpPr/>
            <p:nvPr/>
          </p:nvSpPr>
          <p:spPr>
            <a:xfrm>
              <a:off x="6858000" y="29718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3</a:t>
              </a:r>
              <a:endParaRPr lang="en-US" dirty="0"/>
            </a:p>
          </p:txBody>
        </p:sp>
        <p:sp>
          <p:nvSpPr>
            <p:cNvPr id="7" name="Cube 6"/>
            <p:cNvSpPr/>
            <p:nvPr/>
          </p:nvSpPr>
          <p:spPr>
            <a:xfrm>
              <a:off x="6858000" y="2667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2</a:t>
              </a:r>
              <a:endParaRPr lang="en-US" dirty="0"/>
            </a:p>
          </p:txBody>
        </p:sp>
        <p:sp>
          <p:nvSpPr>
            <p:cNvPr id="6" name="Cube 5"/>
            <p:cNvSpPr/>
            <p:nvPr/>
          </p:nvSpPr>
          <p:spPr>
            <a:xfrm>
              <a:off x="6858000" y="2362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a:t>
              </a:r>
              <a:endParaRPr lang="en-US" dirty="0"/>
            </a:p>
          </p:txBody>
        </p:sp>
        <p:sp>
          <p:nvSpPr>
            <p:cNvPr id="13" name="Cube 12"/>
            <p:cNvSpPr/>
            <p:nvPr/>
          </p:nvSpPr>
          <p:spPr>
            <a:xfrm>
              <a:off x="6858000" y="5105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15</a:t>
              </a:r>
              <a:endParaRPr lang="en-US" dirty="0"/>
            </a:p>
          </p:txBody>
        </p:sp>
        <p:sp>
          <p:nvSpPr>
            <p:cNvPr id="14" name="Cube 13"/>
            <p:cNvSpPr/>
            <p:nvPr/>
          </p:nvSpPr>
          <p:spPr>
            <a:xfrm>
              <a:off x="6858000" y="2057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0</a:t>
              </a:r>
              <a:endParaRPr lang="en-US" dirty="0"/>
            </a:p>
          </p:txBody>
        </p:sp>
        <p:grpSp>
          <p:nvGrpSpPr>
            <p:cNvPr id="18" name="Group 17"/>
            <p:cNvGrpSpPr/>
            <p:nvPr/>
          </p:nvGrpSpPr>
          <p:grpSpPr>
            <a:xfrm>
              <a:off x="7543800" y="4648200"/>
              <a:ext cx="76200" cy="381000"/>
              <a:chOff x="7543800" y="4648200"/>
              <a:chExt cx="76200" cy="381000"/>
            </a:xfrm>
          </p:grpSpPr>
          <p:sp>
            <p:nvSpPr>
              <p:cNvPr id="15" name="Flowchart: Connector 14"/>
              <p:cNvSpPr/>
              <p:nvPr/>
            </p:nvSpPr>
            <p:spPr>
              <a:xfrm>
                <a:off x="7543800" y="4648200"/>
                <a:ext cx="76200" cy="76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p:cNvSpPr/>
              <p:nvPr/>
            </p:nvSpPr>
            <p:spPr>
              <a:xfrm>
                <a:off x="7543800" y="4800600"/>
                <a:ext cx="76200" cy="76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p:cNvSpPr/>
              <p:nvPr/>
            </p:nvSpPr>
            <p:spPr>
              <a:xfrm>
                <a:off x="7543800" y="4953000"/>
                <a:ext cx="76200" cy="762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 name="Slide Number Placeholder 4"/>
          <p:cNvSpPr>
            <a:spLocks noGrp="1"/>
          </p:cNvSpPr>
          <p:nvPr>
            <p:ph type="sldNum" sz="quarter" idx="12"/>
          </p:nvPr>
        </p:nvSpPr>
        <p:spPr/>
        <p:txBody>
          <a:bodyPr/>
          <a:lstStyle/>
          <a:p>
            <a:fld id="{036081D1-8380-407A-ABF3-D12854566F9D}" type="slidenum">
              <a:rPr lang="en-US" smtClean="0"/>
              <a:pPr/>
              <a:t>12</a:t>
            </a:fld>
            <a:endParaRPr lang="en-US" dirty="0"/>
          </a:p>
        </p:txBody>
      </p:sp>
    </p:spTree>
    <p:extLst>
      <p:ext uri="{BB962C8B-B14F-4D97-AF65-F5344CB8AC3E}">
        <p14:creationId xmlns:p14="http://schemas.microsoft.com/office/powerpoint/2010/main" val="12782585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Paralelna memorijska arhitektura (2)</a:t>
            </a:r>
            <a:endParaRPr lang="en-US" dirty="0"/>
          </a:p>
        </p:txBody>
      </p:sp>
      <p:sp>
        <p:nvSpPr>
          <p:cNvPr id="3" name="Content Placeholder 2"/>
          <p:cNvSpPr>
            <a:spLocks noGrp="1"/>
          </p:cNvSpPr>
          <p:nvPr>
            <p:ph sz="half" idx="1"/>
          </p:nvPr>
        </p:nvSpPr>
        <p:spPr>
          <a:xfrm>
            <a:off x="457200" y="1673352"/>
            <a:ext cx="5638800" cy="4718304"/>
          </a:xfrm>
        </p:spPr>
        <p:txBody>
          <a:bodyPr>
            <a:normAutofit fontScale="92500" lnSpcReduction="10000"/>
          </a:bodyPr>
          <a:lstStyle/>
          <a:p>
            <a:r>
              <a:rPr lang="en-US" dirty="0" smtClean="0"/>
              <a:t>Na </a:t>
            </a:r>
            <a:r>
              <a:rPr lang="en-US" dirty="0" err="1" smtClean="0"/>
              <a:t>novijim</a:t>
            </a:r>
            <a:r>
              <a:rPr lang="en-US" dirty="0" smtClean="0"/>
              <a:t> </a:t>
            </a:r>
            <a:r>
              <a:rPr lang="en-US" dirty="0" err="1" smtClean="0"/>
              <a:t>procesorima</a:t>
            </a:r>
            <a:r>
              <a:rPr lang="en-US" dirty="0" smtClean="0"/>
              <a:t>, </a:t>
            </a:r>
            <a:r>
              <a:rPr lang="en-US" dirty="0" err="1" smtClean="0"/>
              <a:t>memorija</a:t>
            </a:r>
            <a:r>
              <a:rPr lang="en-US" dirty="0" smtClean="0"/>
              <a:t> je</a:t>
            </a:r>
            <a:r>
              <a:rPr lang="sr-Latn-RS" dirty="0" smtClean="0"/>
              <a:t> </a:t>
            </a:r>
            <a:r>
              <a:rPr lang="en-US" dirty="0" err="1" smtClean="0"/>
              <a:t>podeljena</a:t>
            </a:r>
            <a:r>
              <a:rPr lang="en-US" dirty="0" smtClean="0"/>
              <a:t> u 32 </a:t>
            </a:r>
            <a:r>
              <a:rPr lang="en-US" dirty="0" err="1" smtClean="0"/>
              <a:t>banke</a:t>
            </a:r>
            <a:endParaRPr lang="sr-Latn-RS" dirty="0" smtClean="0"/>
          </a:p>
          <a:p>
            <a:pPr lvl="1"/>
            <a:r>
              <a:rPr lang="en-US" dirty="0" err="1" smtClean="0"/>
              <a:t>Uzastopne</a:t>
            </a:r>
            <a:r>
              <a:rPr lang="en-US" dirty="0" smtClean="0"/>
              <a:t> 32-bitne </a:t>
            </a:r>
            <a:r>
              <a:rPr lang="en-US" dirty="0" err="1" smtClean="0"/>
              <a:t>reči</a:t>
            </a:r>
            <a:r>
              <a:rPr lang="en-US" dirty="0" smtClean="0"/>
              <a:t> se </a:t>
            </a:r>
            <a:r>
              <a:rPr lang="en-US" dirty="0" err="1" smtClean="0"/>
              <a:t>dodeljuju</a:t>
            </a:r>
            <a:r>
              <a:rPr lang="en-US" dirty="0" smtClean="0"/>
              <a:t/>
            </a:r>
            <a:br>
              <a:rPr lang="en-US" dirty="0" smtClean="0"/>
            </a:br>
            <a:r>
              <a:rPr lang="en-US" dirty="0" err="1" smtClean="0"/>
              <a:t>uzastopnim</a:t>
            </a:r>
            <a:r>
              <a:rPr lang="en-US" dirty="0" smtClean="0"/>
              <a:t> </a:t>
            </a:r>
            <a:r>
              <a:rPr lang="en-US" dirty="0" err="1" smtClean="0"/>
              <a:t>memorijskim</a:t>
            </a:r>
            <a:r>
              <a:rPr lang="en-US" dirty="0" smtClean="0"/>
              <a:t> </a:t>
            </a:r>
            <a:r>
              <a:rPr lang="en-US" dirty="0" err="1" smtClean="0"/>
              <a:t>bankama</a:t>
            </a:r>
            <a:endParaRPr lang="sr-Latn-RS" dirty="0" smtClean="0"/>
          </a:p>
          <a:p>
            <a:r>
              <a:rPr lang="en-US" dirty="0" err="1" smtClean="0"/>
              <a:t>Pristup</a:t>
            </a:r>
            <a:r>
              <a:rPr lang="en-US" dirty="0" smtClean="0"/>
              <a:t> </a:t>
            </a:r>
            <a:r>
              <a:rPr lang="en-US" dirty="0" err="1" smtClean="0"/>
              <a:t>memoriji</a:t>
            </a:r>
            <a:r>
              <a:rPr lang="en-US" dirty="0" smtClean="0"/>
              <a:t> </a:t>
            </a:r>
            <a:r>
              <a:rPr lang="en-US" dirty="0" err="1" smtClean="0"/>
              <a:t>na</a:t>
            </a:r>
            <a:r>
              <a:rPr lang="en-US" dirty="0" smtClean="0"/>
              <a:t> CUDA se</a:t>
            </a:r>
            <a:br>
              <a:rPr lang="en-US" dirty="0" smtClean="0"/>
            </a:br>
            <a:r>
              <a:rPr lang="en-US" dirty="0" err="1" smtClean="0"/>
              <a:t>kombinuje</a:t>
            </a:r>
            <a:r>
              <a:rPr lang="en-US" dirty="0" smtClean="0"/>
              <a:t> u </a:t>
            </a:r>
            <a:r>
              <a:rPr lang="en-US" dirty="0" err="1" smtClean="0"/>
              <a:t>transakcije</a:t>
            </a:r>
            <a:endParaRPr lang="sr-Latn-RS" dirty="0" smtClean="0"/>
          </a:p>
          <a:p>
            <a:pPr lvl="1"/>
            <a:r>
              <a:rPr lang="en-US" dirty="0" err="1" smtClean="0"/>
              <a:t>Najbolje</a:t>
            </a:r>
            <a:r>
              <a:rPr lang="en-US" dirty="0" smtClean="0"/>
              <a:t> </a:t>
            </a:r>
            <a:r>
              <a:rPr lang="en-US" dirty="0" err="1" smtClean="0"/>
              <a:t>performanse</a:t>
            </a:r>
            <a:r>
              <a:rPr lang="en-US" dirty="0" smtClean="0"/>
              <a:t> se </a:t>
            </a:r>
            <a:r>
              <a:rPr lang="en-US" dirty="0" err="1" smtClean="0"/>
              <a:t>dobijaju</a:t>
            </a:r>
            <a:r>
              <a:rPr lang="en-US" dirty="0" smtClean="0"/>
              <a:t> </a:t>
            </a:r>
            <a:r>
              <a:rPr lang="en-US" dirty="0" err="1" smtClean="0"/>
              <a:t>kada</a:t>
            </a:r>
            <a:r>
              <a:rPr lang="en-US" dirty="0" smtClean="0"/>
              <a:t/>
            </a:r>
            <a:br>
              <a:rPr lang="en-US" dirty="0" smtClean="0"/>
            </a:br>
            <a:r>
              <a:rPr lang="en-US" dirty="0" err="1" smtClean="0"/>
              <a:t>sve</a:t>
            </a:r>
            <a:r>
              <a:rPr lang="en-US" dirty="0" smtClean="0"/>
              <a:t> </a:t>
            </a:r>
            <a:r>
              <a:rPr lang="en-US" dirty="0" err="1" smtClean="0"/>
              <a:t>niti</a:t>
            </a:r>
            <a:r>
              <a:rPr lang="en-US" dirty="0" smtClean="0"/>
              <a:t> </a:t>
            </a:r>
            <a:r>
              <a:rPr lang="en-US" dirty="0" err="1" smtClean="0"/>
              <a:t>unutar</a:t>
            </a:r>
            <a:r>
              <a:rPr lang="en-US" dirty="0" smtClean="0"/>
              <a:t> warp-a </a:t>
            </a:r>
            <a:r>
              <a:rPr lang="en-US" dirty="0" err="1" smtClean="0"/>
              <a:t>pristupaju</a:t>
            </a:r>
            <a:r>
              <a:rPr lang="en-US" dirty="0" smtClean="0"/>
              <a:t/>
            </a:r>
            <a:br>
              <a:rPr lang="en-US" dirty="0" smtClean="0"/>
            </a:br>
            <a:r>
              <a:rPr lang="en-US" dirty="0" err="1" smtClean="0"/>
              <a:t>uzastopnim</a:t>
            </a:r>
            <a:r>
              <a:rPr lang="en-US" dirty="0" smtClean="0"/>
              <a:t> </a:t>
            </a:r>
            <a:r>
              <a:rPr lang="en-US" dirty="0" err="1" smtClean="0"/>
              <a:t>memorijskim</a:t>
            </a:r>
            <a:r>
              <a:rPr lang="en-US" dirty="0" smtClean="0"/>
              <a:t> </a:t>
            </a:r>
            <a:r>
              <a:rPr lang="en-US" dirty="0" err="1" smtClean="0"/>
              <a:t>lokacijama</a:t>
            </a:r>
            <a:endParaRPr lang="sr-Latn-RS" dirty="0" smtClean="0"/>
          </a:p>
          <a:p>
            <a:pPr lvl="2"/>
            <a:r>
              <a:rPr lang="en-US" dirty="0" smtClean="0"/>
              <a:t>Tada </a:t>
            </a:r>
            <a:r>
              <a:rPr lang="en-US" dirty="0" err="1" smtClean="0"/>
              <a:t>nema</a:t>
            </a:r>
            <a:r>
              <a:rPr lang="en-US" dirty="0" smtClean="0"/>
              <a:t> </a:t>
            </a:r>
            <a:r>
              <a:rPr lang="en-US" dirty="0" err="1" smtClean="0"/>
              <a:t>konflikata</a:t>
            </a:r>
            <a:endParaRPr lang="sr-Latn-RS" dirty="0" smtClean="0"/>
          </a:p>
          <a:p>
            <a:pPr lvl="1"/>
            <a:r>
              <a:rPr lang="en-US" dirty="0" err="1" smtClean="0"/>
              <a:t>Konflikti</a:t>
            </a:r>
            <a:r>
              <a:rPr lang="en-US" dirty="0" smtClean="0"/>
              <a:t> </a:t>
            </a:r>
            <a:r>
              <a:rPr lang="en-US" dirty="0" err="1" smtClean="0"/>
              <a:t>su</a:t>
            </a:r>
            <a:r>
              <a:rPr lang="en-US" dirty="0" smtClean="0"/>
              <a:t> </a:t>
            </a:r>
            <a:r>
              <a:rPr lang="en-US" dirty="0" err="1" smtClean="0"/>
              <a:t>mogući</a:t>
            </a:r>
            <a:r>
              <a:rPr lang="sr-Latn-RS" dirty="0" smtClean="0"/>
              <a:t> </a:t>
            </a:r>
            <a:r>
              <a:rPr lang="en-US" dirty="0" err="1" smtClean="0"/>
              <a:t>jedino</a:t>
            </a:r>
            <a:r>
              <a:rPr lang="en-US" dirty="0" smtClean="0"/>
              <a:t> </a:t>
            </a:r>
            <a:r>
              <a:rPr lang="en-US" dirty="0" err="1" smtClean="0"/>
              <a:t>unutar</a:t>
            </a:r>
            <a:r>
              <a:rPr lang="en-US" dirty="0" smtClean="0"/>
              <a:t> warp-a </a:t>
            </a:r>
            <a:br>
              <a:rPr lang="en-US" dirty="0" smtClean="0"/>
            </a:br>
            <a:r>
              <a:rPr lang="en-US" dirty="0" smtClean="0"/>
              <a:t> </a:t>
            </a:r>
            <a:br>
              <a:rPr lang="en-US" dirty="0" smtClean="0"/>
            </a:br>
            <a:endParaRPr lang="en-US" dirty="0"/>
          </a:p>
        </p:txBody>
      </p:sp>
      <p:pic>
        <p:nvPicPr>
          <p:cNvPr id="142338" name="Picture 2"/>
          <p:cNvPicPr>
            <a:picLocks noChangeAspect="1" noChangeArrowheads="1"/>
          </p:cNvPicPr>
          <p:nvPr/>
        </p:nvPicPr>
        <p:blipFill>
          <a:blip r:embed="rId3" cstate="print"/>
          <a:srcRect/>
          <a:stretch>
            <a:fillRect/>
          </a:stretch>
        </p:blipFill>
        <p:spPr bwMode="auto">
          <a:xfrm>
            <a:off x="6096000" y="2057400"/>
            <a:ext cx="2686050" cy="324802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036081D1-8380-407A-ABF3-D12854566F9D}" type="slidenum">
              <a:rPr lang="en-US" smtClean="0"/>
              <a:pPr/>
              <a:t>13</a:t>
            </a:fld>
            <a:endParaRPr lang="en-US" dirty="0"/>
          </a:p>
        </p:txBody>
      </p:sp>
    </p:spTree>
    <p:extLst>
      <p:ext uri="{BB962C8B-B14F-4D97-AF65-F5344CB8AC3E}">
        <p14:creationId xmlns:p14="http://schemas.microsoft.com/office/powerpoint/2010/main" val="37099671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Primeri pristupa memoriji (1)</a:t>
            </a:r>
            <a:endParaRPr lang="en-US" dirty="0"/>
          </a:p>
        </p:txBody>
      </p:sp>
      <p:sp>
        <p:nvSpPr>
          <p:cNvPr id="6" name="Text Placeholder 5"/>
          <p:cNvSpPr>
            <a:spLocks noGrp="1"/>
          </p:cNvSpPr>
          <p:nvPr>
            <p:ph type="body" idx="1"/>
          </p:nvPr>
        </p:nvSpPr>
        <p:spPr/>
        <p:txBody>
          <a:bodyPr>
            <a:normAutofit fontScale="92500" lnSpcReduction="20000"/>
          </a:bodyPr>
          <a:lstStyle/>
          <a:p>
            <a:r>
              <a:rPr lang="sr-Latn-RS" dirty="0" smtClean="0"/>
              <a:t>Nema konflikata </a:t>
            </a:r>
          </a:p>
          <a:p>
            <a:r>
              <a:rPr lang="sr-Latn-RS" dirty="0" smtClean="0"/>
              <a:t>Linearno adresiranje, stride =1</a:t>
            </a:r>
            <a:endParaRPr lang="en-US" dirty="0"/>
          </a:p>
        </p:txBody>
      </p:sp>
      <p:sp>
        <p:nvSpPr>
          <p:cNvPr id="8" name="Text Placeholder 7"/>
          <p:cNvSpPr>
            <a:spLocks noGrp="1"/>
          </p:cNvSpPr>
          <p:nvPr>
            <p:ph type="body" sz="quarter" idx="3"/>
          </p:nvPr>
        </p:nvSpPr>
        <p:spPr/>
        <p:txBody>
          <a:bodyPr>
            <a:normAutofit fontScale="92500" lnSpcReduction="20000"/>
          </a:bodyPr>
          <a:lstStyle/>
          <a:p>
            <a:r>
              <a:rPr lang="sr-Latn-RS" dirty="0"/>
              <a:t>Nema konflikata </a:t>
            </a:r>
          </a:p>
          <a:p>
            <a:r>
              <a:rPr lang="sr-Latn-RS" dirty="0" smtClean="0"/>
              <a:t>Slučajan pristup memoriji</a:t>
            </a:r>
            <a:endParaRPr/>
          </a:p>
        </p:txBody>
      </p:sp>
      <p:grpSp>
        <p:nvGrpSpPr>
          <p:cNvPr id="71" name="Group 70"/>
          <p:cNvGrpSpPr/>
          <p:nvPr/>
        </p:nvGrpSpPr>
        <p:grpSpPr>
          <a:xfrm>
            <a:off x="533400" y="2667000"/>
            <a:ext cx="3657600" cy="3429000"/>
            <a:chOff x="533400" y="2667000"/>
            <a:chExt cx="3657600" cy="3429000"/>
          </a:xfrm>
        </p:grpSpPr>
        <p:grpSp>
          <p:nvGrpSpPr>
            <p:cNvPr id="24" name="Group 23"/>
            <p:cNvGrpSpPr/>
            <p:nvPr/>
          </p:nvGrpSpPr>
          <p:grpSpPr>
            <a:xfrm>
              <a:off x="533400" y="2667000"/>
              <a:ext cx="1524000" cy="3429000"/>
              <a:chOff x="6858000" y="2057400"/>
              <a:chExt cx="1524000" cy="3429000"/>
            </a:xfrm>
          </p:grpSpPr>
          <p:sp>
            <p:nvSpPr>
              <p:cNvPr id="25" name="Cube 24"/>
              <p:cNvSpPr/>
              <p:nvPr/>
            </p:nvSpPr>
            <p:spPr>
              <a:xfrm>
                <a:off x="6858000" y="4191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7</a:t>
                </a:r>
                <a:endParaRPr lang="en-US" dirty="0"/>
              </a:p>
            </p:txBody>
          </p:sp>
          <p:sp>
            <p:nvSpPr>
              <p:cNvPr id="26" name="Cube 25"/>
              <p:cNvSpPr/>
              <p:nvPr/>
            </p:nvSpPr>
            <p:spPr>
              <a:xfrm>
                <a:off x="6858000" y="3886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6</a:t>
                </a:r>
                <a:endParaRPr lang="en-US" dirty="0"/>
              </a:p>
            </p:txBody>
          </p:sp>
          <p:sp>
            <p:nvSpPr>
              <p:cNvPr id="27" name="Cube 26"/>
              <p:cNvSpPr/>
              <p:nvPr/>
            </p:nvSpPr>
            <p:spPr>
              <a:xfrm>
                <a:off x="6858000" y="3581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5</a:t>
                </a:r>
                <a:endParaRPr lang="en-US" dirty="0"/>
              </a:p>
            </p:txBody>
          </p:sp>
          <p:sp>
            <p:nvSpPr>
              <p:cNvPr id="28" name="Cube 27"/>
              <p:cNvSpPr/>
              <p:nvPr/>
            </p:nvSpPr>
            <p:spPr>
              <a:xfrm>
                <a:off x="6858000" y="32766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4</a:t>
                </a:r>
                <a:endParaRPr lang="en-US" dirty="0"/>
              </a:p>
            </p:txBody>
          </p:sp>
          <p:sp>
            <p:nvSpPr>
              <p:cNvPr id="29" name="Cube 28"/>
              <p:cNvSpPr/>
              <p:nvPr/>
            </p:nvSpPr>
            <p:spPr>
              <a:xfrm>
                <a:off x="6858000" y="29718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3</a:t>
                </a:r>
                <a:endParaRPr lang="en-US" dirty="0"/>
              </a:p>
            </p:txBody>
          </p:sp>
          <p:sp>
            <p:nvSpPr>
              <p:cNvPr id="30" name="Cube 29"/>
              <p:cNvSpPr/>
              <p:nvPr/>
            </p:nvSpPr>
            <p:spPr>
              <a:xfrm>
                <a:off x="6858000" y="2667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2</a:t>
                </a:r>
                <a:endParaRPr lang="en-US" dirty="0"/>
              </a:p>
            </p:txBody>
          </p:sp>
          <p:sp>
            <p:nvSpPr>
              <p:cNvPr id="31" name="Cube 30"/>
              <p:cNvSpPr/>
              <p:nvPr/>
            </p:nvSpPr>
            <p:spPr>
              <a:xfrm>
                <a:off x="6858000" y="2362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a:t>
                </a:r>
                <a:endParaRPr lang="en-US" dirty="0"/>
              </a:p>
            </p:txBody>
          </p:sp>
          <p:sp>
            <p:nvSpPr>
              <p:cNvPr id="32" name="Cube 31"/>
              <p:cNvSpPr/>
              <p:nvPr/>
            </p:nvSpPr>
            <p:spPr>
              <a:xfrm>
                <a:off x="6858000" y="5105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15</a:t>
                </a:r>
                <a:endParaRPr lang="en-US" dirty="0"/>
              </a:p>
            </p:txBody>
          </p:sp>
          <p:sp>
            <p:nvSpPr>
              <p:cNvPr id="33" name="Cube 32"/>
              <p:cNvSpPr/>
              <p:nvPr/>
            </p:nvSpPr>
            <p:spPr>
              <a:xfrm>
                <a:off x="6858000" y="2057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0</a:t>
                </a:r>
                <a:endParaRPr lang="en-US" dirty="0"/>
              </a:p>
            </p:txBody>
          </p:sp>
          <p:grpSp>
            <p:nvGrpSpPr>
              <p:cNvPr id="34" name="Group 17"/>
              <p:cNvGrpSpPr/>
              <p:nvPr/>
            </p:nvGrpSpPr>
            <p:grpSpPr>
              <a:xfrm>
                <a:off x="7543800" y="4648200"/>
                <a:ext cx="76200" cy="381000"/>
                <a:chOff x="7543800" y="4648200"/>
                <a:chExt cx="76200" cy="381000"/>
              </a:xfrm>
            </p:grpSpPr>
            <p:sp>
              <p:nvSpPr>
                <p:cNvPr id="35" name="Flowchart: Connector 14"/>
                <p:cNvSpPr/>
                <p:nvPr/>
              </p:nvSpPr>
              <p:spPr>
                <a:xfrm>
                  <a:off x="7543800" y="46482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6" name="Flowchart: Connector 35"/>
                <p:cNvSpPr/>
                <p:nvPr/>
              </p:nvSpPr>
              <p:spPr>
                <a:xfrm>
                  <a:off x="7543800" y="48006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7" name="Flowchart: Connector 36"/>
                <p:cNvSpPr/>
                <p:nvPr/>
              </p:nvSpPr>
              <p:spPr>
                <a:xfrm>
                  <a:off x="7543800" y="49530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grpSp>
        <p:grpSp>
          <p:nvGrpSpPr>
            <p:cNvPr id="38" name="Group 37"/>
            <p:cNvGrpSpPr/>
            <p:nvPr/>
          </p:nvGrpSpPr>
          <p:grpSpPr>
            <a:xfrm>
              <a:off x="2667000" y="2667000"/>
              <a:ext cx="1524000" cy="3429000"/>
              <a:chOff x="6858000" y="2057400"/>
              <a:chExt cx="1524000" cy="3429000"/>
            </a:xfrm>
          </p:grpSpPr>
          <p:sp>
            <p:nvSpPr>
              <p:cNvPr id="39" name="Cube 38"/>
              <p:cNvSpPr/>
              <p:nvPr/>
            </p:nvSpPr>
            <p:spPr>
              <a:xfrm>
                <a:off x="6858000" y="4191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7</a:t>
                </a:r>
                <a:endParaRPr lang="en-US" dirty="0"/>
              </a:p>
            </p:txBody>
          </p:sp>
          <p:sp>
            <p:nvSpPr>
              <p:cNvPr id="40" name="Cube 39"/>
              <p:cNvSpPr/>
              <p:nvPr/>
            </p:nvSpPr>
            <p:spPr>
              <a:xfrm>
                <a:off x="6858000" y="3886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6</a:t>
                </a:r>
                <a:endParaRPr lang="en-US" dirty="0"/>
              </a:p>
            </p:txBody>
          </p:sp>
          <p:sp>
            <p:nvSpPr>
              <p:cNvPr id="41" name="Cube 40"/>
              <p:cNvSpPr/>
              <p:nvPr/>
            </p:nvSpPr>
            <p:spPr>
              <a:xfrm>
                <a:off x="6858000" y="3581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5</a:t>
                </a:r>
                <a:endParaRPr lang="en-US" dirty="0"/>
              </a:p>
            </p:txBody>
          </p:sp>
          <p:sp>
            <p:nvSpPr>
              <p:cNvPr id="42" name="Cube 41"/>
              <p:cNvSpPr/>
              <p:nvPr/>
            </p:nvSpPr>
            <p:spPr>
              <a:xfrm>
                <a:off x="6858000" y="32766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4</a:t>
                </a:r>
                <a:endParaRPr lang="en-US" dirty="0"/>
              </a:p>
            </p:txBody>
          </p:sp>
          <p:sp>
            <p:nvSpPr>
              <p:cNvPr id="43" name="Cube 42"/>
              <p:cNvSpPr/>
              <p:nvPr/>
            </p:nvSpPr>
            <p:spPr>
              <a:xfrm>
                <a:off x="6858000" y="29718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3</a:t>
                </a:r>
                <a:endParaRPr lang="en-US" dirty="0"/>
              </a:p>
            </p:txBody>
          </p:sp>
          <p:sp>
            <p:nvSpPr>
              <p:cNvPr id="44" name="Cube 43"/>
              <p:cNvSpPr/>
              <p:nvPr/>
            </p:nvSpPr>
            <p:spPr>
              <a:xfrm>
                <a:off x="6858000" y="2667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2</a:t>
                </a:r>
                <a:endParaRPr lang="en-US" dirty="0"/>
              </a:p>
            </p:txBody>
          </p:sp>
          <p:sp>
            <p:nvSpPr>
              <p:cNvPr id="45" name="Cube 44"/>
              <p:cNvSpPr/>
              <p:nvPr/>
            </p:nvSpPr>
            <p:spPr>
              <a:xfrm>
                <a:off x="6858000" y="2362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a:t>
                </a:r>
                <a:endParaRPr lang="en-US" dirty="0"/>
              </a:p>
            </p:txBody>
          </p:sp>
          <p:sp>
            <p:nvSpPr>
              <p:cNvPr id="46" name="Cube 45"/>
              <p:cNvSpPr/>
              <p:nvPr/>
            </p:nvSpPr>
            <p:spPr>
              <a:xfrm>
                <a:off x="6858000" y="5105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15</a:t>
                </a:r>
                <a:endParaRPr lang="en-US" dirty="0"/>
              </a:p>
            </p:txBody>
          </p:sp>
          <p:sp>
            <p:nvSpPr>
              <p:cNvPr id="47" name="Cube 46"/>
              <p:cNvSpPr/>
              <p:nvPr/>
            </p:nvSpPr>
            <p:spPr>
              <a:xfrm>
                <a:off x="6858000" y="2057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0</a:t>
                </a:r>
                <a:endParaRPr lang="en-US" dirty="0"/>
              </a:p>
            </p:txBody>
          </p:sp>
          <p:grpSp>
            <p:nvGrpSpPr>
              <p:cNvPr id="48" name="Group 17"/>
              <p:cNvGrpSpPr/>
              <p:nvPr/>
            </p:nvGrpSpPr>
            <p:grpSpPr>
              <a:xfrm>
                <a:off x="7543800" y="4648200"/>
                <a:ext cx="76200" cy="381000"/>
                <a:chOff x="7543800" y="4648200"/>
                <a:chExt cx="76200" cy="381000"/>
              </a:xfrm>
            </p:grpSpPr>
            <p:sp>
              <p:nvSpPr>
                <p:cNvPr id="49" name="Flowchart: Connector 14"/>
                <p:cNvSpPr/>
                <p:nvPr/>
              </p:nvSpPr>
              <p:spPr>
                <a:xfrm>
                  <a:off x="7543800" y="46482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0" name="Flowchart: Connector 49"/>
                <p:cNvSpPr/>
                <p:nvPr/>
              </p:nvSpPr>
              <p:spPr>
                <a:xfrm>
                  <a:off x="7543800" y="48006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1" name="Flowchart: Connector 50"/>
                <p:cNvSpPr/>
                <p:nvPr/>
              </p:nvSpPr>
              <p:spPr>
                <a:xfrm>
                  <a:off x="7543800" y="49530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grpSp>
        <p:grpSp>
          <p:nvGrpSpPr>
            <p:cNvPr id="70" name="Group 69"/>
            <p:cNvGrpSpPr/>
            <p:nvPr/>
          </p:nvGrpSpPr>
          <p:grpSpPr>
            <a:xfrm>
              <a:off x="1962150" y="2905125"/>
              <a:ext cx="704850" cy="3049588"/>
              <a:chOff x="1962150" y="2905125"/>
              <a:chExt cx="704850" cy="3049588"/>
            </a:xfrm>
          </p:grpSpPr>
          <p:cxnSp>
            <p:nvCxnSpPr>
              <p:cNvPr id="53" name="Straight Arrow Connector 52"/>
              <p:cNvCxnSpPr>
                <a:stCxn id="33" idx="4"/>
                <a:endCxn id="47" idx="2"/>
              </p:cNvCxnSpPr>
              <p:nvPr/>
            </p:nvCxnSpPr>
            <p:spPr>
              <a:xfrm>
                <a:off x="1962150" y="29051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5" name="Straight Arrow Connector 54"/>
              <p:cNvCxnSpPr>
                <a:stCxn id="31" idx="4"/>
                <a:endCxn id="45" idx="2"/>
              </p:cNvCxnSpPr>
              <p:nvPr/>
            </p:nvCxnSpPr>
            <p:spPr>
              <a:xfrm>
                <a:off x="1962150" y="32099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30" idx="4"/>
                <a:endCxn id="44" idx="2"/>
              </p:cNvCxnSpPr>
              <p:nvPr/>
            </p:nvCxnSpPr>
            <p:spPr>
              <a:xfrm>
                <a:off x="1962150" y="35147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59" name="Straight Arrow Connector 58"/>
              <p:cNvCxnSpPr>
                <a:stCxn id="29" idx="4"/>
                <a:endCxn id="43" idx="2"/>
              </p:cNvCxnSpPr>
              <p:nvPr/>
            </p:nvCxnSpPr>
            <p:spPr>
              <a:xfrm>
                <a:off x="1962150" y="38195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1" name="Straight Arrow Connector 60"/>
              <p:cNvCxnSpPr>
                <a:stCxn id="28" idx="4"/>
                <a:endCxn id="42" idx="2"/>
              </p:cNvCxnSpPr>
              <p:nvPr/>
            </p:nvCxnSpPr>
            <p:spPr>
              <a:xfrm>
                <a:off x="1962150" y="41243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3" name="Straight Arrow Connector 62"/>
              <p:cNvCxnSpPr>
                <a:stCxn id="27" idx="4"/>
                <a:endCxn id="41" idx="2"/>
              </p:cNvCxnSpPr>
              <p:nvPr/>
            </p:nvCxnSpPr>
            <p:spPr>
              <a:xfrm>
                <a:off x="1962150" y="44291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5" name="Straight Arrow Connector 64"/>
              <p:cNvCxnSpPr>
                <a:stCxn id="26" idx="4"/>
                <a:endCxn id="40" idx="2"/>
              </p:cNvCxnSpPr>
              <p:nvPr/>
            </p:nvCxnSpPr>
            <p:spPr>
              <a:xfrm>
                <a:off x="1962150" y="47339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7" name="Straight Arrow Connector 66"/>
              <p:cNvCxnSpPr>
                <a:stCxn id="25" idx="4"/>
                <a:endCxn id="39" idx="2"/>
              </p:cNvCxnSpPr>
              <p:nvPr/>
            </p:nvCxnSpPr>
            <p:spPr>
              <a:xfrm>
                <a:off x="1962150" y="50387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69" name="Straight Arrow Connector 68"/>
              <p:cNvCxnSpPr>
                <a:stCxn id="32" idx="4"/>
                <a:endCxn id="46" idx="2"/>
              </p:cNvCxnSpPr>
              <p:nvPr/>
            </p:nvCxnSpPr>
            <p:spPr>
              <a:xfrm>
                <a:off x="1962150" y="59531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grpSp>
      <p:grpSp>
        <p:nvGrpSpPr>
          <p:cNvPr id="169" name="Group 168"/>
          <p:cNvGrpSpPr/>
          <p:nvPr/>
        </p:nvGrpSpPr>
        <p:grpSpPr>
          <a:xfrm>
            <a:off x="4876800" y="2667000"/>
            <a:ext cx="3657600" cy="3429000"/>
            <a:chOff x="4876800" y="2667000"/>
            <a:chExt cx="3657600" cy="3429000"/>
          </a:xfrm>
        </p:grpSpPr>
        <p:grpSp>
          <p:nvGrpSpPr>
            <p:cNvPr id="112" name="Group 23"/>
            <p:cNvGrpSpPr/>
            <p:nvPr/>
          </p:nvGrpSpPr>
          <p:grpSpPr>
            <a:xfrm>
              <a:off x="4876800" y="2667000"/>
              <a:ext cx="1524000" cy="3429000"/>
              <a:chOff x="6858000" y="2057400"/>
              <a:chExt cx="1524000" cy="3429000"/>
            </a:xfrm>
          </p:grpSpPr>
          <p:sp>
            <p:nvSpPr>
              <p:cNvPr id="137" name="Cube 136"/>
              <p:cNvSpPr/>
              <p:nvPr/>
            </p:nvSpPr>
            <p:spPr>
              <a:xfrm>
                <a:off x="6858000" y="4191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7</a:t>
                </a:r>
                <a:endParaRPr lang="en-US" dirty="0"/>
              </a:p>
            </p:txBody>
          </p:sp>
          <p:sp>
            <p:nvSpPr>
              <p:cNvPr id="138" name="Cube 137"/>
              <p:cNvSpPr/>
              <p:nvPr/>
            </p:nvSpPr>
            <p:spPr>
              <a:xfrm>
                <a:off x="6858000" y="3886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6</a:t>
                </a:r>
                <a:endParaRPr lang="en-US" dirty="0"/>
              </a:p>
            </p:txBody>
          </p:sp>
          <p:sp>
            <p:nvSpPr>
              <p:cNvPr id="139" name="Cube 138"/>
              <p:cNvSpPr/>
              <p:nvPr/>
            </p:nvSpPr>
            <p:spPr>
              <a:xfrm>
                <a:off x="6858000" y="3581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5</a:t>
                </a:r>
                <a:endParaRPr lang="en-US" dirty="0"/>
              </a:p>
            </p:txBody>
          </p:sp>
          <p:sp>
            <p:nvSpPr>
              <p:cNvPr id="140" name="Cube 139"/>
              <p:cNvSpPr/>
              <p:nvPr/>
            </p:nvSpPr>
            <p:spPr>
              <a:xfrm>
                <a:off x="6858000" y="32766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4</a:t>
                </a:r>
                <a:endParaRPr lang="en-US" dirty="0"/>
              </a:p>
            </p:txBody>
          </p:sp>
          <p:sp>
            <p:nvSpPr>
              <p:cNvPr id="141" name="Cube 140"/>
              <p:cNvSpPr/>
              <p:nvPr/>
            </p:nvSpPr>
            <p:spPr>
              <a:xfrm>
                <a:off x="6858000" y="29718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3</a:t>
                </a:r>
                <a:endParaRPr lang="en-US" dirty="0"/>
              </a:p>
            </p:txBody>
          </p:sp>
          <p:sp>
            <p:nvSpPr>
              <p:cNvPr id="142" name="Cube 141"/>
              <p:cNvSpPr/>
              <p:nvPr/>
            </p:nvSpPr>
            <p:spPr>
              <a:xfrm>
                <a:off x="6858000" y="2667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2</a:t>
                </a:r>
                <a:endParaRPr lang="en-US" dirty="0"/>
              </a:p>
            </p:txBody>
          </p:sp>
          <p:sp>
            <p:nvSpPr>
              <p:cNvPr id="143" name="Cube 142"/>
              <p:cNvSpPr/>
              <p:nvPr/>
            </p:nvSpPr>
            <p:spPr>
              <a:xfrm>
                <a:off x="6858000" y="2362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a:t>
                </a:r>
                <a:endParaRPr lang="en-US" dirty="0"/>
              </a:p>
            </p:txBody>
          </p:sp>
          <p:sp>
            <p:nvSpPr>
              <p:cNvPr id="144" name="Cube 143"/>
              <p:cNvSpPr/>
              <p:nvPr/>
            </p:nvSpPr>
            <p:spPr>
              <a:xfrm>
                <a:off x="6858000" y="5105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15</a:t>
                </a:r>
                <a:endParaRPr lang="en-US" dirty="0"/>
              </a:p>
            </p:txBody>
          </p:sp>
          <p:sp>
            <p:nvSpPr>
              <p:cNvPr id="145" name="Cube 144"/>
              <p:cNvSpPr/>
              <p:nvPr/>
            </p:nvSpPr>
            <p:spPr>
              <a:xfrm>
                <a:off x="6858000" y="2057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0</a:t>
                </a:r>
                <a:endParaRPr lang="en-US" dirty="0"/>
              </a:p>
            </p:txBody>
          </p:sp>
          <p:grpSp>
            <p:nvGrpSpPr>
              <p:cNvPr id="146" name="Group 17"/>
              <p:cNvGrpSpPr/>
              <p:nvPr/>
            </p:nvGrpSpPr>
            <p:grpSpPr>
              <a:xfrm>
                <a:off x="7543800" y="4648200"/>
                <a:ext cx="76200" cy="381000"/>
                <a:chOff x="7543800" y="4648200"/>
                <a:chExt cx="76200" cy="381000"/>
              </a:xfrm>
            </p:grpSpPr>
            <p:sp>
              <p:nvSpPr>
                <p:cNvPr id="147" name="Flowchart: Connector 14"/>
                <p:cNvSpPr/>
                <p:nvPr/>
              </p:nvSpPr>
              <p:spPr>
                <a:xfrm>
                  <a:off x="7543800" y="46482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48" name="Flowchart: Connector 147"/>
                <p:cNvSpPr/>
                <p:nvPr/>
              </p:nvSpPr>
              <p:spPr>
                <a:xfrm>
                  <a:off x="7543800" y="48006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49" name="Flowchart: Connector 36"/>
                <p:cNvSpPr/>
                <p:nvPr/>
              </p:nvSpPr>
              <p:spPr>
                <a:xfrm>
                  <a:off x="7543800" y="49530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grpSp>
        <p:grpSp>
          <p:nvGrpSpPr>
            <p:cNvPr id="113" name="Group 37"/>
            <p:cNvGrpSpPr/>
            <p:nvPr/>
          </p:nvGrpSpPr>
          <p:grpSpPr>
            <a:xfrm>
              <a:off x="7010400" y="2667000"/>
              <a:ext cx="1524000" cy="3429000"/>
              <a:chOff x="6858000" y="2057400"/>
              <a:chExt cx="1524000" cy="3429000"/>
            </a:xfrm>
          </p:grpSpPr>
          <p:sp>
            <p:nvSpPr>
              <p:cNvPr id="124" name="Cube 123"/>
              <p:cNvSpPr/>
              <p:nvPr/>
            </p:nvSpPr>
            <p:spPr>
              <a:xfrm>
                <a:off x="6858000" y="4191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7</a:t>
                </a:r>
                <a:endParaRPr lang="en-US" dirty="0"/>
              </a:p>
            </p:txBody>
          </p:sp>
          <p:sp>
            <p:nvSpPr>
              <p:cNvPr id="125" name="Cube 124"/>
              <p:cNvSpPr/>
              <p:nvPr/>
            </p:nvSpPr>
            <p:spPr>
              <a:xfrm>
                <a:off x="6858000" y="3886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6</a:t>
                </a:r>
                <a:endParaRPr lang="en-US" dirty="0"/>
              </a:p>
            </p:txBody>
          </p:sp>
          <p:sp>
            <p:nvSpPr>
              <p:cNvPr id="126" name="Cube 125"/>
              <p:cNvSpPr/>
              <p:nvPr/>
            </p:nvSpPr>
            <p:spPr>
              <a:xfrm>
                <a:off x="6858000" y="3581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5</a:t>
                </a:r>
                <a:endParaRPr lang="en-US" dirty="0"/>
              </a:p>
            </p:txBody>
          </p:sp>
          <p:sp>
            <p:nvSpPr>
              <p:cNvPr id="127" name="Cube 126"/>
              <p:cNvSpPr/>
              <p:nvPr/>
            </p:nvSpPr>
            <p:spPr>
              <a:xfrm>
                <a:off x="6858000" y="32766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4</a:t>
                </a:r>
                <a:endParaRPr lang="en-US" dirty="0"/>
              </a:p>
            </p:txBody>
          </p:sp>
          <p:sp>
            <p:nvSpPr>
              <p:cNvPr id="128" name="Cube 127"/>
              <p:cNvSpPr/>
              <p:nvPr/>
            </p:nvSpPr>
            <p:spPr>
              <a:xfrm>
                <a:off x="6858000" y="29718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3</a:t>
                </a:r>
                <a:endParaRPr lang="en-US" dirty="0"/>
              </a:p>
            </p:txBody>
          </p:sp>
          <p:sp>
            <p:nvSpPr>
              <p:cNvPr id="129" name="Cube 128"/>
              <p:cNvSpPr/>
              <p:nvPr/>
            </p:nvSpPr>
            <p:spPr>
              <a:xfrm>
                <a:off x="6858000" y="2667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2</a:t>
                </a:r>
                <a:endParaRPr lang="en-US" dirty="0"/>
              </a:p>
            </p:txBody>
          </p:sp>
          <p:sp>
            <p:nvSpPr>
              <p:cNvPr id="130" name="Cube 129"/>
              <p:cNvSpPr/>
              <p:nvPr/>
            </p:nvSpPr>
            <p:spPr>
              <a:xfrm>
                <a:off x="6858000" y="2362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a:t>
                </a:r>
                <a:endParaRPr lang="en-US" dirty="0"/>
              </a:p>
            </p:txBody>
          </p:sp>
          <p:sp>
            <p:nvSpPr>
              <p:cNvPr id="131" name="Cube 130"/>
              <p:cNvSpPr/>
              <p:nvPr/>
            </p:nvSpPr>
            <p:spPr>
              <a:xfrm>
                <a:off x="6858000" y="5105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15</a:t>
                </a:r>
                <a:endParaRPr lang="en-US" dirty="0"/>
              </a:p>
            </p:txBody>
          </p:sp>
          <p:sp>
            <p:nvSpPr>
              <p:cNvPr id="132" name="Cube 131"/>
              <p:cNvSpPr/>
              <p:nvPr/>
            </p:nvSpPr>
            <p:spPr>
              <a:xfrm>
                <a:off x="6858000" y="2057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0</a:t>
                </a:r>
                <a:endParaRPr lang="en-US" dirty="0"/>
              </a:p>
            </p:txBody>
          </p:sp>
          <p:grpSp>
            <p:nvGrpSpPr>
              <p:cNvPr id="133" name="Group 17"/>
              <p:cNvGrpSpPr/>
              <p:nvPr/>
            </p:nvGrpSpPr>
            <p:grpSpPr>
              <a:xfrm>
                <a:off x="7543800" y="4648200"/>
                <a:ext cx="76200" cy="381000"/>
                <a:chOff x="7543800" y="4648200"/>
                <a:chExt cx="76200" cy="381000"/>
              </a:xfrm>
            </p:grpSpPr>
            <p:sp>
              <p:nvSpPr>
                <p:cNvPr id="134" name="Flowchart: Connector 14"/>
                <p:cNvSpPr/>
                <p:nvPr/>
              </p:nvSpPr>
              <p:spPr>
                <a:xfrm>
                  <a:off x="7543800" y="46482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Flowchart: Connector 134"/>
                <p:cNvSpPr/>
                <p:nvPr/>
              </p:nvSpPr>
              <p:spPr>
                <a:xfrm>
                  <a:off x="7543800" y="48006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6" name="Flowchart: Connector 135"/>
                <p:cNvSpPr/>
                <p:nvPr/>
              </p:nvSpPr>
              <p:spPr>
                <a:xfrm>
                  <a:off x="7543800" y="49530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grpSp>
        <p:grpSp>
          <p:nvGrpSpPr>
            <p:cNvPr id="168" name="Group 167"/>
            <p:cNvGrpSpPr/>
            <p:nvPr/>
          </p:nvGrpSpPr>
          <p:grpSpPr>
            <a:xfrm>
              <a:off x="6305550" y="2905125"/>
              <a:ext cx="704850" cy="3048000"/>
              <a:chOff x="6305550" y="2905125"/>
              <a:chExt cx="704850" cy="3048000"/>
            </a:xfrm>
          </p:grpSpPr>
          <p:cxnSp>
            <p:nvCxnSpPr>
              <p:cNvPr id="151" name="Straight Arrow Connector 150"/>
              <p:cNvCxnSpPr>
                <a:stCxn id="145" idx="4"/>
                <a:endCxn id="130" idx="2"/>
              </p:cNvCxnSpPr>
              <p:nvPr/>
            </p:nvCxnSpPr>
            <p:spPr>
              <a:xfrm>
                <a:off x="6305550" y="2905125"/>
                <a:ext cx="70485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3" name="Straight Arrow Connector 152"/>
              <p:cNvCxnSpPr>
                <a:stCxn id="143" idx="4"/>
                <a:endCxn id="126" idx="2"/>
              </p:cNvCxnSpPr>
              <p:nvPr/>
            </p:nvCxnSpPr>
            <p:spPr>
              <a:xfrm>
                <a:off x="6305550" y="3209925"/>
                <a:ext cx="704850" cy="1219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5" name="Straight Arrow Connector 154"/>
              <p:cNvCxnSpPr>
                <a:stCxn id="142" idx="4"/>
                <a:endCxn id="129" idx="2"/>
              </p:cNvCxnSpPr>
              <p:nvPr/>
            </p:nvCxnSpPr>
            <p:spPr>
              <a:xfrm>
                <a:off x="6305550" y="35147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7" name="Straight Arrow Connector 156"/>
              <p:cNvCxnSpPr>
                <a:stCxn id="141" idx="4"/>
                <a:endCxn id="132" idx="2"/>
              </p:cNvCxnSpPr>
              <p:nvPr/>
            </p:nvCxnSpPr>
            <p:spPr>
              <a:xfrm flipV="1">
                <a:off x="6305550" y="2905125"/>
                <a:ext cx="70485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9" name="Straight Arrow Connector 158"/>
              <p:cNvCxnSpPr>
                <a:stCxn id="140" idx="4"/>
                <a:endCxn id="128" idx="2"/>
              </p:cNvCxnSpPr>
              <p:nvPr/>
            </p:nvCxnSpPr>
            <p:spPr>
              <a:xfrm flipV="1">
                <a:off x="6305550" y="3819525"/>
                <a:ext cx="70485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1" name="Straight Arrow Connector 160"/>
              <p:cNvCxnSpPr>
                <a:stCxn id="139" idx="4"/>
                <a:endCxn id="124" idx="2"/>
              </p:cNvCxnSpPr>
              <p:nvPr/>
            </p:nvCxnSpPr>
            <p:spPr>
              <a:xfrm>
                <a:off x="6305550" y="4429125"/>
                <a:ext cx="704850" cy="609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3" name="Straight Arrow Connector 162"/>
              <p:cNvCxnSpPr>
                <a:stCxn id="138" idx="4"/>
                <a:endCxn id="125" idx="2"/>
              </p:cNvCxnSpPr>
              <p:nvPr/>
            </p:nvCxnSpPr>
            <p:spPr>
              <a:xfrm>
                <a:off x="6305550" y="47339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5" name="Straight Arrow Connector 164"/>
              <p:cNvCxnSpPr>
                <a:stCxn id="137" idx="4"/>
                <a:endCxn id="131" idx="2"/>
              </p:cNvCxnSpPr>
              <p:nvPr/>
            </p:nvCxnSpPr>
            <p:spPr>
              <a:xfrm>
                <a:off x="6305550" y="5038725"/>
                <a:ext cx="70485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67" name="Straight Arrow Connector 166"/>
              <p:cNvCxnSpPr>
                <a:stCxn id="144" idx="4"/>
                <a:endCxn id="127" idx="2"/>
              </p:cNvCxnSpPr>
              <p:nvPr/>
            </p:nvCxnSpPr>
            <p:spPr>
              <a:xfrm flipV="1">
                <a:off x="6305550" y="4124325"/>
                <a:ext cx="704850" cy="1828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grpSp>
      <p:sp>
        <p:nvSpPr>
          <p:cNvPr id="3" name="Slide Number Placeholder 2"/>
          <p:cNvSpPr>
            <a:spLocks noGrp="1"/>
          </p:cNvSpPr>
          <p:nvPr>
            <p:ph type="sldNum" sz="quarter" idx="12"/>
          </p:nvPr>
        </p:nvSpPr>
        <p:spPr/>
        <p:txBody>
          <a:bodyPr/>
          <a:lstStyle/>
          <a:p>
            <a:fld id="{036081D1-8380-407A-ABF3-D12854566F9D}" type="slidenum">
              <a:rPr lang="en-US" smtClean="0"/>
              <a:pPr/>
              <a:t>14</a:t>
            </a:fld>
            <a:endParaRPr lang="en-US" dirty="0"/>
          </a:p>
        </p:txBody>
      </p:sp>
    </p:spTree>
    <p:extLst>
      <p:ext uri="{BB962C8B-B14F-4D97-AF65-F5344CB8AC3E}">
        <p14:creationId xmlns:p14="http://schemas.microsoft.com/office/powerpoint/2010/main" val="37588892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Primeri pristupa memoriji (2)</a:t>
            </a:r>
            <a:endParaRPr lang="en-US" dirty="0"/>
          </a:p>
        </p:txBody>
      </p:sp>
      <p:sp>
        <p:nvSpPr>
          <p:cNvPr id="6" name="Text Placeholder 5"/>
          <p:cNvSpPr>
            <a:spLocks noGrp="1"/>
          </p:cNvSpPr>
          <p:nvPr>
            <p:ph type="body" idx="1"/>
          </p:nvPr>
        </p:nvSpPr>
        <p:spPr/>
        <p:txBody>
          <a:bodyPr>
            <a:normAutofit fontScale="92500" lnSpcReduction="20000"/>
          </a:bodyPr>
          <a:lstStyle/>
          <a:p>
            <a:r>
              <a:rPr lang="sr-Latn-RS" dirty="0" smtClean="0"/>
              <a:t>Dvostruki konflikt</a:t>
            </a:r>
          </a:p>
          <a:p>
            <a:r>
              <a:rPr lang="sr-Latn-RS" dirty="0" smtClean="0"/>
              <a:t>Linearno adresiranje, stride = 2</a:t>
            </a:r>
            <a:endParaRPr lang="en-US" dirty="0"/>
          </a:p>
        </p:txBody>
      </p:sp>
      <p:sp>
        <p:nvSpPr>
          <p:cNvPr id="8" name="Text Placeholder 7"/>
          <p:cNvSpPr>
            <a:spLocks noGrp="1"/>
          </p:cNvSpPr>
          <p:nvPr>
            <p:ph type="body" sz="quarter" idx="3"/>
          </p:nvPr>
        </p:nvSpPr>
        <p:spPr/>
        <p:txBody>
          <a:bodyPr>
            <a:normAutofit fontScale="92500" lnSpcReduction="20000"/>
          </a:bodyPr>
          <a:lstStyle/>
          <a:p>
            <a:r>
              <a:rPr lang="sr-Latn-RS" dirty="0" smtClean="0"/>
              <a:t>8-struki konflikt</a:t>
            </a:r>
          </a:p>
          <a:p>
            <a:r>
              <a:rPr lang="sr-Latn-RS" dirty="0"/>
              <a:t>Linearno adresiranje, stride = 8</a:t>
            </a:r>
            <a:endParaRPr/>
          </a:p>
        </p:txBody>
      </p:sp>
      <p:grpSp>
        <p:nvGrpSpPr>
          <p:cNvPr id="106" name="Group 105"/>
          <p:cNvGrpSpPr/>
          <p:nvPr/>
        </p:nvGrpSpPr>
        <p:grpSpPr>
          <a:xfrm>
            <a:off x="533400" y="2667000"/>
            <a:ext cx="3657600" cy="3429000"/>
            <a:chOff x="533400" y="2667000"/>
            <a:chExt cx="3657600" cy="3429000"/>
          </a:xfrm>
        </p:grpSpPr>
        <p:grpSp>
          <p:nvGrpSpPr>
            <p:cNvPr id="96" name="Group 95"/>
            <p:cNvGrpSpPr/>
            <p:nvPr/>
          </p:nvGrpSpPr>
          <p:grpSpPr>
            <a:xfrm>
              <a:off x="533400" y="2667000"/>
              <a:ext cx="1524000" cy="3429000"/>
              <a:chOff x="533400" y="2667000"/>
              <a:chExt cx="1524000" cy="3429000"/>
            </a:xfrm>
          </p:grpSpPr>
          <p:sp>
            <p:nvSpPr>
              <p:cNvPr id="32" name="Cube 31"/>
              <p:cNvSpPr/>
              <p:nvPr/>
            </p:nvSpPr>
            <p:spPr>
              <a:xfrm>
                <a:off x="533400" y="5715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11</a:t>
                </a:r>
                <a:endParaRPr lang="en-US" dirty="0"/>
              </a:p>
            </p:txBody>
          </p:sp>
          <p:sp>
            <p:nvSpPr>
              <p:cNvPr id="25" name="Cube 24"/>
              <p:cNvSpPr/>
              <p:nvPr/>
            </p:nvSpPr>
            <p:spPr>
              <a:xfrm>
                <a:off x="533400" y="5410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10</a:t>
                </a:r>
                <a:endParaRPr lang="en-US" dirty="0"/>
              </a:p>
            </p:txBody>
          </p:sp>
          <p:sp>
            <p:nvSpPr>
              <p:cNvPr id="26" name="Cube 25"/>
              <p:cNvSpPr/>
              <p:nvPr/>
            </p:nvSpPr>
            <p:spPr>
              <a:xfrm>
                <a:off x="533400" y="5105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9</a:t>
                </a:r>
                <a:endParaRPr lang="en-US" dirty="0"/>
              </a:p>
            </p:txBody>
          </p:sp>
          <p:sp>
            <p:nvSpPr>
              <p:cNvPr id="27" name="Cube 26"/>
              <p:cNvSpPr/>
              <p:nvPr/>
            </p:nvSpPr>
            <p:spPr>
              <a:xfrm>
                <a:off x="533400" y="48006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8</a:t>
                </a:r>
                <a:endParaRPr lang="en-US" dirty="0"/>
              </a:p>
            </p:txBody>
          </p:sp>
          <p:sp>
            <p:nvSpPr>
              <p:cNvPr id="28" name="Cube 27"/>
              <p:cNvSpPr/>
              <p:nvPr/>
            </p:nvSpPr>
            <p:spPr>
              <a:xfrm>
                <a:off x="533400" y="3886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4</a:t>
                </a:r>
                <a:endParaRPr lang="en-US" dirty="0"/>
              </a:p>
            </p:txBody>
          </p:sp>
          <p:sp>
            <p:nvSpPr>
              <p:cNvPr id="29" name="Cube 28"/>
              <p:cNvSpPr/>
              <p:nvPr/>
            </p:nvSpPr>
            <p:spPr>
              <a:xfrm>
                <a:off x="533400" y="3581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3</a:t>
                </a:r>
                <a:endParaRPr lang="en-US" dirty="0"/>
              </a:p>
            </p:txBody>
          </p:sp>
          <p:sp>
            <p:nvSpPr>
              <p:cNvPr id="30" name="Cube 29"/>
              <p:cNvSpPr/>
              <p:nvPr/>
            </p:nvSpPr>
            <p:spPr>
              <a:xfrm>
                <a:off x="533400" y="32766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2</a:t>
                </a:r>
                <a:endParaRPr lang="en-US" dirty="0"/>
              </a:p>
            </p:txBody>
          </p:sp>
          <p:sp>
            <p:nvSpPr>
              <p:cNvPr id="31" name="Cube 30"/>
              <p:cNvSpPr/>
              <p:nvPr/>
            </p:nvSpPr>
            <p:spPr>
              <a:xfrm>
                <a:off x="533400" y="29718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a:t>
                </a:r>
                <a:endParaRPr lang="en-US" dirty="0"/>
              </a:p>
            </p:txBody>
          </p:sp>
          <p:sp>
            <p:nvSpPr>
              <p:cNvPr id="33" name="Cube 32"/>
              <p:cNvSpPr/>
              <p:nvPr/>
            </p:nvSpPr>
            <p:spPr>
              <a:xfrm>
                <a:off x="533400" y="2667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0</a:t>
                </a:r>
                <a:endParaRPr lang="en-US" dirty="0"/>
              </a:p>
            </p:txBody>
          </p:sp>
          <p:grpSp>
            <p:nvGrpSpPr>
              <p:cNvPr id="7" name="Group 17"/>
              <p:cNvGrpSpPr/>
              <p:nvPr/>
            </p:nvGrpSpPr>
            <p:grpSpPr>
              <a:xfrm>
                <a:off x="1143000" y="4343400"/>
                <a:ext cx="76200" cy="381000"/>
                <a:chOff x="7543800" y="4648200"/>
                <a:chExt cx="76200" cy="381000"/>
              </a:xfrm>
            </p:grpSpPr>
            <p:sp>
              <p:nvSpPr>
                <p:cNvPr id="35" name="Flowchart: Connector 14"/>
                <p:cNvSpPr/>
                <p:nvPr/>
              </p:nvSpPr>
              <p:spPr>
                <a:xfrm>
                  <a:off x="7543800" y="46482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6" name="Flowchart: Connector 35"/>
                <p:cNvSpPr/>
                <p:nvPr/>
              </p:nvSpPr>
              <p:spPr>
                <a:xfrm>
                  <a:off x="7543800" y="48006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7" name="Flowchart: Connector 36"/>
                <p:cNvSpPr/>
                <p:nvPr/>
              </p:nvSpPr>
              <p:spPr>
                <a:xfrm>
                  <a:off x="7543800" y="49530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grpSp>
        <p:grpSp>
          <p:nvGrpSpPr>
            <p:cNvPr id="9" name="Group 37"/>
            <p:cNvGrpSpPr/>
            <p:nvPr/>
          </p:nvGrpSpPr>
          <p:grpSpPr>
            <a:xfrm>
              <a:off x="2667000" y="2667000"/>
              <a:ext cx="1524000" cy="3429000"/>
              <a:chOff x="6858000" y="2057400"/>
              <a:chExt cx="1524000" cy="3429000"/>
            </a:xfrm>
          </p:grpSpPr>
          <p:sp>
            <p:nvSpPr>
              <p:cNvPr id="39" name="Cube 38"/>
              <p:cNvSpPr/>
              <p:nvPr/>
            </p:nvSpPr>
            <p:spPr>
              <a:xfrm>
                <a:off x="6858000" y="4191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7</a:t>
                </a:r>
                <a:endParaRPr lang="en-US" dirty="0"/>
              </a:p>
            </p:txBody>
          </p:sp>
          <p:sp>
            <p:nvSpPr>
              <p:cNvPr id="40" name="Cube 39"/>
              <p:cNvSpPr/>
              <p:nvPr/>
            </p:nvSpPr>
            <p:spPr>
              <a:xfrm>
                <a:off x="6858000" y="3886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6</a:t>
                </a:r>
                <a:endParaRPr lang="en-US" dirty="0"/>
              </a:p>
            </p:txBody>
          </p:sp>
          <p:sp>
            <p:nvSpPr>
              <p:cNvPr id="41" name="Cube 40"/>
              <p:cNvSpPr/>
              <p:nvPr/>
            </p:nvSpPr>
            <p:spPr>
              <a:xfrm>
                <a:off x="6858000" y="3581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5</a:t>
                </a:r>
                <a:endParaRPr lang="en-US" dirty="0"/>
              </a:p>
            </p:txBody>
          </p:sp>
          <p:sp>
            <p:nvSpPr>
              <p:cNvPr id="42" name="Cube 41"/>
              <p:cNvSpPr/>
              <p:nvPr/>
            </p:nvSpPr>
            <p:spPr>
              <a:xfrm>
                <a:off x="6858000" y="32766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4</a:t>
                </a:r>
                <a:endParaRPr lang="en-US" dirty="0"/>
              </a:p>
            </p:txBody>
          </p:sp>
          <p:sp>
            <p:nvSpPr>
              <p:cNvPr id="43" name="Cube 42"/>
              <p:cNvSpPr/>
              <p:nvPr/>
            </p:nvSpPr>
            <p:spPr>
              <a:xfrm>
                <a:off x="6858000" y="29718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3</a:t>
                </a:r>
                <a:endParaRPr lang="en-US" dirty="0"/>
              </a:p>
            </p:txBody>
          </p:sp>
          <p:sp>
            <p:nvSpPr>
              <p:cNvPr id="44" name="Cube 43"/>
              <p:cNvSpPr/>
              <p:nvPr/>
            </p:nvSpPr>
            <p:spPr>
              <a:xfrm>
                <a:off x="6858000" y="2667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2</a:t>
                </a:r>
                <a:endParaRPr lang="en-US" dirty="0"/>
              </a:p>
            </p:txBody>
          </p:sp>
          <p:sp>
            <p:nvSpPr>
              <p:cNvPr id="45" name="Cube 44"/>
              <p:cNvSpPr/>
              <p:nvPr/>
            </p:nvSpPr>
            <p:spPr>
              <a:xfrm>
                <a:off x="6858000" y="23622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a:t>
                </a:r>
                <a:endParaRPr lang="en-US" dirty="0"/>
              </a:p>
            </p:txBody>
          </p:sp>
          <p:sp>
            <p:nvSpPr>
              <p:cNvPr id="46" name="Cube 45"/>
              <p:cNvSpPr/>
              <p:nvPr/>
            </p:nvSpPr>
            <p:spPr>
              <a:xfrm>
                <a:off x="6858000" y="5105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15</a:t>
                </a:r>
                <a:endParaRPr lang="en-US" dirty="0"/>
              </a:p>
            </p:txBody>
          </p:sp>
          <p:sp>
            <p:nvSpPr>
              <p:cNvPr id="47" name="Cube 46"/>
              <p:cNvSpPr/>
              <p:nvPr/>
            </p:nvSpPr>
            <p:spPr>
              <a:xfrm>
                <a:off x="6858000" y="20574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0</a:t>
                </a:r>
                <a:endParaRPr lang="en-US" dirty="0"/>
              </a:p>
            </p:txBody>
          </p:sp>
          <p:grpSp>
            <p:nvGrpSpPr>
              <p:cNvPr id="10" name="Group 17"/>
              <p:cNvGrpSpPr/>
              <p:nvPr/>
            </p:nvGrpSpPr>
            <p:grpSpPr>
              <a:xfrm>
                <a:off x="7543800" y="4648200"/>
                <a:ext cx="76200" cy="381000"/>
                <a:chOff x="7543800" y="4648200"/>
                <a:chExt cx="76200" cy="381000"/>
              </a:xfrm>
            </p:grpSpPr>
            <p:sp>
              <p:nvSpPr>
                <p:cNvPr id="49" name="Flowchart: Connector 14"/>
                <p:cNvSpPr/>
                <p:nvPr/>
              </p:nvSpPr>
              <p:spPr>
                <a:xfrm>
                  <a:off x="7543800" y="46482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0" name="Flowchart: Connector 49"/>
                <p:cNvSpPr/>
                <p:nvPr/>
              </p:nvSpPr>
              <p:spPr>
                <a:xfrm>
                  <a:off x="7543800" y="48006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51" name="Flowchart: Connector 50"/>
                <p:cNvSpPr/>
                <p:nvPr/>
              </p:nvSpPr>
              <p:spPr>
                <a:xfrm>
                  <a:off x="7543800" y="49530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grpSp>
        <p:grpSp>
          <p:nvGrpSpPr>
            <p:cNvPr id="105" name="Group 104"/>
            <p:cNvGrpSpPr/>
            <p:nvPr/>
          </p:nvGrpSpPr>
          <p:grpSpPr>
            <a:xfrm>
              <a:off x="1962150" y="2905125"/>
              <a:ext cx="704850" cy="3048000"/>
              <a:chOff x="1962150" y="2905125"/>
              <a:chExt cx="704850" cy="3048000"/>
            </a:xfrm>
          </p:grpSpPr>
          <p:cxnSp>
            <p:nvCxnSpPr>
              <p:cNvPr id="85" name="Straight Arrow Connector 84"/>
              <p:cNvCxnSpPr>
                <a:stCxn id="33" idx="4"/>
                <a:endCxn id="47" idx="2"/>
              </p:cNvCxnSpPr>
              <p:nvPr/>
            </p:nvCxnSpPr>
            <p:spPr>
              <a:xfrm>
                <a:off x="1962150" y="29051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87" name="Straight Arrow Connector 86"/>
              <p:cNvCxnSpPr>
                <a:stCxn id="31" idx="4"/>
                <a:endCxn id="44" idx="2"/>
              </p:cNvCxnSpPr>
              <p:nvPr/>
            </p:nvCxnSpPr>
            <p:spPr>
              <a:xfrm>
                <a:off x="1962150" y="3209925"/>
                <a:ext cx="70485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89" name="Straight Arrow Connector 88"/>
              <p:cNvCxnSpPr>
                <a:stCxn id="30" idx="4"/>
                <a:endCxn id="42" idx="2"/>
              </p:cNvCxnSpPr>
              <p:nvPr/>
            </p:nvCxnSpPr>
            <p:spPr>
              <a:xfrm>
                <a:off x="1962150" y="3514725"/>
                <a:ext cx="704850" cy="609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1" name="Straight Arrow Connector 90"/>
              <p:cNvCxnSpPr>
                <a:stCxn id="29" idx="4"/>
                <a:endCxn id="40" idx="2"/>
              </p:cNvCxnSpPr>
              <p:nvPr/>
            </p:nvCxnSpPr>
            <p:spPr>
              <a:xfrm>
                <a:off x="1962150" y="3819525"/>
                <a:ext cx="70485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3" name="Straight Arrow Connector 92"/>
              <p:cNvCxnSpPr>
                <a:stCxn id="28" idx="4"/>
              </p:cNvCxnSpPr>
              <p:nvPr/>
            </p:nvCxnSpPr>
            <p:spPr>
              <a:xfrm>
                <a:off x="1962150" y="4124325"/>
                <a:ext cx="628650" cy="12096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8" name="Straight Arrow Connector 97"/>
              <p:cNvCxnSpPr>
                <a:stCxn id="27" idx="4"/>
                <a:endCxn id="47" idx="2"/>
              </p:cNvCxnSpPr>
              <p:nvPr/>
            </p:nvCxnSpPr>
            <p:spPr>
              <a:xfrm flipV="1">
                <a:off x="1962150" y="2905125"/>
                <a:ext cx="704850" cy="2133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0" name="Straight Arrow Connector 99"/>
              <p:cNvCxnSpPr>
                <a:stCxn id="26" idx="4"/>
                <a:endCxn id="44" idx="2"/>
              </p:cNvCxnSpPr>
              <p:nvPr/>
            </p:nvCxnSpPr>
            <p:spPr>
              <a:xfrm flipV="1">
                <a:off x="1962150" y="3514725"/>
                <a:ext cx="704850" cy="1828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2" name="Straight Arrow Connector 101"/>
              <p:cNvCxnSpPr>
                <a:stCxn id="25" idx="4"/>
                <a:endCxn id="42" idx="2"/>
              </p:cNvCxnSpPr>
              <p:nvPr/>
            </p:nvCxnSpPr>
            <p:spPr>
              <a:xfrm flipV="1">
                <a:off x="1962150" y="4124325"/>
                <a:ext cx="704850" cy="1524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4" name="Straight Arrow Connector 103"/>
              <p:cNvCxnSpPr>
                <a:stCxn id="32" idx="4"/>
                <a:endCxn id="40" idx="2"/>
              </p:cNvCxnSpPr>
              <p:nvPr/>
            </p:nvCxnSpPr>
            <p:spPr>
              <a:xfrm flipV="1">
                <a:off x="1962150" y="4733925"/>
                <a:ext cx="704850" cy="1219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grpSp>
      <p:grpSp>
        <p:nvGrpSpPr>
          <p:cNvPr id="166" name="Group 165"/>
          <p:cNvGrpSpPr/>
          <p:nvPr/>
        </p:nvGrpSpPr>
        <p:grpSpPr>
          <a:xfrm>
            <a:off x="4876800" y="2667000"/>
            <a:ext cx="3657600" cy="3429000"/>
            <a:chOff x="4876800" y="2667000"/>
            <a:chExt cx="3657600" cy="3429000"/>
          </a:xfrm>
        </p:grpSpPr>
        <p:grpSp>
          <p:nvGrpSpPr>
            <p:cNvPr id="13" name="Group 23"/>
            <p:cNvGrpSpPr/>
            <p:nvPr/>
          </p:nvGrpSpPr>
          <p:grpSpPr>
            <a:xfrm>
              <a:off x="4876800" y="2667000"/>
              <a:ext cx="1524000" cy="3429000"/>
              <a:chOff x="6858000" y="2057400"/>
              <a:chExt cx="1524000" cy="3429000"/>
            </a:xfrm>
          </p:grpSpPr>
          <p:sp>
            <p:nvSpPr>
              <p:cNvPr id="137" name="Cube 136"/>
              <p:cNvSpPr/>
              <p:nvPr/>
            </p:nvSpPr>
            <p:spPr>
              <a:xfrm>
                <a:off x="6858000" y="4191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7</a:t>
                </a:r>
                <a:endParaRPr lang="en-US" dirty="0"/>
              </a:p>
            </p:txBody>
          </p:sp>
          <p:sp>
            <p:nvSpPr>
              <p:cNvPr id="138" name="Cube 137"/>
              <p:cNvSpPr/>
              <p:nvPr/>
            </p:nvSpPr>
            <p:spPr>
              <a:xfrm>
                <a:off x="6858000" y="3886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6</a:t>
                </a:r>
                <a:endParaRPr lang="en-US" dirty="0"/>
              </a:p>
            </p:txBody>
          </p:sp>
          <p:sp>
            <p:nvSpPr>
              <p:cNvPr id="139" name="Cube 138"/>
              <p:cNvSpPr/>
              <p:nvPr/>
            </p:nvSpPr>
            <p:spPr>
              <a:xfrm>
                <a:off x="6858000" y="3581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5</a:t>
                </a:r>
                <a:endParaRPr lang="en-US" dirty="0"/>
              </a:p>
            </p:txBody>
          </p:sp>
          <p:sp>
            <p:nvSpPr>
              <p:cNvPr id="140" name="Cube 139"/>
              <p:cNvSpPr/>
              <p:nvPr/>
            </p:nvSpPr>
            <p:spPr>
              <a:xfrm>
                <a:off x="6858000" y="32766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4</a:t>
                </a:r>
                <a:endParaRPr lang="en-US" dirty="0"/>
              </a:p>
            </p:txBody>
          </p:sp>
          <p:sp>
            <p:nvSpPr>
              <p:cNvPr id="141" name="Cube 140"/>
              <p:cNvSpPr/>
              <p:nvPr/>
            </p:nvSpPr>
            <p:spPr>
              <a:xfrm>
                <a:off x="6858000" y="29718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3</a:t>
                </a:r>
                <a:endParaRPr lang="en-US" dirty="0"/>
              </a:p>
            </p:txBody>
          </p:sp>
          <p:sp>
            <p:nvSpPr>
              <p:cNvPr id="142" name="Cube 141"/>
              <p:cNvSpPr/>
              <p:nvPr/>
            </p:nvSpPr>
            <p:spPr>
              <a:xfrm>
                <a:off x="6858000" y="26670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2</a:t>
                </a:r>
                <a:endParaRPr lang="en-US" dirty="0"/>
              </a:p>
            </p:txBody>
          </p:sp>
          <p:sp>
            <p:nvSpPr>
              <p:cNvPr id="143" name="Cube 142"/>
              <p:cNvSpPr/>
              <p:nvPr/>
            </p:nvSpPr>
            <p:spPr>
              <a:xfrm>
                <a:off x="6858000" y="23622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a:t>
                </a:r>
                <a:endParaRPr lang="en-US" dirty="0"/>
              </a:p>
            </p:txBody>
          </p:sp>
          <p:sp>
            <p:nvSpPr>
              <p:cNvPr id="144" name="Cube 143"/>
              <p:cNvSpPr/>
              <p:nvPr/>
            </p:nvSpPr>
            <p:spPr>
              <a:xfrm>
                <a:off x="6858000" y="5105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15</a:t>
                </a:r>
                <a:endParaRPr lang="en-US" dirty="0"/>
              </a:p>
            </p:txBody>
          </p:sp>
          <p:sp>
            <p:nvSpPr>
              <p:cNvPr id="145" name="Cube 144"/>
              <p:cNvSpPr/>
              <p:nvPr/>
            </p:nvSpPr>
            <p:spPr>
              <a:xfrm>
                <a:off x="6858000" y="2057400"/>
                <a:ext cx="1524000" cy="381000"/>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sr-Latn-RS" dirty="0" smtClean="0"/>
                  <a:t>Nit 0</a:t>
                </a:r>
                <a:endParaRPr lang="en-US" dirty="0"/>
              </a:p>
            </p:txBody>
          </p:sp>
          <p:grpSp>
            <p:nvGrpSpPr>
              <p:cNvPr id="14" name="Group 17"/>
              <p:cNvGrpSpPr/>
              <p:nvPr/>
            </p:nvGrpSpPr>
            <p:grpSpPr>
              <a:xfrm>
                <a:off x="7543800" y="4648200"/>
                <a:ext cx="76200" cy="381000"/>
                <a:chOff x="7543800" y="4648200"/>
                <a:chExt cx="76200" cy="381000"/>
              </a:xfrm>
            </p:grpSpPr>
            <p:sp>
              <p:nvSpPr>
                <p:cNvPr id="147" name="Flowchart: Connector 14"/>
                <p:cNvSpPr/>
                <p:nvPr/>
              </p:nvSpPr>
              <p:spPr>
                <a:xfrm>
                  <a:off x="7543800" y="46482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48" name="Flowchart: Connector 147"/>
                <p:cNvSpPr/>
                <p:nvPr/>
              </p:nvSpPr>
              <p:spPr>
                <a:xfrm>
                  <a:off x="7543800" y="48006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149" name="Flowchart: Connector 36"/>
                <p:cNvSpPr/>
                <p:nvPr/>
              </p:nvSpPr>
              <p:spPr>
                <a:xfrm>
                  <a:off x="7543800" y="4953000"/>
                  <a:ext cx="76200" cy="76200"/>
                </a:xfrm>
                <a:prstGeom prst="flowChartConnector">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grpSp>
        </p:grpSp>
        <p:grpSp>
          <p:nvGrpSpPr>
            <p:cNvPr id="164" name="Group 163"/>
            <p:cNvGrpSpPr/>
            <p:nvPr/>
          </p:nvGrpSpPr>
          <p:grpSpPr>
            <a:xfrm>
              <a:off x="7010400" y="2667000"/>
              <a:ext cx="1524000" cy="3429000"/>
              <a:chOff x="7010400" y="2667000"/>
              <a:chExt cx="1524000" cy="3429000"/>
            </a:xfrm>
          </p:grpSpPr>
          <p:sp>
            <p:nvSpPr>
              <p:cNvPr id="124" name="Cube 123"/>
              <p:cNvSpPr/>
              <p:nvPr/>
            </p:nvSpPr>
            <p:spPr>
              <a:xfrm>
                <a:off x="7010400" y="48006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9</a:t>
                </a:r>
                <a:endParaRPr lang="en-US" dirty="0"/>
              </a:p>
            </p:txBody>
          </p:sp>
          <p:sp>
            <p:nvSpPr>
              <p:cNvPr id="125" name="Cube 124"/>
              <p:cNvSpPr/>
              <p:nvPr/>
            </p:nvSpPr>
            <p:spPr>
              <a:xfrm>
                <a:off x="7010400" y="44958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8</a:t>
                </a:r>
                <a:endParaRPr lang="en-US" dirty="0"/>
              </a:p>
            </p:txBody>
          </p:sp>
          <p:sp>
            <p:nvSpPr>
              <p:cNvPr id="126" name="Cube 125"/>
              <p:cNvSpPr/>
              <p:nvPr/>
            </p:nvSpPr>
            <p:spPr>
              <a:xfrm>
                <a:off x="7010400" y="4191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7</a:t>
                </a:r>
                <a:endParaRPr lang="en-US" dirty="0"/>
              </a:p>
            </p:txBody>
          </p:sp>
          <p:sp>
            <p:nvSpPr>
              <p:cNvPr id="129" name="Cube 128"/>
              <p:cNvSpPr/>
              <p:nvPr/>
            </p:nvSpPr>
            <p:spPr>
              <a:xfrm>
                <a:off x="7010400" y="32766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2</a:t>
                </a:r>
                <a:endParaRPr lang="en-US" dirty="0"/>
              </a:p>
            </p:txBody>
          </p:sp>
          <p:sp>
            <p:nvSpPr>
              <p:cNvPr id="130" name="Cube 129"/>
              <p:cNvSpPr/>
              <p:nvPr/>
            </p:nvSpPr>
            <p:spPr>
              <a:xfrm>
                <a:off x="7010400" y="29718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a:t>
                </a:r>
                <a:endParaRPr lang="en-US" dirty="0"/>
              </a:p>
            </p:txBody>
          </p:sp>
          <p:sp>
            <p:nvSpPr>
              <p:cNvPr id="131" name="Cube 130"/>
              <p:cNvSpPr/>
              <p:nvPr/>
            </p:nvSpPr>
            <p:spPr>
              <a:xfrm>
                <a:off x="7010400" y="5715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15</a:t>
                </a:r>
                <a:endParaRPr lang="en-US" dirty="0"/>
              </a:p>
            </p:txBody>
          </p:sp>
          <p:sp>
            <p:nvSpPr>
              <p:cNvPr id="132" name="Cube 131"/>
              <p:cNvSpPr/>
              <p:nvPr/>
            </p:nvSpPr>
            <p:spPr>
              <a:xfrm>
                <a:off x="7010400" y="2667000"/>
                <a:ext cx="1524000" cy="381000"/>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smtClean="0"/>
                  <a:t>B</a:t>
                </a:r>
                <a:r>
                  <a:rPr lang="sr-Latn-RS" dirty="0" smtClean="0"/>
                  <a:t>anka 0</a:t>
                </a:r>
                <a:endParaRPr lang="en-US" dirty="0"/>
              </a:p>
            </p:txBody>
          </p:sp>
          <p:grpSp>
            <p:nvGrpSpPr>
              <p:cNvPr id="16" name="Group 17"/>
              <p:cNvGrpSpPr/>
              <p:nvPr/>
            </p:nvGrpSpPr>
            <p:grpSpPr>
              <a:xfrm>
                <a:off x="7696200" y="5257800"/>
                <a:ext cx="76200" cy="381000"/>
                <a:chOff x="7543800" y="4648200"/>
                <a:chExt cx="76200" cy="381000"/>
              </a:xfrm>
            </p:grpSpPr>
            <p:sp>
              <p:nvSpPr>
                <p:cNvPr id="134" name="Flowchart: Connector 14"/>
                <p:cNvSpPr/>
                <p:nvPr/>
              </p:nvSpPr>
              <p:spPr>
                <a:xfrm>
                  <a:off x="7543800" y="46482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5" name="Flowchart: Connector 134"/>
                <p:cNvSpPr/>
                <p:nvPr/>
              </p:nvSpPr>
              <p:spPr>
                <a:xfrm>
                  <a:off x="7543800" y="48006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36" name="Flowchart: Connector 135"/>
                <p:cNvSpPr/>
                <p:nvPr/>
              </p:nvSpPr>
              <p:spPr>
                <a:xfrm>
                  <a:off x="7543800" y="49530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grpSp>
            <p:nvGrpSpPr>
              <p:cNvPr id="109" name="Group 17"/>
              <p:cNvGrpSpPr/>
              <p:nvPr/>
            </p:nvGrpSpPr>
            <p:grpSpPr>
              <a:xfrm>
                <a:off x="7696200" y="3733800"/>
                <a:ext cx="76200" cy="381000"/>
                <a:chOff x="7543800" y="4648200"/>
                <a:chExt cx="76200" cy="381000"/>
              </a:xfrm>
            </p:grpSpPr>
            <p:sp>
              <p:nvSpPr>
                <p:cNvPr id="110" name="Flowchart: Connector 14"/>
                <p:cNvSpPr/>
                <p:nvPr/>
              </p:nvSpPr>
              <p:spPr>
                <a:xfrm>
                  <a:off x="7543800" y="46482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1" name="Flowchart: Connector 110"/>
                <p:cNvSpPr/>
                <p:nvPr/>
              </p:nvSpPr>
              <p:spPr>
                <a:xfrm>
                  <a:off x="7543800" y="48006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12" name="Flowchart: Connector 111"/>
                <p:cNvSpPr/>
                <p:nvPr/>
              </p:nvSpPr>
              <p:spPr>
                <a:xfrm>
                  <a:off x="7543800" y="4953000"/>
                  <a:ext cx="76200" cy="76200"/>
                </a:xfrm>
                <a:prstGeom prst="flowChartConnector">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grpSp>
        </p:grpSp>
        <p:grpSp>
          <p:nvGrpSpPr>
            <p:cNvPr id="156" name="Group 155"/>
            <p:cNvGrpSpPr/>
            <p:nvPr/>
          </p:nvGrpSpPr>
          <p:grpSpPr>
            <a:xfrm>
              <a:off x="6305550" y="2905125"/>
              <a:ext cx="704850" cy="3048000"/>
              <a:chOff x="6305550" y="2905125"/>
              <a:chExt cx="704850" cy="3048000"/>
            </a:xfrm>
          </p:grpSpPr>
          <p:cxnSp>
            <p:nvCxnSpPr>
              <p:cNvPr id="108" name="Straight Arrow Connector 107"/>
              <p:cNvCxnSpPr>
                <a:stCxn id="145" idx="4"/>
                <a:endCxn id="132" idx="2"/>
              </p:cNvCxnSpPr>
              <p:nvPr/>
            </p:nvCxnSpPr>
            <p:spPr>
              <a:xfrm>
                <a:off x="6305550" y="2905125"/>
                <a:ext cx="70485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4" name="Straight Arrow Connector 113"/>
              <p:cNvCxnSpPr>
                <a:stCxn id="142" idx="4"/>
                <a:endCxn id="132" idx="2"/>
              </p:cNvCxnSpPr>
              <p:nvPr/>
            </p:nvCxnSpPr>
            <p:spPr>
              <a:xfrm flipV="1">
                <a:off x="6305550" y="2905125"/>
                <a:ext cx="704850" cy="609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6" name="Straight Arrow Connector 115"/>
              <p:cNvCxnSpPr>
                <a:stCxn id="140" idx="4"/>
                <a:endCxn id="132" idx="2"/>
              </p:cNvCxnSpPr>
              <p:nvPr/>
            </p:nvCxnSpPr>
            <p:spPr>
              <a:xfrm flipV="1">
                <a:off x="6305550" y="2905125"/>
                <a:ext cx="704850" cy="1219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8" name="Straight Arrow Connector 117"/>
              <p:cNvCxnSpPr>
                <a:stCxn id="138" idx="4"/>
                <a:endCxn id="132" idx="2"/>
              </p:cNvCxnSpPr>
              <p:nvPr/>
            </p:nvCxnSpPr>
            <p:spPr>
              <a:xfrm flipV="1">
                <a:off x="6305550" y="2905125"/>
                <a:ext cx="704850" cy="1828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0" name="Straight Arrow Connector 119"/>
              <p:cNvCxnSpPr>
                <a:stCxn id="143" idx="4"/>
                <a:endCxn id="125" idx="2"/>
              </p:cNvCxnSpPr>
              <p:nvPr/>
            </p:nvCxnSpPr>
            <p:spPr>
              <a:xfrm>
                <a:off x="6305550" y="3209925"/>
                <a:ext cx="704850" cy="1524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22" name="Straight Arrow Connector 121"/>
              <p:cNvCxnSpPr>
                <a:stCxn id="141" idx="4"/>
                <a:endCxn id="125" idx="2"/>
              </p:cNvCxnSpPr>
              <p:nvPr/>
            </p:nvCxnSpPr>
            <p:spPr>
              <a:xfrm>
                <a:off x="6305550" y="3819525"/>
                <a:ext cx="704850" cy="914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33" name="Straight Arrow Connector 132"/>
              <p:cNvCxnSpPr>
                <a:stCxn id="139" idx="4"/>
                <a:endCxn id="125" idx="2"/>
              </p:cNvCxnSpPr>
              <p:nvPr/>
            </p:nvCxnSpPr>
            <p:spPr>
              <a:xfrm>
                <a:off x="6305550" y="4429125"/>
                <a:ext cx="70485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0" name="Straight Arrow Connector 149"/>
              <p:cNvCxnSpPr>
                <a:stCxn id="137" idx="4"/>
                <a:endCxn id="125" idx="2"/>
              </p:cNvCxnSpPr>
              <p:nvPr/>
            </p:nvCxnSpPr>
            <p:spPr>
              <a:xfrm flipV="1">
                <a:off x="6305550" y="4733925"/>
                <a:ext cx="704850" cy="304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4" name="Straight Arrow Connector 153"/>
              <p:cNvCxnSpPr>
                <a:stCxn id="144" idx="4"/>
                <a:endCxn id="125" idx="2"/>
              </p:cNvCxnSpPr>
              <p:nvPr/>
            </p:nvCxnSpPr>
            <p:spPr>
              <a:xfrm flipV="1">
                <a:off x="6305550" y="4733925"/>
                <a:ext cx="704850" cy="12192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grpSp>
      <p:sp>
        <p:nvSpPr>
          <p:cNvPr id="160" name="TextBox 159"/>
          <p:cNvSpPr txBox="1"/>
          <p:nvPr/>
        </p:nvSpPr>
        <p:spPr>
          <a:xfrm>
            <a:off x="6712780" y="2664023"/>
            <a:ext cx="346570" cy="276999"/>
          </a:xfrm>
          <a:prstGeom prst="rect">
            <a:avLst/>
          </a:prstGeom>
          <a:noFill/>
        </p:spPr>
        <p:txBody>
          <a:bodyPr wrap="none" rtlCol="0">
            <a:spAutoFit/>
          </a:bodyPr>
          <a:lstStyle/>
          <a:p>
            <a:r>
              <a:rPr lang="sr-Latn-RS" sz="1200" dirty="0" smtClean="0"/>
              <a:t>x8</a:t>
            </a:r>
            <a:endParaRPr lang="en-US" sz="1200" dirty="0"/>
          </a:p>
        </p:txBody>
      </p:sp>
      <p:sp>
        <p:nvSpPr>
          <p:cNvPr id="162" name="TextBox 161"/>
          <p:cNvSpPr txBox="1"/>
          <p:nvPr/>
        </p:nvSpPr>
        <p:spPr>
          <a:xfrm>
            <a:off x="6740030" y="4980801"/>
            <a:ext cx="346570" cy="276999"/>
          </a:xfrm>
          <a:prstGeom prst="rect">
            <a:avLst/>
          </a:prstGeom>
          <a:noFill/>
        </p:spPr>
        <p:txBody>
          <a:bodyPr wrap="none" rtlCol="0">
            <a:spAutoFit/>
          </a:bodyPr>
          <a:lstStyle/>
          <a:p>
            <a:r>
              <a:rPr lang="sr-Latn-RS" sz="1200" dirty="0" smtClean="0"/>
              <a:t>x8</a:t>
            </a:r>
            <a:endParaRPr lang="en-US" sz="1200" dirty="0"/>
          </a:p>
        </p:txBody>
      </p:sp>
      <p:sp>
        <p:nvSpPr>
          <p:cNvPr id="3" name="Slide Number Placeholder 2"/>
          <p:cNvSpPr>
            <a:spLocks noGrp="1"/>
          </p:cNvSpPr>
          <p:nvPr>
            <p:ph type="sldNum" sz="quarter" idx="12"/>
          </p:nvPr>
        </p:nvSpPr>
        <p:spPr/>
        <p:txBody>
          <a:bodyPr/>
          <a:lstStyle/>
          <a:p>
            <a:fld id="{036081D1-8380-407A-ABF3-D12854566F9D}" type="slidenum">
              <a:rPr lang="en-US" smtClean="0"/>
              <a:pPr/>
              <a:t>15</a:t>
            </a:fld>
            <a:endParaRPr lang="en-US" dirty="0"/>
          </a:p>
        </p:txBody>
      </p:sp>
    </p:spTree>
    <p:extLst>
      <p:ext uri="{BB962C8B-B14F-4D97-AF65-F5344CB8AC3E}">
        <p14:creationId xmlns:p14="http://schemas.microsoft.com/office/powerpoint/2010/main" val="10681310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sr-Latn-RS" dirty="0" smtClean="0"/>
              <a:t>Transponovanje matrica i konflikti</a:t>
            </a:r>
            <a:endParaRPr lang="en-US" dirty="0"/>
          </a:p>
        </p:txBody>
      </p:sp>
      <p:sp>
        <p:nvSpPr>
          <p:cNvPr id="8" name="Content Placeholder 7"/>
          <p:cNvSpPr>
            <a:spLocks noGrp="1"/>
          </p:cNvSpPr>
          <p:nvPr>
            <p:ph idx="1"/>
          </p:nvPr>
        </p:nvSpPr>
        <p:spPr/>
        <p:txBody>
          <a:bodyPr/>
          <a:lstStyle/>
          <a:p>
            <a:r>
              <a:rPr lang="sr-Latn-RS" dirty="0" smtClean="0"/>
              <a:t>Konfliktni pristupi memorijskim bankama se dešavaju kada se deljivoj memori pristupa preko kolona (prilikom upisa tajla)</a:t>
            </a:r>
          </a:p>
          <a:p>
            <a:r>
              <a:rPr lang="sr-Latn-RS" dirty="0" smtClean="0"/>
              <a:t>Sve niti u okviru jednog warp-a pristupaju adresama koje imaju međusobni ofset jednak BLOCK_DIM elemenata </a:t>
            </a:r>
          </a:p>
          <a:p>
            <a:pPr lvl="1"/>
            <a:r>
              <a:rPr lang="sr-Latn-RS" dirty="0" smtClean="0"/>
              <a:t>BLOCK_DIM = 32</a:t>
            </a:r>
          </a:p>
          <a:p>
            <a:r>
              <a:rPr lang="sr-Latn-RS" dirty="0" smtClean="0"/>
              <a:t>Pošto imamo 32 banke, svi pristupi gađaju istu banku!</a:t>
            </a:r>
            <a:endParaRPr lang="en-US" dirty="0"/>
          </a:p>
        </p:txBody>
      </p:sp>
      <p:sp>
        <p:nvSpPr>
          <p:cNvPr id="2" name="Slide Number Placeholder 1"/>
          <p:cNvSpPr>
            <a:spLocks noGrp="1"/>
          </p:cNvSpPr>
          <p:nvPr>
            <p:ph type="sldNum" sz="quarter" idx="12"/>
          </p:nvPr>
        </p:nvSpPr>
        <p:spPr/>
        <p:txBody>
          <a:bodyPr/>
          <a:lstStyle/>
          <a:p>
            <a:fld id="{036081D1-8380-407A-ABF3-D12854566F9D}" type="slidenum">
              <a:rPr lang="en-US" smtClean="0"/>
              <a:pPr/>
              <a:t>16</a:t>
            </a:fld>
            <a:endParaRPr lang="en-US" dirty="0"/>
          </a:p>
        </p:txBody>
      </p:sp>
    </p:spTree>
    <p:extLst>
      <p:ext uri="{BB962C8B-B14F-4D97-AF65-F5344CB8AC3E}">
        <p14:creationId xmlns:p14="http://schemas.microsoft.com/office/powerpoint/2010/main" val="40918661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Rešenje</a:t>
            </a:r>
            <a:endParaRPr lang="en-US" dirty="0"/>
          </a:p>
        </p:txBody>
      </p:sp>
      <p:sp>
        <p:nvSpPr>
          <p:cNvPr id="3" name="Content Placeholder 2"/>
          <p:cNvSpPr>
            <a:spLocks noGrp="1"/>
          </p:cNvSpPr>
          <p:nvPr>
            <p:ph idx="1"/>
          </p:nvPr>
        </p:nvSpPr>
        <p:spPr>
          <a:xfrm>
            <a:off x="228600" y="1600200"/>
            <a:ext cx="8686800" cy="4876800"/>
          </a:xfrm>
        </p:spPr>
        <p:txBody>
          <a:bodyPr/>
          <a:lstStyle/>
          <a:p>
            <a:r>
              <a:rPr lang="sr-Latn-RS" dirty="0" smtClean="0"/>
              <a:t>Umesto da alociramo BLOCK_DIM X BLOCK_DIM tajl u deljivoj memoriji, alociramo BLOCK_DIM X (BLOCK_DIM+1) tajl</a:t>
            </a:r>
          </a:p>
          <a:p>
            <a:r>
              <a:rPr lang="sr-Latn-RS" dirty="0" smtClean="0"/>
              <a:t> Ova izmena je dovoljna da sve konkurentne niti pristupaju različitim bankama deljive memorije</a:t>
            </a:r>
          </a:p>
          <a:p>
            <a:pPr lvl="1"/>
            <a:r>
              <a:rPr lang="sr-Latn-RS" dirty="0" smtClean="0"/>
              <a:t>Kolone više nisu poravnate na 32</a:t>
            </a:r>
          </a:p>
          <a:p>
            <a:pPr lvl="1"/>
            <a:r>
              <a:rPr lang="sr-Latn-RS" dirty="0" smtClean="0"/>
              <a:t>Nikakve dodatne izmene u kodu nisu potrebne</a:t>
            </a:r>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17</a:t>
            </a:fld>
            <a:endParaRPr lang="en-US" dirty="0"/>
          </a:p>
        </p:txBody>
      </p:sp>
    </p:spTree>
    <p:extLst>
      <p:ext uri="{BB962C8B-B14F-4D97-AF65-F5344CB8AC3E}">
        <p14:creationId xmlns:p14="http://schemas.microsoft.com/office/powerpoint/2010/main" val="21268670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Optimizovano transponovanje matrica - 2</a:t>
            </a:r>
            <a:endParaRPr lang="en-US" dirty="0"/>
          </a:p>
        </p:txBody>
      </p:sp>
      <p:sp>
        <p:nvSpPr>
          <p:cNvPr id="3" name="Content Placeholder 2"/>
          <p:cNvSpPr>
            <a:spLocks noGrp="1"/>
          </p:cNvSpPr>
          <p:nvPr>
            <p:ph idx="1"/>
          </p:nvPr>
        </p:nvSpPr>
        <p:spPr/>
        <p:txBody>
          <a:bodyPr>
            <a:noAutofit/>
          </a:bodyPr>
          <a:lstStyle/>
          <a:p>
            <a:pPr marL="0" indent="0">
              <a:buNone/>
            </a:pPr>
            <a:r>
              <a:rPr lang="en-US" sz="1600" dirty="0"/>
              <a:t>__global__ void transpose(float *</a:t>
            </a:r>
            <a:r>
              <a:rPr lang="en-US" sz="1600" dirty="0" err="1"/>
              <a:t>odata</a:t>
            </a:r>
            <a:r>
              <a:rPr lang="en-US" sz="1600" dirty="0"/>
              <a:t>, float *</a:t>
            </a:r>
            <a:r>
              <a:rPr lang="en-US" sz="1600" dirty="0" err="1" smtClean="0"/>
              <a:t>idata</a:t>
            </a:r>
            <a:r>
              <a:rPr lang="en-US" sz="1600" dirty="0" smtClean="0"/>
              <a:t>,</a:t>
            </a:r>
            <a:r>
              <a:rPr lang="sr-Latn-RS" sz="1600" dirty="0" smtClean="0"/>
              <a:t> </a:t>
            </a:r>
            <a:r>
              <a:rPr lang="en-US" sz="1600" dirty="0" err="1" smtClean="0"/>
              <a:t>int</a:t>
            </a:r>
            <a:r>
              <a:rPr lang="en-US" sz="1600" dirty="0" smtClean="0"/>
              <a:t> </a:t>
            </a:r>
            <a:r>
              <a:rPr lang="en-US" sz="1600" dirty="0"/>
              <a:t>width, </a:t>
            </a:r>
            <a:r>
              <a:rPr lang="en-US" sz="1600" dirty="0" err="1"/>
              <a:t>int</a:t>
            </a:r>
            <a:r>
              <a:rPr lang="en-US" sz="1600" dirty="0"/>
              <a:t> height)</a:t>
            </a:r>
          </a:p>
          <a:p>
            <a:pPr marL="0" indent="0">
              <a:buNone/>
            </a:pPr>
            <a:r>
              <a:rPr lang="en-US" sz="1600" dirty="0"/>
              <a:t>{</a:t>
            </a:r>
          </a:p>
          <a:p>
            <a:pPr marL="0" indent="0">
              <a:buNone/>
            </a:pPr>
            <a:r>
              <a:rPr lang="en-US" sz="1600" dirty="0"/>
              <a:t> </a:t>
            </a:r>
            <a:r>
              <a:rPr lang="sr-Latn-RS" sz="1600" dirty="0" smtClean="0"/>
              <a:t>	</a:t>
            </a:r>
            <a:r>
              <a:rPr lang="en-US" sz="1600" b="1" dirty="0" smtClean="0">
                <a:solidFill>
                  <a:schemeClr val="accent1"/>
                </a:solidFill>
              </a:rPr>
              <a:t>__</a:t>
            </a:r>
            <a:r>
              <a:rPr lang="en-US" sz="1600" b="1" dirty="0">
                <a:solidFill>
                  <a:schemeClr val="accent1"/>
                </a:solidFill>
              </a:rPr>
              <a:t>shared__ float block[BLOCK_DIM][</a:t>
            </a:r>
            <a:r>
              <a:rPr lang="en-US" sz="1600" b="1" dirty="0" smtClean="0">
                <a:solidFill>
                  <a:schemeClr val="accent1"/>
                </a:solidFill>
              </a:rPr>
              <a:t>BLOCK_DIM</a:t>
            </a:r>
            <a:r>
              <a:rPr lang="sr-Latn-RS" sz="1600" b="1" dirty="0" smtClean="0">
                <a:solidFill>
                  <a:schemeClr val="accent1"/>
                </a:solidFill>
              </a:rPr>
              <a:t>+1</a:t>
            </a:r>
            <a:r>
              <a:rPr lang="en-US" sz="1600" b="1" dirty="0" smtClean="0">
                <a:solidFill>
                  <a:schemeClr val="accent1"/>
                </a:solidFill>
              </a:rPr>
              <a:t>]</a:t>
            </a:r>
            <a:r>
              <a:rPr lang="en-US" sz="1600" dirty="0" smtClean="0">
                <a:solidFill>
                  <a:schemeClr val="accent1"/>
                </a:solidFill>
              </a:rPr>
              <a:t>;</a:t>
            </a:r>
            <a:endParaRPr lang="en-US" sz="1600" dirty="0">
              <a:solidFill>
                <a:schemeClr val="accent1"/>
              </a:solidFill>
            </a:endParaRPr>
          </a:p>
          <a:p>
            <a:pPr marL="0" indent="0">
              <a:buNone/>
            </a:pPr>
            <a:r>
              <a:rPr lang="en-US" sz="1600" dirty="0"/>
              <a:t> </a:t>
            </a:r>
            <a:r>
              <a:rPr lang="sr-Latn-RS" sz="1600" dirty="0" smtClean="0"/>
              <a:t>	</a:t>
            </a:r>
            <a:r>
              <a:rPr lang="en-US" sz="1600" dirty="0" smtClean="0"/>
              <a:t>unsigned </a:t>
            </a:r>
            <a:r>
              <a:rPr lang="en-US" sz="1600" dirty="0" err="1"/>
              <a:t>int</a:t>
            </a:r>
            <a:r>
              <a:rPr lang="en-US" sz="1600" dirty="0"/>
              <a:t> </a:t>
            </a:r>
            <a:r>
              <a:rPr lang="en-US" sz="1600" dirty="0" err="1"/>
              <a:t>xIndex</a:t>
            </a:r>
            <a:r>
              <a:rPr lang="en-US" sz="1600" dirty="0"/>
              <a:t>, </a:t>
            </a:r>
            <a:r>
              <a:rPr lang="en-US" sz="1600" dirty="0" err="1"/>
              <a:t>yIndex</a:t>
            </a:r>
            <a:r>
              <a:rPr lang="en-US" sz="1600" dirty="0"/>
              <a:t>, </a:t>
            </a:r>
            <a:r>
              <a:rPr lang="en-US" sz="1600" dirty="0" err="1"/>
              <a:t>index_in</a:t>
            </a:r>
            <a:r>
              <a:rPr lang="en-US" sz="1600" dirty="0"/>
              <a:t>, </a:t>
            </a:r>
            <a:r>
              <a:rPr lang="en-US" sz="1600" dirty="0" err="1"/>
              <a:t>index_out</a:t>
            </a:r>
            <a:r>
              <a:rPr lang="en-US" sz="1600" dirty="0"/>
              <a:t>;</a:t>
            </a:r>
          </a:p>
          <a:p>
            <a:pPr marL="0" indent="0">
              <a:buNone/>
            </a:pPr>
            <a:endParaRPr lang="en-US" sz="1600" dirty="0"/>
          </a:p>
          <a:p>
            <a:pPr marL="0" indent="0">
              <a:buNone/>
            </a:pPr>
            <a:r>
              <a:rPr lang="en-US" sz="1600" dirty="0"/>
              <a:t> </a:t>
            </a:r>
            <a:r>
              <a:rPr lang="sr-Latn-RS" sz="1600" dirty="0" smtClean="0"/>
              <a:t>	</a:t>
            </a:r>
            <a:r>
              <a:rPr lang="en-US" sz="1600" dirty="0" smtClean="0"/>
              <a:t>/* </a:t>
            </a:r>
            <a:r>
              <a:rPr lang="en-US" sz="1600" dirty="0"/>
              <a:t>read the matrix tile into shared memory */</a:t>
            </a:r>
          </a:p>
          <a:p>
            <a:pPr marL="0" indent="0">
              <a:buNone/>
            </a:pPr>
            <a:r>
              <a:rPr lang="en-US" sz="1600" dirty="0"/>
              <a:t> </a:t>
            </a:r>
            <a:r>
              <a:rPr lang="sr-Latn-RS" sz="1600" dirty="0" smtClean="0"/>
              <a:t>	</a:t>
            </a:r>
            <a:r>
              <a:rPr lang="en-US" sz="1600" dirty="0" err="1" smtClean="0"/>
              <a:t>xIndex</a:t>
            </a:r>
            <a:r>
              <a:rPr lang="en-US" sz="1600" dirty="0" smtClean="0"/>
              <a:t> </a:t>
            </a:r>
            <a:r>
              <a:rPr lang="en-US" sz="1600" dirty="0"/>
              <a:t>= </a:t>
            </a:r>
            <a:r>
              <a:rPr lang="en-US" sz="1600" dirty="0" err="1"/>
              <a:t>blockIdx.x</a:t>
            </a:r>
            <a:r>
              <a:rPr lang="en-US" sz="1600" dirty="0"/>
              <a:t> * BLOCK_DIM + </a:t>
            </a:r>
            <a:r>
              <a:rPr lang="en-US" sz="1600" dirty="0" err="1"/>
              <a:t>threadIdx.x</a:t>
            </a:r>
            <a:r>
              <a:rPr lang="en-US" sz="1600" dirty="0"/>
              <a:t>;</a:t>
            </a:r>
          </a:p>
          <a:p>
            <a:pPr marL="0" indent="0">
              <a:buNone/>
            </a:pPr>
            <a:r>
              <a:rPr lang="en-US" sz="1600" dirty="0"/>
              <a:t> </a:t>
            </a:r>
            <a:r>
              <a:rPr lang="sr-Latn-RS" sz="1600" dirty="0" smtClean="0"/>
              <a:t>	</a:t>
            </a:r>
            <a:r>
              <a:rPr lang="en-US" sz="1600" dirty="0" err="1" smtClean="0"/>
              <a:t>yIndex</a:t>
            </a:r>
            <a:r>
              <a:rPr lang="en-US" sz="1600" dirty="0" smtClean="0"/>
              <a:t> </a:t>
            </a:r>
            <a:r>
              <a:rPr lang="en-US" sz="1600" dirty="0"/>
              <a:t>= </a:t>
            </a:r>
            <a:r>
              <a:rPr lang="en-US" sz="1600" dirty="0" err="1"/>
              <a:t>blockIdx.y</a:t>
            </a:r>
            <a:r>
              <a:rPr lang="en-US" sz="1600" dirty="0"/>
              <a:t> * BLOCK_DIM + </a:t>
            </a:r>
            <a:r>
              <a:rPr lang="en-US" sz="1600" dirty="0" err="1"/>
              <a:t>threadIdx.y</a:t>
            </a:r>
            <a:r>
              <a:rPr lang="en-US" sz="1600" dirty="0" smtClean="0"/>
              <a:t>;</a:t>
            </a:r>
            <a:endParaRPr lang="sr-Latn-RS" sz="1600" dirty="0" smtClean="0"/>
          </a:p>
          <a:p>
            <a:pPr marL="0" indent="0">
              <a:buNone/>
            </a:pPr>
            <a:endParaRPr lang="en-US" sz="1600" dirty="0"/>
          </a:p>
          <a:p>
            <a:pPr marL="0" indent="0">
              <a:buNone/>
            </a:pPr>
            <a:r>
              <a:rPr lang="en-US" sz="1600" dirty="0"/>
              <a:t> </a:t>
            </a:r>
            <a:r>
              <a:rPr lang="sr-Latn-RS" sz="1600" dirty="0" smtClean="0"/>
              <a:t>	</a:t>
            </a:r>
            <a:r>
              <a:rPr lang="en-US" sz="1600" dirty="0" smtClean="0"/>
              <a:t>if </a:t>
            </a:r>
            <a:r>
              <a:rPr lang="en-US" sz="1600" dirty="0"/>
              <a:t>((</a:t>
            </a:r>
            <a:r>
              <a:rPr lang="en-US" sz="1600" dirty="0" err="1"/>
              <a:t>xIndex</a:t>
            </a:r>
            <a:r>
              <a:rPr lang="en-US" sz="1600" dirty="0"/>
              <a:t> &lt; width) &amp;&amp; (</a:t>
            </a:r>
            <a:r>
              <a:rPr lang="en-US" sz="1600" dirty="0" err="1"/>
              <a:t>yIndex</a:t>
            </a:r>
            <a:r>
              <a:rPr lang="en-US" sz="1600" dirty="0"/>
              <a:t> &lt; height))</a:t>
            </a:r>
          </a:p>
          <a:p>
            <a:pPr marL="0" indent="0">
              <a:buNone/>
            </a:pPr>
            <a:r>
              <a:rPr lang="en-US" sz="1600" dirty="0"/>
              <a:t> </a:t>
            </a:r>
            <a:r>
              <a:rPr lang="sr-Latn-RS" sz="1600" dirty="0" smtClean="0"/>
              <a:t>	</a:t>
            </a:r>
            <a:r>
              <a:rPr lang="en-US" sz="1600" dirty="0" smtClean="0"/>
              <a:t>{</a:t>
            </a:r>
            <a:endParaRPr lang="en-US" sz="1600" dirty="0"/>
          </a:p>
          <a:p>
            <a:pPr marL="0" indent="0">
              <a:buNone/>
            </a:pPr>
            <a:r>
              <a:rPr lang="sr-Latn-RS" sz="1600" dirty="0" smtClean="0"/>
              <a:t>		</a:t>
            </a:r>
            <a:r>
              <a:rPr lang="en-US" sz="1600" dirty="0" err="1" smtClean="0"/>
              <a:t>index_in</a:t>
            </a:r>
            <a:r>
              <a:rPr lang="en-US" sz="1600" dirty="0" smtClean="0"/>
              <a:t> </a:t>
            </a:r>
            <a:r>
              <a:rPr lang="en-US" sz="1600" dirty="0"/>
              <a:t>= </a:t>
            </a:r>
            <a:r>
              <a:rPr lang="en-US" sz="1600" dirty="0" err="1"/>
              <a:t>yIndex</a:t>
            </a:r>
            <a:r>
              <a:rPr lang="en-US" sz="1600" dirty="0"/>
              <a:t> * width + </a:t>
            </a:r>
            <a:r>
              <a:rPr lang="en-US" sz="1600" dirty="0" err="1"/>
              <a:t>xIndex</a:t>
            </a:r>
            <a:r>
              <a:rPr lang="en-US" sz="1600" dirty="0"/>
              <a:t>;</a:t>
            </a:r>
          </a:p>
          <a:p>
            <a:pPr marL="0" indent="0">
              <a:buNone/>
            </a:pPr>
            <a:r>
              <a:rPr lang="en-US" sz="1600" dirty="0"/>
              <a:t> </a:t>
            </a:r>
            <a:r>
              <a:rPr lang="sr-Latn-RS" sz="1600" dirty="0" smtClean="0"/>
              <a:t>		</a:t>
            </a:r>
            <a:r>
              <a:rPr lang="en-US" sz="1600" dirty="0" smtClean="0"/>
              <a:t>block[</a:t>
            </a:r>
            <a:r>
              <a:rPr lang="en-US" sz="1600" dirty="0" err="1" smtClean="0"/>
              <a:t>threadIdx.y</a:t>
            </a:r>
            <a:r>
              <a:rPr lang="en-US" sz="1600" dirty="0"/>
              <a:t>][</a:t>
            </a:r>
            <a:r>
              <a:rPr lang="en-US" sz="1600" dirty="0" err="1"/>
              <a:t>threadIdx.x</a:t>
            </a:r>
            <a:r>
              <a:rPr lang="en-US" sz="1600" dirty="0"/>
              <a:t>] = </a:t>
            </a:r>
            <a:r>
              <a:rPr lang="en-US" sz="1600" dirty="0" err="1"/>
              <a:t>idata</a:t>
            </a:r>
            <a:r>
              <a:rPr lang="en-US" sz="1600" dirty="0"/>
              <a:t>[</a:t>
            </a:r>
            <a:r>
              <a:rPr lang="en-US" sz="1600" dirty="0" err="1"/>
              <a:t>index_in</a:t>
            </a:r>
            <a:r>
              <a:rPr lang="en-US" sz="1600" dirty="0"/>
              <a:t>];</a:t>
            </a:r>
          </a:p>
          <a:p>
            <a:pPr marL="0" indent="0">
              <a:buNone/>
            </a:pPr>
            <a:r>
              <a:rPr lang="en-US" sz="1600" dirty="0"/>
              <a:t> </a:t>
            </a:r>
            <a:r>
              <a:rPr lang="sr-Latn-RS" sz="1600" dirty="0" smtClean="0"/>
              <a:t>	</a:t>
            </a:r>
            <a:r>
              <a:rPr lang="en-US" sz="1600" dirty="0" smtClean="0"/>
              <a:t>}</a:t>
            </a:r>
            <a:endParaRPr lang="sr-Latn-RS" sz="1600" dirty="0" smtClean="0"/>
          </a:p>
          <a:p>
            <a:pPr marL="0" indent="0">
              <a:buNone/>
            </a:pPr>
            <a:endParaRPr lang="en-US" sz="1600" dirty="0"/>
          </a:p>
          <a:p>
            <a:pPr marL="0" indent="0">
              <a:buNone/>
            </a:pPr>
            <a:r>
              <a:rPr lang="en-US" sz="1600" dirty="0"/>
              <a:t> </a:t>
            </a:r>
            <a:r>
              <a:rPr lang="sr-Latn-RS" sz="1600" dirty="0" smtClean="0"/>
              <a:t>	</a:t>
            </a:r>
            <a:r>
              <a:rPr lang="en-US" sz="1600" dirty="0" smtClean="0"/>
              <a:t>__</a:t>
            </a:r>
            <a:r>
              <a:rPr lang="en-US" sz="1600" dirty="0" err="1"/>
              <a:t>syncthreads</a:t>
            </a:r>
            <a:r>
              <a:rPr lang="en-US" sz="1600" dirty="0" smtClean="0"/>
              <a:t>();</a:t>
            </a:r>
            <a:endParaRPr lang="sr-Latn-RS" sz="1600" dirty="0" smtClean="0"/>
          </a:p>
          <a:p>
            <a:pPr marL="0" indent="0">
              <a:buNone/>
            </a:pPr>
            <a:r>
              <a:rPr lang="sr-Latn-RS" sz="1600" dirty="0" smtClean="0"/>
              <a:t>***</a:t>
            </a:r>
          </a:p>
          <a:p>
            <a:pPr marL="0" indent="0">
              <a:buNone/>
            </a:pPr>
            <a:endParaRPr lang="en-US" sz="1600" dirty="0"/>
          </a:p>
          <a:p>
            <a:pPr marL="0" indent="0">
              <a:buNone/>
            </a:pPr>
            <a:r>
              <a:rPr lang="en-US" sz="1600" dirty="0"/>
              <a:t> </a:t>
            </a:r>
            <a:r>
              <a:rPr lang="sr-Latn-RS" sz="1600" dirty="0" smtClean="0"/>
              <a:t>	</a:t>
            </a:r>
            <a:endParaRPr lang="en-US" sz="1600" dirty="0"/>
          </a:p>
        </p:txBody>
      </p:sp>
      <p:sp>
        <p:nvSpPr>
          <p:cNvPr id="4" name="Flowchart: Punched Tape 3"/>
          <p:cNvSpPr/>
          <p:nvPr/>
        </p:nvSpPr>
        <p:spPr>
          <a:xfrm>
            <a:off x="6486769" y="2438400"/>
            <a:ext cx="2209800" cy="8382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dirty="0" smtClean="0"/>
              <a:t>BLOCK_DIM = 32</a:t>
            </a:r>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18</a:t>
            </a:fld>
            <a:endParaRPr lang="en-US" dirty="0"/>
          </a:p>
        </p:txBody>
      </p:sp>
    </p:spTree>
    <p:extLst>
      <p:ext uri="{BB962C8B-B14F-4D97-AF65-F5344CB8AC3E}">
        <p14:creationId xmlns:p14="http://schemas.microsoft.com/office/powerpoint/2010/main" val="26865827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Optimizovano transponovanje matrica</a:t>
            </a:r>
            <a:endParaRPr lang="en-US" dirty="0"/>
          </a:p>
        </p:txBody>
      </p:sp>
      <p:sp>
        <p:nvSpPr>
          <p:cNvPr id="3" name="Content Placeholder 2"/>
          <p:cNvSpPr>
            <a:spLocks noGrp="1"/>
          </p:cNvSpPr>
          <p:nvPr>
            <p:ph idx="1"/>
          </p:nvPr>
        </p:nvSpPr>
        <p:spPr/>
        <p:txBody>
          <a:bodyPr>
            <a:noAutofit/>
          </a:bodyPr>
          <a:lstStyle/>
          <a:p>
            <a:pPr marL="0" indent="0">
              <a:buNone/>
            </a:pPr>
            <a:r>
              <a:rPr lang="sr-Latn-RS" sz="1600" dirty="0" smtClean="0"/>
              <a:t>***</a:t>
            </a:r>
          </a:p>
          <a:p>
            <a:pPr marL="0" indent="0">
              <a:buNone/>
            </a:pPr>
            <a:endParaRPr lang="sr-Latn-RS" sz="1600" dirty="0"/>
          </a:p>
          <a:p>
            <a:pPr marL="0" indent="0">
              <a:buNone/>
            </a:pPr>
            <a:r>
              <a:rPr lang="sr-Latn-RS" sz="1600" dirty="0" smtClean="0"/>
              <a:t>	</a:t>
            </a:r>
            <a:r>
              <a:rPr lang="en-US" sz="1600" dirty="0" smtClean="0"/>
              <a:t>/* </a:t>
            </a:r>
            <a:r>
              <a:rPr lang="en-US" sz="1600" dirty="0"/>
              <a:t>write the transposed matrix tile to global memory */</a:t>
            </a:r>
          </a:p>
          <a:p>
            <a:pPr marL="274320" lvl="1" indent="0">
              <a:buNone/>
            </a:pPr>
            <a:r>
              <a:rPr lang="sr-Latn-RS" sz="1600" dirty="0" smtClean="0"/>
              <a:t>	</a:t>
            </a:r>
            <a:r>
              <a:rPr lang="en-US" sz="1600" dirty="0" err="1" smtClean="0"/>
              <a:t>xIndex</a:t>
            </a:r>
            <a:r>
              <a:rPr lang="en-US" sz="1600" dirty="0" smtClean="0"/>
              <a:t> </a:t>
            </a:r>
            <a:r>
              <a:rPr lang="en-US" sz="1600" dirty="0"/>
              <a:t>= </a:t>
            </a:r>
            <a:r>
              <a:rPr lang="en-US" sz="1600" dirty="0" err="1"/>
              <a:t>blockIdx.y</a:t>
            </a:r>
            <a:r>
              <a:rPr lang="en-US" sz="1600" dirty="0"/>
              <a:t> * BLOCK_DIM + </a:t>
            </a:r>
            <a:r>
              <a:rPr lang="en-US" sz="1600" dirty="0" err="1"/>
              <a:t>threadIdx.x</a:t>
            </a:r>
            <a:r>
              <a:rPr lang="en-US" sz="1600" dirty="0"/>
              <a:t>;</a:t>
            </a:r>
          </a:p>
          <a:p>
            <a:pPr marL="274320" lvl="1" indent="0">
              <a:buNone/>
            </a:pPr>
            <a:r>
              <a:rPr lang="en-US" sz="1600" dirty="0"/>
              <a:t> </a:t>
            </a:r>
            <a:r>
              <a:rPr lang="sr-Latn-RS" sz="1600" dirty="0" smtClean="0"/>
              <a:t>	</a:t>
            </a:r>
            <a:r>
              <a:rPr lang="en-US" sz="1600" dirty="0" err="1" smtClean="0"/>
              <a:t>yIndex</a:t>
            </a:r>
            <a:r>
              <a:rPr lang="en-US" sz="1600" dirty="0" smtClean="0"/>
              <a:t> </a:t>
            </a:r>
            <a:r>
              <a:rPr lang="en-US" sz="1600" dirty="0"/>
              <a:t>= </a:t>
            </a:r>
            <a:r>
              <a:rPr lang="en-US" sz="1600" dirty="0" err="1"/>
              <a:t>blockIdx.x</a:t>
            </a:r>
            <a:r>
              <a:rPr lang="en-US" sz="1600" dirty="0"/>
              <a:t> * BLOCK_DIM + </a:t>
            </a:r>
            <a:r>
              <a:rPr lang="en-US" sz="1600" dirty="0" err="1"/>
              <a:t>threadIdx.y</a:t>
            </a:r>
            <a:r>
              <a:rPr lang="en-US" sz="1600" dirty="0"/>
              <a:t>;</a:t>
            </a:r>
          </a:p>
          <a:p>
            <a:pPr marL="0" indent="0">
              <a:buNone/>
            </a:pPr>
            <a:r>
              <a:rPr lang="en-US" sz="1600" dirty="0"/>
              <a:t> </a:t>
            </a:r>
            <a:endParaRPr lang="sr-Latn-RS" sz="1600" dirty="0" smtClean="0"/>
          </a:p>
          <a:p>
            <a:pPr marL="0" indent="0">
              <a:buNone/>
            </a:pPr>
            <a:r>
              <a:rPr lang="sr-Latn-RS" sz="1600" dirty="0"/>
              <a:t>	</a:t>
            </a:r>
            <a:r>
              <a:rPr lang="en-US" sz="1600" dirty="0" smtClean="0"/>
              <a:t>if </a:t>
            </a:r>
            <a:r>
              <a:rPr lang="en-US" sz="1600" dirty="0"/>
              <a:t>((</a:t>
            </a:r>
            <a:r>
              <a:rPr lang="en-US" sz="1600" dirty="0" err="1"/>
              <a:t>xIndex</a:t>
            </a:r>
            <a:r>
              <a:rPr lang="en-US" sz="1600" dirty="0"/>
              <a:t> &lt; height) &amp;&amp; (</a:t>
            </a:r>
            <a:r>
              <a:rPr lang="en-US" sz="1600" dirty="0" err="1"/>
              <a:t>yIndex</a:t>
            </a:r>
            <a:r>
              <a:rPr lang="en-US" sz="1600" dirty="0"/>
              <a:t> &lt; width))</a:t>
            </a:r>
          </a:p>
          <a:p>
            <a:pPr marL="0" indent="0">
              <a:buNone/>
            </a:pPr>
            <a:r>
              <a:rPr lang="sr-Latn-RS" sz="1600" dirty="0" smtClean="0"/>
              <a:t>	</a:t>
            </a:r>
            <a:r>
              <a:rPr lang="en-US" sz="1600" dirty="0" smtClean="0"/>
              <a:t>{</a:t>
            </a:r>
            <a:endParaRPr lang="en-US" sz="1600" dirty="0"/>
          </a:p>
          <a:p>
            <a:pPr marL="0" indent="0">
              <a:buNone/>
            </a:pPr>
            <a:r>
              <a:rPr lang="en-US" sz="1600" dirty="0"/>
              <a:t> </a:t>
            </a:r>
            <a:r>
              <a:rPr lang="sr-Latn-RS" sz="1600" dirty="0" smtClean="0"/>
              <a:t>		</a:t>
            </a:r>
            <a:r>
              <a:rPr lang="en-US" sz="1600" dirty="0" err="1" smtClean="0"/>
              <a:t>index_out</a:t>
            </a:r>
            <a:r>
              <a:rPr lang="en-US" sz="1600" dirty="0" smtClean="0"/>
              <a:t> </a:t>
            </a:r>
            <a:r>
              <a:rPr lang="en-US" sz="1600" dirty="0"/>
              <a:t>= </a:t>
            </a:r>
            <a:r>
              <a:rPr lang="en-US" sz="1600" dirty="0" err="1"/>
              <a:t>yIndex</a:t>
            </a:r>
            <a:r>
              <a:rPr lang="en-US" sz="1600" dirty="0"/>
              <a:t> * height + </a:t>
            </a:r>
            <a:r>
              <a:rPr lang="en-US" sz="1600" dirty="0" err="1"/>
              <a:t>xIndex</a:t>
            </a:r>
            <a:r>
              <a:rPr lang="en-US" sz="1600" dirty="0"/>
              <a:t>;</a:t>
            </a:r>
          </a:p>
          <a:p>
            <a:pPr marL="0" indent="0">
              <a:buNone/>
            </a:pPr>
            <a:r>
              <a:rPr lang="en-US" sz="1600" dirty="0"/>
              <a:t> </a:t>
            </a:r>
            <a:r>
              <a:rPr lang="sr-Latn-RS" sz="1600" dirty="0" smtClean="0"/>
              <a:t>		</a:t>
            </a:r>
            <a:r>
              <a:rPr lang="en-US" sz="1600" dirty="0" err="1" smtClean="0"/>
              <a:t>odata</a:t>
            </a:r>
            <a:r>
              <a:rPr lang="en-US" sz="1600" dirty="0" smtClean="0"/>
              <a:t>[</a:t>
            </a:r>
            <a:r>
              <a:rPr lang="en-US" sz="1600" dirty="0" err="1" smtClean="0"/>
              <a:t>index_out</a:t>
            </a:r>
            <a:r>
              <a:rPr lang="en-US" sz="1600" dirty="0"/>
              <a:t>] = block[</a:t>
            </a:r>
            <a:r>
              <a:rPr lang="en-US" sz="1600" dirty="0" err="1"/>
              <a:t>threadIdx.x</a:t>
            </a:r>
            <a:r>
              <a:rPr lang="en-US" sz="1600" dirty="0"/>
              <a:t>][</a:t>
            </a:r>
            <a:r>
              <a:rPr lang="en-US" sz="1600" dirty="0" err="1"/>
              <a:t>threadIdx.y</a:t>
            </a:r>
            <a:r>
              <a:rPr lang="en-US" sz="1600" dirty="0"/>
              <a:t>];</a:t>
            </a:r>
          </a:p>
          <a:p>
            <a:pPr marL="0" indent="0">
              <a:buNone/>
            </a:pPr>
            <a:r>
              <a:rPr lang="en-US" sz="1600" dirty="0"/>
              <a:t> </a:t>
            </a:r>
            <a:r>
              <a:rPr lang="sr-Latn-RS" sz="1600" dirty="0" smtClean="0"/>
              <a:t>	</a:t>
            </a:r>
            <a:r>
              <a:rPr lang="en-US" sz="1600" dirty="0" smtClean="0"/>
              <a:t>}</a:t>
            </a:r>
            <a:endParaRPr lang="en-US" sz="1600" dirty="0"/>
          </a:p>
          <a:p>
            <a:pPr marL="0" indent="0">
              <a:buNone/>
            </a:pPr>
            <a:r>
              <a:rPr lang="en-US" sz="1600" dirty="0"/>
              <a:t>}</a:t>
            </a:r>
          </a:p>
        </p:txBody>
      </p:sp>
      <p:sp>
        <p:nvSpPr>
          <p:cNvPr id="4" name="Slide Number Placeholder 3"/>
          <p:cNvSpPr>
            <a:spLocks noGrp="1"/>
          </p:cNvSpPr>
          <p:nvPr>
            <p:ph type="sldNum" sz="quarter" idx="12"/>
          </p:nvPr>
        </p:nvSpPr>
        <p:spPr/>
        <p:txBody>
          <a:bodyPr/>
          <a:lstStyle/>
          <a:p>
            <a:fld id="{036081D1-8380-407A-ABF3-D12854566F9D}" type="slidenum">
              <a:rPr lang="en-US" smtClean="0"/>
              <a:pPr/>
              <a:t>19</a:t>
            </a:fld>
            <a:endParaRPr lang="en-US" dirty="0"/>
          </a:p>
        </p:txBody>
      </p:sp>
    </p:spTree>
    <p:extLst>
      <p:ext uri="{BB962C8B-B14F-4D97-AF65-F5344CB8AC3E}">
        <p14:creationId xmlns:p14="http://schemas.microsoft.com/office/powerpoint/2010/main" val="32626362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3200400" y="1676400"/>
            <a:ext cx="4800600" cy="4800600"/>
          </a:xfrm>
          <a:prstGeom prst="rect">
            <a:avLst/>
          </a:prstGeom>
          <a:noFill/>
          <a:ln w="9525">
            <a:noFill/>
            <a:miter lim="800000"/>
            <a:headEnd/>
            <a:tailEnd/>
          </a:ln>
          <a:effectLst/>
        </p:spPr>
      </p:pic>
      <p:sp>
        <p:nvSpPr>
          <p:cNvPr id="4" name="Title 3"/>
          <p:cNvSpPr>
            <a:spLocks noGrp="1"/>
          </p:cNvSpPr>
          <p:nvPr>
            <p:ph type="title"/>
          </p:nvPr>
        </p:nvSpPr>
        <p:spPr/>
        <p:txBody>
          <a:bodyPr>
            <a:normAutofit/>
          </a:bodyPr>
          <a:lstStyle/>
          <a:p>
            <a:r>
              <a:rPr lang="sr-Latn-RS" dirty="0" smtClean="0"/>
              <a:t>Primer: Množenje matrica</a:t>
            </a:r>
            <a:endParaRPr lang="sr-Latn-RS" b="1" dirty="0">
              <a:solidFill>
                <a:schemeClr val="accent1">
                  <a:lumMod val="60000"/>
                  <a:lumOff val="40000"/>
                </a:schemeClr>
              </a:solidFill>
            </a:endParaRPr>
          </a:p>
        </p:txBody>
      </p:sp>
      <p:sp>
        <p:nvSpPr>
          <p:cNvPr id="3" name="Content Placeholder 2"/>
          <p:cNvSpPr>
            <a:spLocks noGrp="1"/>
          </p:cNvSpPr>
          <p:nvPr>
            <p:ph idx="1"/>
          </p:nvPr>
        </p:nvSpPr>
        <p:spPr/>
        <p:txBody>
          <a:bodyPr/>
          <a:lstStyle/>
          <a:p>
            <a:r>
              <a:rPr lang="en-US" dirty="0" err="1" smtClean="0"/>
              <a:t>Pomno</a:t>
            </a:r>
            <a:r>
              <a:rPr lang="sr-Latn-RS" dirty="0" smtClean="0"/>
              <a:t>žiti dve kvadratne matrice</a:t>
            </a:r>
            <a:r>
              <a:rPr lang="en-US" dirty="0" smtClean="0"/>
              <a:t/>
            </a:r>
            <a:br>
              <a:rPr lang="en-US" dirty="0" smtClean="0"/>
            </a:br>
            <a:r>
              <a:rPr lang="sr-Latn-RS" dirty="0" smtClean="0"/>
              <a:t> </a:t>
            </a:r>
            <a:endParaRPr lang="en-US" dirty="0"/>
          </a:p>
        </p:txBody>
      </p:sp>
      <p:sp>
        <p:nvSpPr>
          <p:cNvPr id="2" name="Slide Number Placeholder 1"/>
          <p:cNvSpPr>
            <a:spLocks noGrp="1"/>
          </p:cNvSpPr>
          <p:nvPr>
            <p:ph type="sldNum" sz="quarter" idx="12"/>
          </p:nvPr>
        </p:nvSpPr>
        <p:spPr/>
        <p:txBody>
          <a:bodyPr/>
          <a:lstStyle/>
          <a:p>
            <a:fld id="{036081D1-8380-407A-ABF3-D12854566F9D}" type="slidenum">
              <a:rPr lang="en-US" smtClean="0"/>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smtClean="0"/>
              <a:t>Primer: Množenje matrica </a:t>
            </a:r>
            <a:r>
              <a:rPr lang="sr-Latn-RS" dirty="0" smtClean="0"/>
              <a:t>(2)</a:t>
            </a:r>
            <a:endParaRPr lang="en-US" dirty="0"/>
          </a:p>
        </p:txBody>
      </p:sp>
      <p:sp>
        <p:nvSpPr>
          <p:cNvPr id="3" name="Content Placeholder 2"/>
          <p:cNvSpPr>
            <a:spLocks noGrp="1"/>
          </p:cNvSpPr>
          <p:nvPr>
            <p:ph idx="1"/>
          </p:nvPr>
        </p:nvSpPr>
        <p:spPr/>
        <p:txBody>
          <a:bodyPr>
            <a:normAutofit fontScale="85000" lnSpcReduction="10000"/>
          </a:bodyPr>
          <a:lstStyle/>
          <a:p>
            <a:r>
              <a:rPr lang="en-US" dirty="0" err="1" smtClean="0"/>
              <a:t>Tradicionalni</a:t>
            </a:r>
            <a:r>
              <a:rPr lang="en-US" dirty="0" smtClean="0"/>
              <a:t> </a:t>
            </a:r>
            <a:r>
              <a:rPr lang="en-US" dirty="0" err="1" smtClean="0"/>
              <a:t>sekvencijalni</a:t>
            </a:r>
            <a:r>
              <a:rPr lang="en-US" dirty="0" smtClean="0"/>
              <a:t> </a:t>
            </a:r>
            <a:r>
              <a:rPr lang="en-US" dirty="0" err="1" smtClean="0"/>
              <a:t>kod</a:t>
            </a:r>
            <a:r>
              <a:rPr lang="en-US" dirty="0" smtClean="0"/>
              <a:t>:</a:t>
            </a:r>
            <a:endParaRPr lang="sr-Latn-RS" dirty="0" smtClean="0"/>
          </a:p>
          <a:p>
            <a:pPr>
              <a:buNone/>
            </a:pPr>
            <a:r>
              <a:rPr lang="en-US" dirty="0" smtClean="0"/>
              <a:t/>
            </a:r>
            <a:br>
              <a:rPr lang="en-US" dirty="0" smtClean="0"/>
            </a:br>
            <a:r>
              <a:rPr lang="sr-Latn-RS" dirty="0" smtClean="0"/>
              <a:t> </a:t>
            </a:r>
            <a:r>
              <a:rPr lang="en-US" sz="1800" dirty="0" smtClean="0">
                <a:solidFill>
                  <a:srgbClr val="000000"/>
                </a:solidFill>
                <a:highlight>
                  <a:srgbClr val="FFFFFF"/>
                </a:highlight>
                <a:latin typeface="Consolas"/>
              </a:rPr>
              <a:t>void </a:t>
            </a:r>
            <a:r>
              <a:rPr lang="en-US" sz="1800" dirty="0" err="1" smtClean="0">
                <a:solidFill>
                  <a:srgbClr val="000000"/>
                </a:solidFill>
                <a:highlight>
                  <a:srgbClr val="FFFFFF"/>
                </a:highlight>
                <a:latin typeface="Consolas"/>
              </a:rPr>
              <a:t>MatrixMulOnHost</a:t>
            </a: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(float* M, float* N, float* P, </a:t>
            </a:r>
            <a:r>
              <a:rPr lang="en-US" sz="1800" dirty="0" err="1" smtClean="0">
                <a:solidFill>
                  <a:srgbClr val="000000"/>
                </a:solidFill>
                <a:highlight>
                  <a:srgbClr val="FFFFFF"/>
                </a:highlight>
                <a:latin typeface="Consolas"/>
              </a:rPr>
              <a:t>int</a:t>
            </a:r>
            <a:r>
              <a:rPr lang="en-US" sz="1800" dirty="0" smtClean="0">
                <a:solidFill>
                  <a:srgbClr val="000000"/>
                </a:solidFill>
                <a:highlight>
                  <a:srgbClr val="FFFFFF"/>
                </a:highlight>
                <a:latin typeface="Consolas"/>
              </a:rPr>
              <a:t> Width) </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a:t>
            </a:r>
            <a:br>
              <a:rPr lang="en-US" sz="1800" dirty="0" smtClean="0">
                <a:solidFill>
                  <a:srgbClr val="000000"/>
                </a:solidFill>
                <a:highlight>
                  <a:srgbClr val="FFFFFF"/>
                </a:highlight>
                <a:latin typeface="Consolas"/>
              </a:rPr>
            </a:b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for (</a:t>
            </a:r>
            <a:r>
              <a:rPr lang="en-US" sz="1800" dirty="0" err="1" smtClean="0">
                <a:solidFill>
                  <a:srgbClr val="000000"/>
                </a:solidFill>
                <a:highlight>
                  <a:srgbClr val="FFFFFF"/>
                </a:highlight>
                <a:latin typeface="Consolas"/>
              </a:rPr>
              <a:t>int</a:t>
            </a:r>
            <a:r>
              <a:rPr lang="en-U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i</a:t>
            </a:r>
            <a:r>
              <a:rPr lang="en-US" sz="1800" dirty="0" smtClean="0">
                <a:solidFill>
                  <a:srgbClr val="000000"/>
                </a:solidFill>
                <a:highlight>
                  <a:srgbClr val="FFFFFF"/>
                </a:highlight>
                <a:latin typeface="Consolas"/>
              </a:rPr>
              <a:t> = 0; </a:t>
            </a:r>
            <a:r>
              <a:rPr lang="en-US" sz="1800" dirty="0" err="1" smtClean="0">
                <a:solidFill>
                  <a:srgbClr val="000000"/>
                </a:solidFill>
                <a:highlight>
                  <a:srgbClr val="FFFFFF"/>
                </a:highlight>
                <a:latin typeface="Consolas"/>
              </a:rPr>
              <a:t>i</a:t>
            </a:r>
            <a:r>
              <a:rPr lang="en-US" sz="1800" dirty="0" smtClean="0">
                <a:solidFill>
                  <a:srgbClr val="000000"/>
                </a:solidFill>
                <a:highlight>
                  <a:srgbClr val="FFFFFF"/>
                </a:highlight>
                <a:latin typeface="Consolas"/>
              </a:rPr>
              <a:t> &lt; Width; ++</a:t>
            </a:r>
            <a:r>
              <a:rPr lang="en-US" sz="1800" dirty="0" err="1" smtClean="0">
                <a:solidFill>
                  <a:srgbClr val="000000"/>
                </a:solidFill>
                <a:highlight>
                  <a:srgbClr val="FFFFFF"/>
                </a:highlight>
                <a:latin typeface="Consolas"/>
              </a:rPr>
              <a:t>i</a:t>
            </a:r>
            <a:r>
              <a:rPr lang="en-US" sz="1800" dirty="0" smtClean="0">
                <a:solidFill>
                  <a:srgbClr val="000000"/>
                </a:solidFill>
                <a:highlight>
                  <a:srgbClr val="FFFFFF"/>
                </a:highlight>
                <a:latin typeface="Consolas"/>
              </a:rPr>
              <a:t>)</a:t>
            </a:r>
            <a:br>
              <a:rPr lang="en-US" sz="1800" dirty="0" smtClean="0">
                <a:solidFill>
                  <a:srgbClr val="000000"/>
                </a:solidFill>
                <a:highlight>
                  <a:srgbClr val="FFFFFF"/>
                </a:highlight>
                <a:latin typeface="Consolas"/>
              </a:rPr>
            </a:b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for (</a:t>
            </a:r>
            <a:r>
              <a:rPr lang="en-US" sz="1800" dirty="0" err="1" smtClean="0">
                <a:solidFill>
                  <a:srgbClr val="000000"/>
                </a:solidFill>
                <a:highlight>
                  <a:srgbClr val="FFFFFF"/>
                </a:highlight>
                <a:latin typeface="Consolas"/>
              </a:rPr>
              <a:t>int</a:t>
            </a:r>
            <a:r>
              <a:rPr lang="en-US" sz="1800" dirty="0" smtClean="0">
                <a:solidFill>
                  <a:srgbClr val="000000"/>
                </a:solidFill>
                <a:highlight>
                  <a:srgbClr val="FFFFFF"/>
                </a:highlight>
                <a:latin typeface="Consolas"/>
              </a:rPr>
              <a:t> j = 0; j &lt; Width; ++j) </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float sum = 0;</a:t>
            </a:r>
            <a:endParaRPr lang="sr-Latn-RS" sz="1800" dirty="0" smtClean="0">
              <a:solidFill>
                <a:srgbClr val="000000"/>
              </a:solidFill>
              <a:highlight>
                <a:srgbClr val="FFFFFF"/>
              </a:highlight>
              <a:latin typeface="Consolas"/>
            </a:endParaRPr>
          </a:p>
          <a:p>
            <a:pPr>
              <a:buNone/>
            </a:pP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for (</a:t>
            </a:r>
            <a:r>
              <a:rPr lang="en-US" sz="1800" dirty="0" err="1" smtClean="0">
                <a:solidFill>
                  <a:srgbClr val="000000"/>
                </a:solidFill>
                <a:highlight>
                  <a:srgbClr val="FFFFFF"/>
                </a:highlight>
                <a:latin typeface="Consolas"/>
              </a:rPr>
              <a:t>int</a:t>
            </a:r>
            <a:r>
              <a:rPr lang="en-US" sz="1800" dirty="0" smtClean="0">
                <a:solidFill>
                  <a:srgbClr val="000000"/>
                </a:solidFill>
                <a:highlight>
                  <a:srgbClr val="FFFFFF"/>
                </a:highlight>
                <a:latin typeface="Consolas"/>
              </a:rPr>
              <a:t> k = 0; k &lt; Width; ++k) </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float a = M[</a:t>
            </a:r>
            <a:r>
              <a:rPr lang="en-US" sz="1800" dirty="0" err="1" smtClean="0">
                <a:solidFill>
                  <a:srgbClr val="000000"/>
                </a:solidFill>
                <a:highlight>
                  <a:srgbClr val="FFFFFF"/>
                </a:highlight>
                <a:latin typeface="Consolas"/>
              </a:rPr>
              <a:t>i</a:t>
            </a:r>
            <a:r>
              <a:rPr lang="en-US" sz="1800" dirty="0" smtClean="0">
                <a:solidFill>
                  <a:srgbClr val="000000"/>
                </a:solidFill>
                <a:highlight>
                  <a:srgbClr val="FFFFFF"/>
                </a:highlight>
                <a:latin typeface="Consolas"/>
              </a:rPr>
              <a:t> * width + k];</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float b = N[k * width + j];</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sum += a * b;</a:t>
            </a: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a:buNone/>
            </a:pPr>
            <a:endParaRPr lang="sr-Latn-RS" sz="1800" dirty="0" smtClean="0">
              <a:solidFill>
                <a:srgbClr val="000000"/>
              </a:solidFill>
              <a:highlight>
                <a:srgbClr val="FFFFFF"/>
              </a:highlight>
              <a:latin typeface="Consolas"/>
            </a:endParaRPr>
          </a:p>
          <a:p>
            <a:pPr>
              <a:buNone/>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P[</a:t>
            </a:r>
            <a:r>
              <a:rPr lang="en-US" sz="1800" dirty="0" err="1" smtClean="0">
                <a:solidFill>
                  <a:srgbClr val="000000"/>
                </a:solidFill>
                <a:highlight>
                  <a:srgbClr val="FFFFFF"/>
                </a:highlight>
                <a:latin typeface="Consolas"/>
              </a:rPr>
              <a:t>i</a:t>
            </a:r>
            <a:r>
              <a:rPr lang="en-US" sz="1800" dirty="0" smtClean="0">
                <a:solidFill>
                  <a:srgbClr val="000000"/>
                </a:solidFill>
                <a:highlight>
                  <a:srgbClr val="FFFFFF"/>
                </a:highlight>
                <a:latin typeface="Consolas"/>
              </a:rPr>
              <a:t> * Width + j] = sum;</a:t>
            </a:r>
            <a:br>
              <a:rPr lang="en-US" sz="1800" dirty="0" smtClean="0">
                <a:solidFill>
                  <a:srgbClr val="000000"/>
                </a:solidFill>
                <a:highlight>
                  <a:srgbClr val="FFFFFF"/>
                </a:highlight>
                <a:latin typeface="Consolas"/>
              </a:rPr>
            </a:b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a:t>
            </a:r>
            <a:br>
              <a:rPr lang="en-US" sz="1800" dirty="0" smtClean="0">
                <a:solidFill>
                  <a:srgbClr val="000000"/>
                </a:solidFill>
                <a:highlight>
                  <a:srgbClr val="FFFFFF"/>
                </a:highlight>
                <a:latin typeface="Consolas"/>
              </a:rPr>
            </a:br>
            <a:r>
              <a:rPr lang="en-US" sz="1800" dirty="0" smtClean="0">
                <a:solidFill>
                  <a:srgbClr val="000000"/>
                </a:solidFill>
                <a:highlight>
                  <a:srgbClr val="FFFFFF"/>
                </a:highlight>
                <a:latin typeface="Consolas"/>
              </a:rPr>
              <a:t>} </a:t>
            </a:r>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sr-Latn-RS" smtClean="0"/>
              <a:t>Primer: Množenje matrica </a:t>
            </a:r>
            <a:r>
              <a:rPr lang="sr-Latn-RS" dirty="0" smtClean="0"/>
              <a:t>(3)</a:t>
            </a:r>
            <a:endParaRPr lang="en-US" dirty="0"/>
          </a:p>
        </p:txBody>
      </p:sp>
      <p:sp>
        <p:nvSpPr>
          <p:cNvPr id="133123" name="Content Placeholder 2"/>
          <p:cNvSpPr>
            <a:spLocks noGrp="1"/>
          </p:cNvSpPr>
          <p:nvPr>
            <p:ph idx="1"/>
          </p:nvPr>
        </p:nvSpPr>
        <p:spPr/>
        <p:txBody>
          <a:bodyPr/>
          <a:lstStyle/>
          <a:p>
            <a:r>
              <a:rPr lang="vi-VN" altLang="sr-Latn-RS" dirty="0" smtClean="0"/>
              <a:t>Matrice se u C-u smeštaju po vrstama</a:t>
            </a:r>
            <a:endParaRPr lang="sr-Latn-RS" altLang="sr-Latn-RS" dirty="0" smtClean="0"/>
          </a:p>
          <a:p>
            <a:pPr lvl="1"/>
            <a:r>
              <a:rPr lang="vi-VN" altLang="sr-Latn-RS" dirty="0" smtClean="0"/>
              <a:t>Matrica će uređaju biti preneta linearizovana</a:t>
            </a:r>
            <a:endParaRPr lang="sr-Latn-RS" altLang="sr-Latn-RS" dirty="0" smtClean="0"/>
          </a:p>
          <a:p>
            <a:pPr lvl="1"/>
            <a:r>
              <a:rPr lang="vi-VN" altLang="sr-Latn-RS" dirty="0" smtClean="0"/>
              <a:t>Svaka nit će proračunati adresu elementa</a:t>
            </a:r>
            <a:r>
              <a:rPr lang="sr-Latn-RS" altLang="sr-Latn-RS" dirty="0" smtClean="0"/>
              <a:t> </a:t>
            </a:r>
            <a:r>
              <a:rPr lang="vi-VN" altLang="sr-Latn-RS" dirty="0" smtClean="0"/>
              <a:t>kome treba da pristupi </a:t>
            </a:r>
            <a:br>
              <a:rPr lang="vi-VN" altLang="sr-Latn-RS" dirty="0" smtClean="0"/>
            </a:br>
            <a:endParaRPr lang="en-US" altLang="sr-Latn-RS" dirty="0" smtClean="0"/>
          </a:p>
        </p:txBody>
      </p:sp>
      <p:grpSp>
        <p:nvGrpSpPr>
          <p:cNvPr id="133125" name="Group 56"/>
          <p:cNvGrpSpPr>
            <a:grpSpLocks/>
          </p:cNvGrpSpPr>
          <p:nvPr/>
        </p:nvGrpSpPr>
        <p:grpSpPr bwMode="auto">
          <a:xfrm>
            <a:off x="533400" y="5257800"/>
            <a:ext cx="7315200" cy="457200"/>
            <a:chOff x="1524000" y="5105400"/>
            <a:chExt cx="7315200" cy="457200"/>
          </a:xfrm>
        </p:grpSpPr>
        <p:grpSp>
          <p:nvGrpSpPr>
            <p:cNvPr id="6" name="Group 57"/>
            <p:cNvGrpSpPr/>
            <p:nvPr/>
          </p:nvGrpSpPr>
          <p:grpSpPr>
            <a:xfrm>
              <a:off x="1524000" y="5105400"/>
              <a:ext cx="1828800" cy="457200"/>
              <a:chOff x="762000" y="4191000"/>
              <a:chExt cx="1828800" cy="457200"/>
            </a:xfrm>
            <a:solidFill>
              <a:srgbClr val="FFFF00"/>
            </a:solidFill>
          </p:grpSpPr>
          <p:sp>
            <p:nvSpPr>
              <p:cNvPr id="74" name="Rectangle 73"/>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0,0</a:t>
                </a:r>
                <a:endParaRPr lang="en-US" sz="1200" baseline="-25000" dirty="0">
                  <a:solidFill>
                    <a:schemeClr val="tx1"/>
                  </a:solidFill>
                </a:endParaRPr>
              </a:p>
            </p:txBody>
          </p:sp>
          <p:sp>
            <p:nvSpPr>
              <p:cNvPr id="75" name="Rectangle 74"/>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3,0</a:t>
                </a:r>
                <a:endParaRPr lang="en-US" sz="1200" baseline="-25000" dirty="0">
                  <a:solidFill>
                    <a:schemeClr val="tx1"/>
                  </a:solidFill>
                </a:endParaRPr>
              </a:p>
            </p:txBody>
          </p:sp>
          <p:sp>
            <p:nvSpPr>
              <p:cNvPr id="76" name="Rectangle 75"/>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2,0</a:t>
                </a:r>
                <a:endParaRPr lang="en-US" sz="1200" baseline="-25000" dirty="0">
                  <a:solidFill>
                    <a:schemeClr val="tx1"/>
                  </a:solidFill>
                </a:endParaRPr>
              </a:p>
            </p:txBody>
          </p:sp>
          <p:sp>
            <p:nvSpPr>
              <p:cNvPr id="77" name="Rectangle 76"/>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1,0</a:t>
                </a:r>
                <a:endParaRPr lang="en-US" sz="1200" baseline="-25000" dirty="0">
                  <a:solidFill>
                    <a:schemeClr val="tx1"/>
                  </a:solidFill>
                </a:endParaRPr>
              </a:p>
            </p:txBody>
          </p:sp>
        </p:grpSp>
        <p:grpSp>
          <p:nvGrpSpPr>
            <p:cNvPr id="7" name="Group 58"/>
            <p:cNvGrpSpPr/>
            <p:nvPr/>
          </p:nvGrpSpPr>
          <p:grpSpPr>
            <a:xfrm>
              <a:off x="7010400" y="5105400"/>
              <a:ext cx="1828800" cy="457200"/>
              <a:chOff x="762000" y="4191000"/>
              <a:chExt cx="1828800" cy="457200"/>
            </a:xfrm>
            <a:solidFill>
              <a:srgbClr val="92D050"/>
            </a:solidFill>
          </p:grpSpPr>
          <p:sp>
            <p:nvSpPr>
              <p:cNvPr id="70" name="Rectangle 69"/>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0,3</a:t>
                </a:r>
                <a:endParaRPr lang="en-US" sz="1200" baseline="-25000" dirty="0">
                  <a:solidFill>
                    <a:schemeClr val="tx1"/>
                  </a:solidFill>
                </a:endParaRPr>
              </a:p>
            </p:txBody>
          </p:sp>
          <p:sp>
            <p:nvSpPr>
              <p:cNvPr id="71" name="Rectangle 70"/>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3,3</a:t>
                </a:r>
                <a:endParaRPr lang="en-US" sz="1200" baseline="-25000" dirty="0">
                  <a:solidFill>
                    <a:schemeClr val="tx1"/>
                  </a:solidFill>
                </a:endParaRPr>
              </a:p>
            </p:txBody>
          </p:sp>
          <p:sp>
            <p:nvSpPr>
              <p:cNvPr id="72" name="Rectangle 71"/>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2,3</a:t>
                </a:r>
                <a:endParaRPr lang="en-US" sz="1200" baseline="-25000" dirty="0">
                  <a:solidFill>
                    <a:schemeClr val="tx1"/>
                  </a:solidFill>
                </a:endParaRPr>
              </a:p>
            </p:txBody>
          </p:sp>
          <p:sp>
            <p:nvSpPr>
              <p:cNvPr id="73" name="Rectangle 72"/>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1,3</a:t>
                </a:r>
                <a:endParaRPr lang="en-US" sz="1200" baseline="-25000" dirty="0">
                  <a:solidFill>
                    <a:schemeClr val="tx1"/>
                  </a:solidFill>
                </a:endParaRPr>
              </a:p>
            </p:txBody>
          </p:sp>
        </p:grpSp>
        <p:grpSp>
          <p:nvGrpSpPr>
            <p:cNvPr id="133139" name="Group 59"/>
            <p:cNvGrpSpPr>
              <a:grpSpLocks/>
            </p:cNvGrpSpPr>
            <p:nvPr/>
          </p:nvGrpSpPr>
          <p:grpSpPr bwMode="auto">
            <a:xfrm>
              <a:off x="3352800" y="5105400"/>
              <a:ext cx="1828800" cy="457200"/>
              <a:chOff x="762000" y="4191000"/>
              <a:chExt cx="1828800" cy="457200"/>
            </a:xfrm>
          </p:grpSpPr>
          <p:sp>
            <p:nvSpPr>
              <p:cNvPr id="66" name="Rectangle 65"/>
              <p:cNvSpPr/>
              <p:nvPr/>
            </p:nvSpPr>
            <p:spPr>
              <a:xfrm>
                <a:off x="7620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0,1</a:t>
                </a:r>
                <a:endParaRPr lang="en-US" sz="1200" baseline="-25000" dirty="0">
                  <a:solidFill>
                    <a:schemeClr val="tx1"/>
                  </a:solidFill>
                </a:endParaRPr>
              </a:p>
            </p:txBody>
          </p:sp>
          <p:sp>
            <p:nvSpPr>
              <p:cNvPr id="67" name="Rectangle 66"/>
              <p:cNvSpPr/>
              <p:nvPr/>
            </p:nvSpPr>
            <p:spPr>
              <a:xfrm>
                <a:off x="21336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3,1</a:t>
                </a:r>
                <a:endParaRPr lang="en-US" sz="1200" baseline="-25000" dirty="0">
                  <a:solidFill>
                    <a:schemeClr val="tx1"/>
                  </a:solidFill>
                </a:endParaRPr>
              </a:p>
            </p:txBody>
          </p:sp>
          <p:sp>
            <p:nvSpPr>
              <p:cNvPr id="68" name="Rectangle 67"/>
              <p:cNvSpPr/>
              <p:nvPr/>
            </p:nvSpPr>
            <p:spPr>
              <a:xfrm>
                <a:off x="16764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2,1</a:t>
                </a:r>
                <a:endParaRPr lang="en-US" sz="1200" baseline="-25000" dirty="0">
                  <a:solidFill>
                    <a:schemeClr val="tx1"/>
                  </a:solidFill>
                </a:endParaRPr>
              </a:p>
            </p:txBody>
          </p:sp>
          <p:sp>
            <p:nvSpPr>
              <p:cNvPr id="69" name="Rectangle 68"/>
              <p:cNvSpPr/>
              <p:nvPr/>
            </p:nvSpPr>
            <p:spPr>
              <a:xfrm>
                <a:off x="12192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1,1</a:t>
                </a:r>
                <a:endParaRPr lang="en-US" sz="1200" baseline="-25000" dirty="0">
                  <a:solidFill>
                    <a:schemeClr val="tx1"/>
                  </a:solidFill>
                </a:endParaRPr>
              </a:p>
            </p:txBody>
          </p:sp>
        </p:grpSp>
        <p:grpSp>
          <p:nvGrpSpPr>
            <p:cNvPr id="9" name="Group 60"/>
            <p:cNvGrpSpPr/>
            <p:nvPr/>
          </p:nvGrpSpPr>
          <p:grpSpPr>
            <a:xfrm>
              <a:off x="5181600" y="5105400"/>
              <a:ext cx="1828800" cy="457200"/>
              <a:chOff x="762000" y="4191000"/>
              <a:chExt cx="1828800" cy="457200"/>
            </a:xfrm>
            <a:solidFill>
              <a:srgbClr val="0070C0"/>
            </a:solidFill>
          </p:grpSpPr>
          <p:sp>
            <p:nvSpPr>
              <p:cNvPr id="62" name="Rectangle 61"/>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0,2</a:t>
                </a:r>
                <a:endParaRPr lang="en-US" sz="1200" baseline="-25000" dirty="0">
                  <a:solidFill>
                    <a:schemeClr val="tx1"/>
                  </a:solidFill>
                </a:endParaRPr>
              </a:p>
            </p:txBody>
          </p:sp>
          <p:sp>
            <p:nvSpPr>
              <p:cNvPr id="63" name="Rectangle 62"/>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3,2</a:t>
                </a:r>
                <a:endParaRPr lang="en-US" sz="1200" baseline="-25000" dirty="0">
                  <a:solidFill>
                    <a:schemeClr val="tx1"/>
                  </a:solidFill>
                </a:endParaRPr>
              </a:p>
            </p:txBody>
          </p:sp>
          <p:sp>
            <p:nvSpPr>
              <p:cNvPr id="64" name="Rectangle 63"/>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2,2</a:t>
                </a:r>
                <a:endParaRPr lang="en-US" sz="1200" baseline="-25000" dirty="0">
                  <a:solidFill>
                    <a:schemeClr val="tx1"/>
                  </a:solidFill>
                </a:endParaRPr>
              </a:p>
            </p:txBody>
          </p:sp>
          <p:sp>
            <p:nvSpPr>
              <p:cNvPr id="65" name="Rectangle 64"/>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1,2</a:t>
                </a:r>
                <a:endParaRPr lang="en-US" sz="1200" baseline="-25000" dirty="0">
                  <a:solidFill>
                    <a:schemeClr val="tx1"/>
                  </a:solidFill>
                </a:endParaRPr>
              </a:p>
            </p:txBody>
          </p:sp>
        </p:grpSp>
      </p:grpSp>
      <p:grpSp>
        <p:nvGrpSpPr>
          <p:cNvPr id="133126" name="Group 77"/>
          <p:cNvGrpSpPr>
            <a:grpSpLocks/>
          </p:cNvGrpSpPr>
          <p:nvPr/>
        </p:nvGrpSpPr>
        <p:grpSpPr bwMode="auto">
          <a:xfrm>
            <a:off x="6019800" y="2919413"/>
            <a:ext cx="1828800" cy="1828800"/>
            <a:chOff x="2667000" y="3352800"/>
            <a:chExt cx="1828800" cy="1828800"/>
          </a:xfrm>
        </p:grpSpPr>
        <p:grpSp>
          <p:nvGrpSpPr>
            <p:cNvPr id="11" name="Group 22"/>
            <p:cNvGrpSpPr/>
            <p:nvPr/>
          </p:nvGrpSpPr>
          <p:grpSpPr>
            <a:xfrm>
              <a:off x="2667000" y="3352800"/>
              <a:ext cx="1828800" cy="457200"/>
              <a:chOff x="762000" y="4191000"/>
              <a:chExt cx="1828800" cy="457200"/>
            </a:xfrm>
            <a:solidFill>
              <a:srgbClr val="FFFF00"/>
            </a:solidFill>
          </p:grpSpPr>
          <p:sp>
            <p:nvSpPr>
              <p:cNvPr id="95" name="Rectangle 4"/>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0,0</a:t>
                </a:r>
                <a:endParaRPr lang="en-US" sz="1200" baseline="-25000" dirty="0">
                  <a:solidFill>
                    <a:schemeClr val="tx1"/>
                  </a:solidFill>
                </a:endParaRPr>
              </a:p>
            </p:txBody>
          </p:sp>
          <p:sp>
            <p:nvSpPr>
              <p:cNvPr id="96" name="Rectangle 9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3,0</a:t>
                </a:r>
                <a:endParaRPr lang="en-US" sz="1200" baseline="-25000" dirty="0">
                  <a:solidFill>
                    <a:schemeClr val="tx1"/>
                  </a:solidFill>
                </a:endParaRPr>
              </a:p>
            </p:txBody>
          </p:sp>
          <p:sp>
            <p:nvSpPr>
              <p:cNvPr id="97" name="Rectangle 9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2,0</a:t>
                </a:r>
                <a:endParaRPr lang="en-US" sz="1200" baseline="-25000" dirty="0">
                  <a:solidFill>
                    <a:schemeClr val="tx1"/>
                  </a:solidFill>
                </a:endParaRPr>
              </a:p>
            </p:txBody>
          </p:sp>
          <p:sp>
            <p:nvSpPr>
              <p:cNvPr id="98" name="Rectangle 97"/>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1,0</a:t>
                </a:r>
                <a:endParaRPr lang="en-US" sz="1200" baseline="-25000" dirty="0">
                  <a:solidFill>
                    <a:schemeClr val="tx1"/>
                  </a:solidFill>
                </a:endParaRPr>
              </a:p>
            </p:txBody>
          </p:sp>
        </p:grpSp>
        <p:grpSp>
          <p:nvGrpSpPr>
            <p:cNvPr id="12" name="Group 23"/>
            <p:cNvGrpSpPr/>
            <p:nvPr/>
          </p:nvGrpSpPr>
          <p:grpSpPr>
            <a:xfrm>
              <a:off x="2667000" y="4724400"/>
              <a:ext cx="1828800" cy="457200"/>
              <a:chOff x="762000" y="4191000"/>
              <a:chExt cx="1828800" cy="457200"/>
            </a:xfrm>
            <a:solidFill>
              <a:srgbClr val="92D050"/>
            </a:solidFill>
          </p:grpSpPr>
          <p:sp>
            <p:nvSpPr>
              <p:cNvPr id="91" name="Rectangle 90"/>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0,3</a:t>
                </a:r>
                <a:endParaRPr lang="en-US" sz="1200" baseline="-25000" dirty="0">
                  <a:solidFill>
                    <a:schemeClr val="tx1"/>
                  </a:solidFill>
                </a:endParaRPr>
              </a:p>
            </p:txBody>
          </p:sp>
          <p:sp>
            <p:nvSpPr>
              <p:cNvPr id="92" name="Rectangle 9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3,3</a:t>
                </a:r>
                <a:endParaRPr lang="en-US" sz="1200" baseline="-25000" dirty="0">
                  <a:solidFill>
                    <a:schemeClr val="tx1"/>
                  </a:solidFill>
                </a:endParaRPr>
              </a:p>
            </p:txBody>
          </p:sp>
          <p:sp>
            <p:nvSpPr>
              <p:cNvPr id="93" name="Rectangle 9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2,3</a:t>
                </a:r>
                <a:endParaRPr lang="en-US" sz="1200" baseline="-25000" dirty="0">
                  <a:solidFill>
                    <a:schemeClr val="tx1"/>
                  </a:solidFill>
                </a:endParaRPr>
              </a:p>
            </p:txBody>
          </p:sp>
          <p:sp>
            <p:nvSpPr>
              <p:cNvPr id="94" name="Rectangle 93"/>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1,3</a:t>
                </a:r>
                <a:endParaRPr lang="en-US" sz="1200" baseline="-25000" dirty="0">
                  <a:solidFill>
                    <a:schemeClr val="tx1"/>
                  </a:solidFill>
                </a:endParaRPr>
              </a:p>
            </p:txBody>
          </p:sp>
        </p:grpSp>
        <p:grpSp>
          <p:nvGrpSpPr>
            <p:cNvPr id="133131" name="Group 28"/>
            <p:cNvGrpSpPr>
              <a:grpSpLocks/>
            </p:cNvGrpSpPr>
            <p:nvPr/>
          </p:nvGrpSpPr>
          <p:grpSpPr bwMode="auto">
            <a:xfrm>
              <a:off x="2667000" y="3810000"/>
              <a:ext cx="1828800" cy="457200"/>
              <a:chOff x="762000" y="4191000"/>
              <a:chExt cx="1828800" cy="457200"/>
            </a:xfrm>
          </p:grpSpPr>
          <p:sp>
            <p:nvSpPr>
              <p:cNvPr id="87" name="Rectangle 86"/>
              <p:cNvSpPr/>
              <p:nvPr/>
            </p:nvSpPr>
            <p:spPr>
              <a:xfrm>
                <a:off x="7620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0,1</a:t>
                </a:r>
                <a:endParaRPr lang="en-US" sz="1200" baseline="-25000" dirty="0">
                  <a:solidFill>
                    <a:schemeClr val="tx1"/>
                  </a:solidFill>
                </a:endParaRPr>
              </a:p>
            </p:txBody>
          </p:sp>
          <p:sp>
            <p:nvSpPr>
              <p:cNvPr id="88" name="Rectangle 87"/>
              <p:cNvSpPr/>
              <p:nvPr/>
            </p:nvSpPr>
            <p:spPr>
              <a:xfrm>
                <a:off x="21336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3,1</a:t>
                </a:r>
                <a:endParaRPr lang="en-US" sz="1200" baseline="-25000" dirty="0">
                  <a:solidFill>
                    <a:schemeClr val="tx1"/>
                  </a:solidFill>
                </a:endParaRPr>
              </a:p>
            </p:txBody>
          </p:sp>
          <p:sp>
            <p:nvSpPr>
              <p:cNvPr id="89" name="Rectangle 88"/>
              <p:cNvSpPr/>
              <p:nvPr/>
            </p:nvSpPr>
            <p:spPr>
              <a:xfrm>
                <a:off x="16764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2,1</a:t>
                </a:r>
                <a:endParaRPr lang="en-US" sz="1200" baseline="-25000" dirty="0">
                  <a:solidFill>
                    <a:schemeClr val="tx1"/>
                  </a:solidFill>
                </a:endParaRPr>
              </a:p>
            </p:txBody>
          </p:sp>
          <p:sp>
            <p:nvSpPr>
              <p:cNvPr id="90" name="Rectangle 89"/>
              <p:cNvSpPr/>
              <p:nvPr/>
            </p:nvSpPr>
            <p:spPr>
              <a:xfrm>
                <a:off x="1219200" y="4191000"/>
                <a:ext cx="457200" cy="457200"/>
              </a:xfrm>
              <a:prstGeom prst="rect">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1,1</a:t>
                </a:r>
                <a:endParaRPr lang="en-US" sz="1200" baseline="-25000" dirty="0">
                  <a:solidFill>
                    <a:schemeClr val="tx1"/>
                  </a:solidFill>
                </a:endParaRPr>
              </a:p>
            </p:txBody>
          </p:sp>
        </p:grpSp>
        <p:grpSp>
          <p:nvGrpSpPr>
            <p:cNvPr id="14" name="Group 33"/>
            <p:cNvGrpSpPr/>
            <p:nvPr/>
          </p:nvGrpSpPr>
          <p:grpSpPr>
            <a:xfrm>
              <a:off x="2667000" y="4267200"/>
              <a:ext cx="1828800" cy="457200"/>
              <a:chOff x="762000" y="4191000"/>
              <a:chExt cx="1828800" cy="457200"/>
            </a:xfrm>
            <a:solidFill>
              <a:srgbClr val="0070C0"/>
            </a:solidFill>
          </p:grpSpPr>
          <p:sp>
            <p:nvSpPr>
              <p:cNvPr id="83" name="Rectangle 82"/>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0,2</a:t>
                </a:r>
                <a:endParaRPr lang="en-US" sz="1200" baseline="-25000" dirty="0">
                  <a:solidFill>
                    <a:schemeClr val="tx1"/>
                  </a:solidFill>
                </a:endParaRPr>
              </a:p>
            </p:txBody>
          </p:sp>
          <p:sp>
            <p:nvSpPr>
              <p:cNvPr id="84" name="Rectangle 8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3,2</a:t>
                </a:r>
                <a:endParaRPr lang="en-US" sz="1200" baseline="-25000" dirty="0">
                  <a:solidFill>
                    <a:schemeClr val="tx1"/>
                  </a:solidFill>
                </a:endParaRPr>
              </a:p>
            </p:txBody>
          </p:sp>
          <p:sp>
            <p:nvSpPr>
              <p:cNvPr id="85" name="Rectangle 8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2,2</a:t>
                </a:r>
                <a:endParaRPr lang="en-US" sz="1200" baseline="-25000" dirty="0">
                  <a:solidFill>
                    <a:schemeClr val="tx1"/>
                  </a:solidFill>
                </a:endParaRPr>
              </a:p>
            </p:txBody>
          </p:sp>
          <p:sp>
            <p:nvSpPr>
              <p:cNvPr id="86" name="Rectangle 85"/>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sr-Latn-RS" sz="1200" dirty="0">
                    <a:solidFill>
                      <a:schemeClr val="tx1"/>
                    </a:solidFill>
                  </a:rPr>
                  <a:t>M</a:t>
                </a:r>
                <a:r>
                  <a:rPr lang="sr-Latn-RS" sz="1200" baseline="-25000" dirty="0">
                    <a:solidFill>
                      <a:schemeClr val="tx1"/>
                    </a:solidFill>
                  </a:rPr>
                  <a:t>1,2</a:t>
                </a:r>
                <a:endParaRPr lang="en-US" sz="1200" baseline="-25000" dirty="0">
                  <a:solidFill>
                    <a:schemeClr val="tx1"/>
                  </a:solidFill>
                </a:endParaRPr>
              </a:p>
            </p:txBody>
          </p:sp>
        </p:grpSp>
      </p:grpSp>
      <p:sp>
        <p:nvSpPr>
          <p:cNvPr id="133127" name="TextBox 98"/>
          <p:cNvSpPr txBox="1">
            <a:spLocks noChangeArrowheads="1"/>
          </p:cNvSpPr>
          <p:nvPr/>
        </p:nvSpPr>
        <p:spPr bwMode="auto">
          <a:xfrm>
            <a:off x="533400" y="4559300"/>
            <a:ext cx="457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sr-Latn-RS" altLang="sr-Latn-RS"/>
              <a:t>M</a:t>
            </a:r>
            <a:endParaRPr lang="en-US" altLang="sr-Latn-RS"/>
          </a:p>
        </p:txBody>
      </p:sp>
      <p:cxnSp>
        <p:nvCxnSpPr>
          <p:cNvPr id="100" name="Straight Arrow Connector 99"/>
          <p:cNvCxnSpPr>
            <a:stCxn id="133127" idx="2"/>
          </p:cNvCxnSpPr>
          <p:nvPr/>
        </p:nvCxnSpPr>
        <p:spPr>
          <a:xfrm rot="5400000">
            <a:off x="609601" y="5091112"/>
            <a:ext cx="304800" cy="3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 name="Slide Number Placeholder 2"/>
          <p:cNvSpPr>
            <a:spLocks noGrp="1"/>
          </p:cNvSpPr>
          <p:nvPr>
            <p:ph type="sldNum" sz="quarter" idx="12"/>
          </p:nvPr>
        </p:nvSpPr>
        <p:spPr/>
        <p:txBody>
          <a:bodyPr/>
          <a:lstStyle/>
          <a:p>
            <a:fld id="{036081D1-8380-407A-ABF3-D12854566F9D}" type="slidenum">
              <a:rPr lang="en-US" smtClean="0"/>
              <a:pPr/>
              <a:t>22</a:t>
            </a:fld>
            <a:endParaRPr lang="en-US" dirty="0"/>
          </a:p>
        </p:txBody>
      </p:sp>
    </p:spTree>
    <p:extLst>
      <p:ext uri="{BB962C8B-B14F-4D97-AF65-F5344CB8AC3E}">
        <p14:creationId xmlns:p14="http://schemas.microsoft.com/office/powerpoint/2010/main" val="41462718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sr-Latn-RS" smtClean="0"/>
              <a:t>Primer: Množenje matrica </a:t>
            </a:r>
            <a:r>
              <a:rPr lang="sr-Latn-RS" dirty="0" smtClean="0"/>
              <a:t>(4)</a:t>
            </a:r>
            <a:endParaRPr lang="en-US" dirty="0"/>
          </a:p>
        </p:txBody>
      </p:sp>
      <p:sp>
        <p:nvSpPr>
          <p:cNvPr id="3" name="Content Placeholder 2"/>
          <p:cNvSpPr>
            <a:spLocks noGrp="1"/>
          </p:cNvSpPr>
          <p:nvPr>
            <p:ph idx="1"/>
          </p:nvPr>
        </p:nvSpPr>
        <p:spPr/>
        <p:txBody>
          <a:bodyPr rtlCol="0">
            <a:normAutofit fontScale="62500" lnSpcReduction="20000"/>
          </a:bodyPr>
          <a:lstStyle/>
          <a:p>
            <a:pPr marL="182880" indent="-182880" fontAlgn="auto">
              <a:spcAft>
                <a:spcPts val="0"/>
              </a:spcAft>
              <a:buFont typeface="Arial" panose="020B0604020202020204" pitchFamily="34" charset="0"/>
              <a:buNone/>
              <a:defRPr/>
            </a:pPr>
            <a:r>
              <a:rPr lang="sr-Latn-RS" sz="1800" b="1" dirty="0" smtClean="0">
                <a:solidFill>
                  <a:srgbClr val="000000"/>
                </a:solidFill>
                <a:highlight>
                  <a:srgbClr val="FFFFFF"/>
                </a:highlight>
                <a:latin typeface="Consolas"/>
              </a:rPr>
              <a:t>HOST:</a:t>
            </a:r>
          </a:p>
          <a:p>
            <a:pPr marL="182880" indent="-182880" fontAlgn="auto">
              <a:spcAft>
                <a:spcPts val="0"/>
              </a:spcAft>
              <a:buFont typeface="Arial" panose="020B0604020202020204" pitchFamily="34" charset="0"/>
              <a:buNone/>
              <a:defRPr/>
            </a:pPr>
            <a:r>
              <a:rPr lang="en-US" sz="1800" dirty="0" smtClean="0">
                <a:solidFill>
                  <a:srgbClr val="000000"/>
                </a:solidFill>
                <a:highlight>
                  <a:srgbClr val="FFFFFF"/>
                </a:highlight>
                <a:latin typeface="Consolas"/>
              </a:rPr>
              <a:t>void </a:t>
            </a:r>
            <a:r>
              <a:rPr lang="en-US" sz="1800" dirty="0" err="1" smtClean="0">
                <a:solidFill>
                  <a:srgbClr val="000000"/>
                </a:solidFill>
                <a:highlight>
                  <a:srgbClr val="FFFFFF"/>
                </a:highlight>
                <a:latin typeface="Consolas"/>
              </a:rPr>
              <a:t>MatrixMulOnDevice</a:t>
            </a:r>
            <a:r>
              <a:rPr lang="en-US" sz="1800" dirty="0" smtClean="0">
                <a:solidFill>
                  <a:srgbClr val="000000"/>
                </a:solidFill>
                <a:highlight>
                  <a:srgbClr val="FFFFFF"/>
                </a:highlight>
                <a:latin typeface="Consolas"/>
              </a:rPr>
              <a:t> (float* M, float* N, float* P, </a:t>
            </a:r>
            <a:r>
              <a:rPr lang="en-US" sz="1800" dirty="0" err="1" smtClean="0">
                <a:solidFill>
                  <a:srgbClr val="000000"/>
                </a:solidFill>
                <a:highlight>
                  <a:srgbClr val="FFFFFF"/>
                </a:highlight>
                <a:latin typeface="Consolas"/>
              </a:rPr>
              <a:t>int</a:t>
            </a:r>
            <a:r>
              <a:rPr lang="en-US" sz="1800" dirty="0" smtClean="0">
                <a:solidFill>
                  <a:srgbClr val="000000"/>
                </a:solidFill>
                <a:highlight>
                  <a:srgbClr val="FFFFFF"/>
                </a:highlight>
                <a:latin typeface="Consolas"/>
              </a:rPr>
              <a:t> Width)</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int</a:t>
            </a:r>
            <a:r>
              <a:rPr lang="en-US" sz="1800" dirty="0" smtClean="0">
                <a:solidFill>
                  <a:srgbClr val="000000"/>
                </a:solidFill>
                <a:highlight>
                  <a:srgbClr val="FFFFFF"/>
                </a:highlight>
                <a:latin typeface="Consolas"/>
              </a:rPr>
              <a:t> size = Width * Width * </a:t>
            </a:r>
            <a:r>
              <a:rPr lang="en-US" sz="1800" dirty="0" err="1" smtClean="0">
                <a:solidFill>
                  <a:srgbClr val="000000"/>
                </a:solidFill>
                <a:highlight>
                  <a:srgbClr val="FFFFFF"/>
                </a:highlight>
                <a:latin typeface="Consolas"/>
              </a:rPr>
              <a:t>sizeof</a:t>
            </a:r>
            <a:r>
              <a:rPr lang="en-US" sz="1800" dirty="0" smtClean="0">
                <a:solidFill>
                  <a:srgbClr val="000000"/>
                </a:solidFill>
                <a:highlight>
                  <a:srgbClr val="FFFFFF"/>
                </a:highlight>
                <a:latin typeface="Consolas"/>
              </a:rPr>
              <a:t>(float);</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float*</a:t>
            </a: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Md</a:t>
            </a:r>
            <a:r>
              <a:rPr lang="sr-Latn-RS" sz="1800" dirty="0" smtClean="0">
                <a:solidFill>
                  <a:srgbClr val="000000"/>
                </a:solidFill>
                <a:highlight>
                  <a:srgbClr val="FFFFFF"/>
                </a:highlight>
                <a:latin typeface="Consolas"/>
              </a:rPr>
              <a:t>;</a:t>
            </a: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float* </a:t>
            </a:r>
            <a:r>
              <a:rPr lang="en-US" sz="1800" dirty="0" err="1" smtClean="0">
                <a:solidFill>
                  <a:srgbClr val="000000"/>
                </a:solidFill>
                <a:highlight>
                  <a:srgbClr val="FFFFFF"/>
                </a:highlight>
                <a:latin typeface="Consolas"/>
              </a:rPr>
              <a:t>Nd</a:t>
            </a:r>
            <a:r>
              <a:rPr lang="sr-Latn-RS" sz="1800" dirty="0" smtClean="0">
                <a:solidFill>
                  <a:srgbClr val="000000"/>
                </a:solidFill>
                <a:highlight>
                  <a:srgbClr val="FFFFFF"/>
                </a:highlight>
                <a:latin typeface="Consolas"/>
              </a:rPr>
              <a:t>;</a:t>
            </a: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float</a:t>
            </a:r>
            <a:r>
              <a:rPr lang="en-US" sz="1800" dirty="0" smtClean="0">
                <a:solidFill>
                  <a:srgbClr val="000000"/>
                </a:solidFill>
                <a:highlight>
                  <a:srgbClr val="FFFFFF"/>
                </a:highlight>
                <a:latin typeface="Consolas"/>
              </a:rPr>
              <a:t>*</a:t>
            </a:r>
            <a:r>
              <a:rPr lang="sr-Latn-RS" sz="1800" dirty="0" smtClean="0">
                <a:solidFill>
                  <a:srgbClr val="000000"/>
                </a:solidFill>
                <a:highlight>
                  <a:srgbClr val="FFFFFF"/>
                </a:highlight>
                <a:latin typeface="Consolas"/>
              </a:rPr>
              <a:t> </a:t>
            </a:r>
            <a:r>
              <a:rPr lang="en-US" sz="1800" dirty="0" smtClean="0">
                <a:solidFill>
                  <a:srgbClr val="000000"/>
                </a:solidFill>
                <a:highlight>
                  <a:srgbClr val="FFFFFF"/>
                </a:highlight>
                <a:latin typeface="Consolas"/>
              </a:rPr>
              <a:t>Pd;</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smtClean="0">
                <a:solidFill>
                  <a:srgbClr val="92D050"/>
                </a:solidFill>
                <a:highlight>
                  <a:srgbClr val="FFFFFF"/>
                </a:highlight>
                <a:latin typeface="Consolas"/>
              </a:rPr>
              <a:t>// Allocate and Load M, N to device memory</a:t>
            </a:r>
            <a:endParaRPr lang="sr-Latn-RS" sz="1800" dirty="0" smtClean="0">
              <a:solidFill>
                <a:srgbClr val="92D05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cudaMalloc</a:t>
            </a:r>
            <a:r>
              <a:rPr lang="en-US" sz="1800" dirty="0" smtClean="0">
                <a:solidFill>
                  <a:srgbClr val="000000"/>
                </a:solidFill>
                <a:highlight>
                  <a:srgbClr val="FFFFFF"/>
                </a:highlight>
                <a:latin typeface="Consolas"/>
              </a:rPr>
              <a:t>(&amp;</a:t>
            </a:r>
            <a:r>
              <a:rPr lang="en-US" sz="1800" dirty="0" err="1" smtClean="0">
                <a:solidFill>
                  <a:srgbClr val="000000"/>
                </a:solidFill>
                <a:highlight>
                  <a:srgbClr val="FFFFFF"/>
                </a:highlight>
                <a:latin typeface="Consolas"/>
              </a:rPr>
              <a:t>Md</a:t>
            </a:r>
            <a:r>
              <a:rPr lang="en-US" sz="1800" dirty="0" smtClean="0">
                <a:solidFill>
                  <a:srgbClr val="000000"/>
                </a:solidFill>
                <a:highlight>
                  <a:srgbClr val="FFFFFF"/>
                </a:highlight>
                <a:latin typeface="Consolas"/>
              </a:rPr>
              <a:t>, size);</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cudaMemcpy</a:t>
            </a:r>
            <a:r>
              <a:rPr lang="en-US" sz="1800" dirty="0" smtClean="0">
                <a:solidFill>
                  <a:srgbClr val="000000"/>
                </a:solidFill>
                <a:highlight>
                  <a:srgbClr val="FFFFFF"/>
                </a:highlight>
                <a:latin typeface="Consolas"/>
              </a:rPr>
              <a:t>(</a:t>
            </a:r>
            <a:r>
              <a:rPr lang="en-US" sz="1800" dirty="0" err="1" smtClean="0">
                <a:solidFill>
                  <a:srgbClr val="000000"/>
                </a:solidFill>
                <a:highlight>
                  <a:srgbClr val="FFFFFF"/>
                </a:highlight>
                <a:latin typeface="Consolas"/>
              </a:rPr>
              <a:t>Md</a:t>
            </a:r>
            <a:r>
              <a:rPr lang="en-US" sz="1800" dirty="0" smtClean="0">
                <a:solidFill>
                  <a:srgbClr val="000000"/>
                </a:solidFill>
                <a:highlight>
                  <a:srgbClr val="FFFFFF"/>
                </a:highlight>
                <a:latin typeface="Consolas"/>
              </a:rPr>
              <a:t>, M, size, </a:t>
            </a:r>
            <a:r>
              <a:rPr lang="en-US" sz="1800" dirty="0" err="1" smtClean="0">
                <a:solidFill>
                  <a:srgbClr val="000000"/>
                </a:solidFill>
                <a:highlight>
                  <a:srgbClr val="FFFFFF"/>
                </a:highlight>
                <a:latin typeface="Consolas"/>
              </a:rPr>
              <a:t>cudaMemcpyHostToDevice</a:t>
            </a: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cudaMalloc</a:t>
            </a:r>
            <a:r>
              <a:rPr lang="en-US" sz="1800" dirty="0" smtClean="0">
                <a:solidFill>
                  <a:srgbClr val="000000"/>
                </a:solidFill>
                <a:highlight>
                  <a:srgbClr val="FFFFFF"/>
                </a:highlight>
                <a:latin typeface="Consolas"/>
              </a:rPr>
              <a:t>(&amp;</a:t>
            </a:r>
            <a:r>
              <a:rPr lang="en-US" sz="1800" dirty="0" err="1" smtClean="0">
                <a:solidFill>
                  <a:srgbClr val="000000"/>
                </a:solidFill>
                <a:highlight>
                  <a:srgbClr val="FFFFFF"/>
                </a:highlight>
                <a:latin typeface="Consolas"/>
              </a:rPr>
              <a:t>Nd</a:t>
            </a:r>
            <a:r>
              <a:rPr lang="en-US" sz="1800" dirty="0" smtClean="0">
                <a:solidFill>
                  <a:srgbClr val="000000"/>
                </a:solidFill>
                <a:highlight>
                  <a:srgbClr val="FFFFFF"/>
                </a:highlight>
                <a:latin typeface="Consolas"/>
              </a:rPr>
              <a:t>, size);</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cudaMemcpy</a:t>
            </a:r>
            <a:r>
              <a:rPr lang="en-US" sz="1800" dirty="0" smtClean="0">
                <a:solidFill>
                  <a:srgbClr val="000000"/>
                </a:solidFill>
                <a:highlight>
                  <a:srgbClr val="FFFFFF"/>
                </a:highlight>
                <a:latin typeface="Consolas"/>
              </a:rPr>
              <a:t>(</a:t>
            </a:r>
            <a:r>
              <a:rPr lang="en-US" sz="1800" dirty="0" err="1" smtClean="0">
                <a:solidFill>
                  <a:srgbClr val="000000"/>
                </a:solidFill>
                <a:highlight>
                  <a:srgbClr val="FFFFFF"/>
                </a:highlight>
                <a:latin typeface="Consolas"/>
              </a:rPr>
              <a:t>Nd</a:t>
            </a:r>
            <a:r>
              <a:rPr lang="en-US" sz="1800" dirty="0" smtClean="0">
                <a:solidFill>
                  <a:srgbClr val="000000"/>
                </a:solidFill>
                <a:highlight>
                  <a:srgbClr val="FFFFFF"/>
                </a:highlight>
                <a:latin typeface="Consolas"/>
              </a:rPr>
              <a:t>, N, size, </a:t>
            </a:r>
            <a:r>
              <a:rPr lang="en-US" sz="1800" dirty="0" err="1" smtClean="0">
                <a:solidFill>
                  <a:srgbClr val="000000"/>
                </a:solidFill>
                <a:highlight>
                  <a:srgbClr val="FFFFFF"/>
                </a:highlight>
                <a:latin typeface="Consolas"/>
              </a:rPr>
              <a:t>cudaMemcpyHostToDevice</a:t>
            </a: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smtClean="0">
                <a:solidFill>
                  <a:srgbClr val="92D050"/>
                </a:solidFill>
                <a:highlight>
                  <a:srgbClr val="FFFFFF"/>
                </a:highlight>
                <a:latin typeface="Consolas"/>
              </a:rPr>
              <a:t>// Allocate P on the device</a:t>
            </a:r>
            <a:endParaRPr lang="sr-Latn-RS" sz="1800" dirty="0" smtClean="0">
              <a:solidFill>
                <a:srgbClr val="92D05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cudaMalloc</a:t>
            </a:r>
            <a:r>
              <a:rPr lang="en-US" sz="1800" dirty="0" smtClean="0">
                <a:solidFill>
                  <a:srgbClr val="000000"/>
                </a:solidFill>
                <a:highlight>
                  <a:srgbClr val="FFFFFF"/>
                </a:highlight>
                <a:latin typeface="Consolas"/>
              </a:rPr>
              <a:t>(&amp;Pd, size);</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sr-Latn-RS" sz="1800" dirty="0" smtClean="0">
                <a:solidFill>
                  <a:srgbClr val="92D050"/>
                </a:solidFill>
                <a:highlight>
                  <a:srgbClr val="FFFFFF"/>
                </a:highlight>
                <a:latin typeface="Consolas"/>
              </a:rPr>
              <a:t>///////////////////////////////////////////////////////</a:t>
            </a:r>
          </a:p>
          <a:p>
            <a:pPr marL="182880" indent="-182880" fontAlgn="auto">
              <a:spcAft>
                <a:spcPts val="0"/>
              </a:spcAft>
              <a:buFont typeface="Arial" panose="020B0604020202020204" pitchFamily="34" charset="0"/>
              <a:buNone/>
              <a:defRPr/>
            </a:pPr>
            <a:r>
              <a:rPr lang="sr-Latn-RS" sz="1800" dirty="0" smtClean="0">
                <a:solidFill>
                  <a:srgbClr val="92D050"/>
                </a:solidFill>
                <a:highlight>
                  <a:srgbClr val="FFFFFF"/>
                </a:highlight>
                <a:latin typeface="Consolas"/>
              </a:rPr>
              <a:t>    /</a:t>
            </a:r>
            <a:r>
              <a:rPr lang="en-US" sz="1800" dirty="0" smtClean="0">
                <a:solidFill>
                  <a:srgbClr val="92D050"/>
                </a:solidFill>
                <a:highlight>
                  <a:srgbClr val="FFFFFF"/>
                </a:highlight>
                <a:latin typeface="Consolas"/>
              </a:rPr>
              <a:t>/</a:t>
            </a:r>
            <a:r>
              <a:rPr lang="sr-Latn-RS" sz="1800" dirty="0" smtClean="0">
                <a:solidFill>
                  <a:srgbClr val="92D050"/>
                </a:solidFill>
                <a:highlight>
                  <a:srgbClr val="FFFFFF"/>
                </a:highlight>
                <a:latin typeface="Consolas"/>
              </a:rPr>
              <a:t> </a:t>
            </a:r>
            <a:r>
              <a:rPr lang="en-US" sz="1800" dirty="0" smtClean="0">
                <a:solidFill>
                  <a:srgbClr val="92D050"/>
                </a:solidFill>
                <a:highlight>
                  <a:srgbClr val="FFFFFF"/>
                </a:highlight>
                <a:latin typeface="Consolas"/>
              </a:rPr>
              <a:t>Kernel invocation code – to be shown later</a:t>
            </a:r>
            <a:endParaRPr lang="sr-Latn-RS" sz="1800" dirty="0" smtClean="0">
              <a:solidFill>
                <a:srgbClr val="92D05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92D050"/>
                </a:solidFill>
                <a:highlight>
                  <a:srgbClr val="FFFFFF"/>
                </a:highlight>
                <a:latin typeface="Consolas"/>
              </a:rPr>
              <a:t>    ///////////////////////////////////////////////////////</a:t>
            </a:r>
          </a:p>
          <a:p>
            <a:pPr marL="182880" indent="-182880" fontAlgn="auto">
              <a:spcAft>
                <a:spcPts val="0"/>
              </a:spcAft>
              <a:buFont typeface="Arial" panose="020B0604020202020204" pitchFamily="34" charset="0"/>
              <a:buNone/>
              <a:defRPr/>
            </a:pPr>
            <a:endParaRPr lang="sr-Latn-RS" sz="1800" dirty="0" smtClean="0">
              <a:solidFill>
                <a:srgbClr val="92D05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92D050"/>
                </a:solidFill>
                <a:highlight>
                  <a:srgbClr val="FFFFFF"/>
                </a:highlight>
                <a:latin typeface="Consolas"/>
              </a:rPr>
              <a:t>    </a:t>
            </a:r>
            <a:r>
              <a:rPr lang="en-US" sz="1800" dirty="0" smtClean="0">
                <a:solidFill>
                  <a:srgbClr val="92D050"/>
                </a:solidFill>
                <a:highlight>
                  <a:srgbClr val="FFFFFF"/>
                </a:highlight>
                <a:latin typeface="Consolas"/>
              </a:rPr>
              <a:t>// Read P from the device</a:t>
            </a:r>
            <a:endParaRPr lang="sr-Latn-RS" sz="1800" dirty="0" smtClean="0">
              <a:solidFill>
                <a:srgbClr val="92D05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cudaMemcpy</a:t>
            </a:r>
            <a:r>
              <a:rPr lang="en-US" sz="1800" dirty="0" smtClean="0">
                <a:solidFill>
                  <a:srgbClr val="000000"/>
                </a:solidFill>
                <a:highlight>
                  <a:srgbClr val="FFFFFF"/>
                </a:highlight>
                <a:latin typeface="Consolas"/>
              </a:rPr>
              <a:t>(P, Pd, size, </a:t>
            </a:r>
            <a:r>
              <a:rPr lang="en-US" sz="1800" dirty="0" err="1" smtClean="0">
                <a:solidFill>
                  <a:srgbClr val="000000"/>
                </a:solidFill>
                <a:highlight>
                  <a:srgbClr val="FFFFFF"/>
                </a:highlight>
                <a:latin typeface="Consolas"/>
              </a:rPr>
              <a:t>cudaMemcpyDeviceToHost</a:t>
            </a:r>
            <a:r>
              <a:rPr lang="en-US" sz="1800" dirty="0" smtClean="0">
                <a:solidFill>
                  <a:srgbClr val="000000"/>
                </a:solidFill>
                <a:highlight>
                  <a:srgbClr val="FFFFFF"/>
                </a:highlight>
                <a:latin typeface="Consolas"/>
              </a:rPr>
              <a:t>);</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92D050"/>
                </a:solidFill>
                <a:highlight>
                  <a:srgbClr val="FFFFFF"/>
                </a:highlight>
                <a:latin typeface="Consolas"/>
              </a:rPr>
              <a:t>    </a:t>
            </a:r>
            <a:r>
              <a:rPr lang="en-US" sz="1800" dirty="0" smtClean="0">
                <a:solidFill>
                  <a:srgbClr val="92D050"/>
                </a:solidFill>
                <a:highlight>
                  <a:srgbClr val="FFFFFF"/>
                </a:highlight>
                <a:latin typeface="Consolas"/>
              </a:rPr>
              <a:t>// Free device matrices</a:t>
            </a:r>
            <a:endParaRPr lang="sr-Latn-RS" sz="1800" dirty="0" smtClean="0">
              <a:solidFill>
                <a:srgbClr val="92D05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cudaFree</a:t>
            </a:r>
            <a:r>
              <a:rPr lang="en-US" sz="1800" dirty="0" smtClean="0">
                <a:solidFill>
                  <a:srgbClr val="000000"/>
                </a:solidFill>
                <a:highlight>
                  <a:srgbClr val="FFFFFF"/>
                </a:highlight>
                <a:latin typeface="Consolas"/>
              </a:rPr>
              <a:t>(</a:t>
            </a:r>
            <a:r>
              <a:rPr lang="en-US" sz="1800" dirty="0" err="1" smtClean="0">
                <a:solidFill>
                  <a:srgbClr val="000000"/>
                </a:solidFill>
                <a:highlight>
                  <a:srgbClr val="FFFFFF"/>
                </a:highlight>
                <a:latin typeface="Consolas"/>
              </a:rPr>
              <a:t>Md</a:t>
            </a:r>
            <a:r>
              <a:rPr lang="en-US" sz="1800" dirty="0" smtClean="0">
                <a:solidFill>
                  <a:srgbClr val="000000"/>
                </a:solidFill>
                <a:highlight>
                  <a:srgbClr val="FFFFFF"/>
                </a:highlight>
                <a:latin typeface="Consolas"/>
              </a:rPr>
              <a:t>); </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cudaFree</a:t>
            </a:r>
            <a:r>
              <a:rPr lang="en-US" sz="1800" dirty="0" smtClean="0">
                <a:solidFill>
                  <a:srgbClr val="000000"/>
                </a:solidFill>
                <a:highlight>
                  <a:srgbClr val="FFFFFF"/>
                </a:highlight>
                <a:latin typeface="Consolas"/>
              </a:rPr>
              <a:t>(</a:t>
            </a:r>
            <a:r>
              <a:rPr lang="en-US" sz="1800" dirty="0" err="1" smtClean="0">
                <a:solidFill>
                  <a:srgbClr val="000000"/>
                </a:solidFill>
                <a:highlight>
                  <a:srgbClr val="FFFFFF"/>
                </a:highlight>
                <a:latin typeface="Consolas"/>
              </a:rPr>
              <a:t>Nd</a:t>
            </a:r>
            <a:r>
              <a:rPr lang="en-US" sz="1800" dirty="0" smtClean="0">
                <a:solidFill>
                  <a:srgbClr val="000000"/>
                </a:solidFill>
                <a:highlight>
                  <a:srgbClr val="FFFFFF"/>
                </a:highlight>
                <a:latin typeface="Consolas"/>
              </a:rPr>
              <a:t>); </a:t>
            </a:r>
            <a:endParaRPr lang="sr-Latn-RS" sz="1800" dirty="0" smtClean="0">
              <a:solidFill>
                <a:srgbClr val="000000"/>
              </a:solidFill>
              <a:highlight>
                <a:srgbClr val="FFFFFF"/>
              </a:highlight>
              <a:latin typeface="Consolas"/>
            </a:endParaRPr>
          </a:p>
          <a:p>
            <a:pPr marL="182880" indent="-182880" fontAlgn="auto">
              <a:spcAft>
                <a:spcPts val="0"/>
              </a:spcAft>
              <a:buFont typeface="Arial" panose="020B0604020202020204" pitchFamily="34" charset="0"/>
              <a:buNone/>
              <a:defRPr/>
            </a:pPr>
            <a:r>
              <a:rPr lang="sr-Latn-RS" sz="1800" dirty="0" smtClean="0">
                <a:solidFill>
                  <a:srgbClr val="000000"/>
                </a:solidFill>
                <a:highlight>
                  <a:srgbClr val="FFFFFF"/>
                </a:highlight>
                <a:latin typeface="Consolas"/>
              </a:rPr>
              <a:t>    </a:t>
            </a:r>
            <a:r>
              <a:rPr lang="en-US" sz="1800" dirty="0" err="1" smtClean="0">
                <a:solidFill>
                  <a:srgbClr val="000000"/>
                </a:solidFill>
                <a:highlight>
                  <a:srgbClr val="FFFFFF"/>
                </a:highlight>
                <a:latin typeface="Consolas"/>
              </a:rPr>
              <a:t>cudaFree</a:t>
            </a:r>
            <a:r>
              <a:rPr lang="en-US" sz="1800" dirty="0" smtClean="0">
                <a:solidFill>
                  <a:srgbClr val="000000"/>
                </a:solidFill>
                <a:highlight>
                  <a:srgbClr val="FFFFFF"/>
                </a:highlight>
                <a:latin typeface="Consolas"/>
              </a:rPr>
              <a:t> (Pd);</a:t>
            </a:r>
            <a:br>
              <a:rPr lang="en-US" sz="1800" dirty="0" smtClean="0">
                <a:solidFill>
                  <a:srgbClr val="000000"/>
                </a:solidFill>
                <a:highlight>
                  <a:srgbClr val="FFFFFF"/>
                </a:highlight>
                <a:latin typeface="Consolas"/>
              </a:rPr>
            </a:br>
            <a:r>
              <a:rPr lang="en-US" sz="1800" dirty="0" smtClean="0">
                <a:solidFill>
                  <a:srgbClr val="000000"/>
                </a:solidFill>
                <a:highlight>
                  <a:srgbClr val="FFFFFF"/>
                </a:highlight>
                <a:latin typeface="Consolas"/>
              </a:rPr>
              <a:t>} </a:t>
            </a:r>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23</a:t>
            </a:fld>
            <a:endParaRPr lang="en-US" dirty="0"/>
          </a:p>
        </p:txBody>
      </p:sp>
    </p:spTree>
    <p:extLst>
      <p:ext uri="{BB962C8B-B14F-4D97-AF65-F5344CB8AC3E}">
        <p14:creationId xmlns:p14="http://schemas.microsoft.com/office/powerpoint/2010/main" val="38525712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cstate="print"/>
          <a:srcRect/>
          <a:stretch>
            <a:fillRect/>
          </a:stretch>
        </p:blipFill>
        <p:spPr bwMode="auto">
          <a:xfrm>
            <a:off x="4114800" y="1912440"/>
            <a:ext cx="4724400" cy="471696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sr-Latn-RS" smtClean="0"/>
              <a:t>Primer: Množenje matrica </a:t>
            </a:r>
            <a:r>
              <a:rPr lang="sr-Latn-RS" dirty="0" smtClean="0"/>
              <a:t>(6)</a:t>
            </a:r>
            <a:endParaRPr lang="en-US" dirty="0"/>
          </a:p>
        </p:txBody>
      </p:sp>
      <p:sp>
        <p:nvSpPr>
          <p:cNvPr id="3" name="Content Placeholder 2"/>
          <p:cNvSpPr>
            <a:spLocks noGrp="1"/>
          </p:cNvSpPr>
          <p:nvPr>
            <p:ph idx="1"/>
          </p:nvPr>
        </p:nvSpPr>
        <p:spPr>
          <a:ln>
            <a:noFill/>
          </a:ln>
        </p:spPr>
        <p:txBody>
          <a:bodyPr/>
          <a:lstStyle/>
          <a:p>
            <a:pPr>
              <a:buNone/>
            </a:pP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Konfiguracija</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kernela</a:t>
            </a: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dim3 </a:t>
            </a:r>
            <a:r>
              <a:rPr lang="en-US" sz="2000" dirty="0" err="1" smtClean="0">
                <a:solidFill>
                  <a:srgbClr val="000000"/>
                </a:solidFill>
                <a:highlight>
                  <a:srgbClr val="FFFFFF"/>
                </a:highlight>
                <a:latin typeface="Consolas"/>
              </a:rPr>
              <a:t>dimGrid</a:t>
            </a:r>
            <a:r>
              <a:rPr lang="en-US" sz="2000" dirty="0" smtClean="0">
                <a:solidFill>
                  <a:srgbClr val="000000"/>
                </a:solidFill>
                <a:highlight>
                  <a:srgbClr val="FFFFFF"/>
                </a:highlight>
                <a:latin typeface="Consolas"/>
              </a:rPr>
              <a:t>(1, 1);</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dim3 </a:t>
            </a:r>
            <a:r>
              <a:rPr lang="en-US" sz="2000" dirty="0" err="1" smtClean="0">
                <a:solidFill>
                  <a:srgbClr val="000000"/>
                </a:solidFill>
                <a:highlight>
                  <a:srgbClr val="FFFFFF"/>
                </a:highlight>
                <a:latin typeface="Consolas"/>
              </a:rPr>
              <a:t>dimBlock</a:t>
            </a:r>
            <a:r>
              <a:rPr lang="en-US" sz="2000" dirty="0" smtClean="0">
                <a:solidFill>
                  <a:srgbClr val="000000"/>
                </a:solidFill>
                <a:highlight>
                  <a:srgbClr val="FFFFFF"/>
                </a:highlight>
                <a:latin typeface="Consolas"/>
              </a:rPr>
              <a:t>(Width, Width);</a:t>
            </a:r>
            <a:endParaRPr lang="sr-Latn-RS" sz="2000" dirty="0" smtClean="0">
              <a:solidFill>
                <a:srgbClr val="000000"/>
              </a:solidFill>
              <a:highlight>
                <a:srgbClr val="FFFFFF"/>
              </a:highlight>
              <a:latin typeface="Consolas"/>
            </a:endParaRPr>
          </a:p>
          <a:p>
            <a:pPr>
              <a:buNone/>
            </a:pP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Pokretanje</a:t>
            </a: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err="1" smtClean="0">
                <a:solidFill>
                  <a:srgbClr val="000000"/>
                </a:solidFill>
                <a:highlight>
                  <a:srgbClr val="FFFFFF"/>
                </a:highlight>
                <a:latin typeface="Consolas"/>
              </a:rPr>
              <a:t>MatrixMulKernel</a:t>
            </a:r>
            <a:r>
              <a:rPr lang="en-US" sz="2000" dirty="0" smtClean="0">
                <a:solidFill>
                  <a:srgbClr val="000000"/>
                </a:solidFill>
                <a:highlight>
                  <a:srgbClr val="FFFFFF"/>
                </a:highlight>
                <a:latin typeface="Consolas"/>
              </a:rPr>
              <a:t>&lt;&lt;&lt;</a:t>
            </a:r>
            <a:r>
              <a:rPr lang="en-US" sz="2000" dirty="0" err="1" smtClean="0">
                <a:solidFill>
                  <a:srgbClr val="000000"/>
                </a:solidFill>
                <a:highlight>
                  <a:srgbClr val="FFFFFF"/>
                </a:highlight>
                <a:latin typeface="Consolas"/>
              </a:rPr>
              <a:t>dimGrid</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dimBlock</a:t>
            </a:r>
            <a:r>
              <a:rPr lang="en-US" sz="2000" dirty="0" smtClean="0">
                <a:solidFill>
                  <a:srgbClr val="000000"/>
                </a:solidFill>
                <a:highlight>
                  <a:srgbClr val="FFFFFF"/>
                </a:highlight>
                <a:latin typeface="Consolas"/>
              </a:rPr>
              <a:t>&gt;&gt;&gt;</a:t>
            </a:r>
            <a:br>
              <a:rPr lang="en-US" sz="2000" dirty="0" smtClean="0">
                <a:solidFill>
                  <a:srgbClr val="000000"/>
                </a:solidFill>
                <a:highlight>
                  <a:srgbClr val="FFFFFF"/>
                </a:highlight>
                <a:latin typeface="Consolas"/>
              </a:rPr>
            </a:b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a:t>
            </a:r>
            <a:r>
              <a:rPr lang="en-US" sz="2000" dirty="0" err="1" smtClean="0">
                <a:solidFill>
                  <a:srgbClr val="000000"/>
                </a:solidFill>
                <a:highlight>
                  <a:srgbClr val="FFFFFF"/>
                </a:highlight>
                <a:latin typeface="Consolas"/>
              </a:rPr>
              <a:t>Md</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Nd</a:t>
            </a:r>
            <a:r>
              <a:rPr lang="en-US" sz="2000" dirty="0" smtClean="0">
                <a:solidFill>
                  <a:srgbClr val="000000"/>
                </a:solidFill>
                <a:highlight>
                  <a:srgbClr val="FFFFFF"/>
                </a:highlight>
                <a:latin typeface="Consolas"/>
              </a:rPr>
              <a:t>, Pd, Width); </a:t>
            </a:r>
            <a:r>
              <a:rPr lang="en-US" dirty="0" smtClean="0"/>
              <a:t/>
            </a:r>
            <a:br>
              <a:rPr lang="en-US" dirty="0" smtClean="0"/>
            </a:br>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smtClean="0"/>
              <a:t>Primer: Množenje matrica </a:t>
            </a:r>
            <a:r>
              <a:rPr lang="sr-Latn-RS" dirty="0" smtClean="0"/>
              <a:t>(5)</a:t>
            </a:r>
            <a:endParaRPr lang="en-US" dirty="0"/>
          </a:p>
        </p:txBody>
      </p:sp>
      <p:sp>
        <p:nvSpPr>
          <p:cNvPr id="3" name="Content Placeholder 2"/>
          <p:cNvSpPr>
            <a:spLocks noGrp="1"/>
          </p:cNvSpPr>
          <p:nvPr>
            <p:ph idx="1"/>
          </p:nvPr>
        </p:nvSpPr>
        <p:spPr/>
        <p:txBody>
          <a:bodyPr>
            <a:normAutofit/>
          </a:bodyPr>
          <a:lstStyle/>
          <a:p>
            <a:pPr>
              <a:buNone/>
            </a:pPr>
            <a:r>
              <a:rPr lang="sr-Latn-RS" sz="1100" b="1" dirty="0" smtClean="0">
                <a:solidFill>
                  <a:srgbClr val="000000"/>
                </a:solidFill>
                <a:highlight>
                  <a:srgbClr val="FFFFFF"/>
                </a:highlight>
                <a:latin typeface="Consolas"/>
              </a:rPr>
              <a:t>KERNEL:</a:t>
            </a:r>
            <a:r>
              <a:rPr lang="en-US" sz="1100" dirty="0" smtClean="0">
                <a:solidFill>
                  <a:srgbClr val="000000"/>
                </a:solidFill>
                <a:highlight>
                  <a:srgbClr val="FFFFFF"/>
                </a:highlight>
                <a:latin typeface="Consolas"/>
              </a:rPr>
              <a:t/>
            </a:r>
            <a:br>
              <a:rPr lang="en-US" sz="1100" dirty="0" smtClean="0">
                <a:solidFill>
                  <a:srgbClr val="000000"/>
                </a:solidFill>
                <a:highlight>
                  <a:srgbClr val="FFFFFF"/>
                </a:highlight>
                <a:latin typeface="Consolas"/>
              </a:rPr>
            </a:b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__global__ void </a:t>
            </a:r>
            <a:r>
              <a:rPr lang="en-US" sz="1500" dirty="0" err="1" smtClean="0">
                <a:solidFill>
                  <a:srgbClr val="000000"/>
                </a:solidFill>
                <a:highlight>
                  <a:srgbClr val="FFFFFF"/>
                </a:highlight>
                <a:latin typeface="Consolas"/>
              </a:rPr>
              <a:t>MatrixMulKernel</a:t>
            </a:r>
            <a:r>
              <a:rPr lang="en-US" sz="1500" dirty="0" smtClean="0">
                <a:solidFill>
                  <a:srgbClr val="000000"/>
                </a:solidFill>
                <a:highlight>
                  <a:srgbClr val="FFFFFF"/>
                </a:highlight>
                <a:latin typeface="Consolas"/>
              </a:rPr>
              <a:t>(float* </a:t>
            </a:r>
            <a:r>
              <a:rPr lang="en-US" sz="1500" dirty="0" err="1" smtClean="0">
                <a:solidFill>
                  <a:srgbClr val="000000"/>
                </a:solidFill>
                <a:highlight>
                  <a:srgbClr val="FFFFFF"/>
                </a:highlight>
                <a:latin typeface="Consolas"/>
              </a:rPr>
              <a:t>Md</a:t>
            </a:r>
            <a:r>
              <a:rPr lang="en-US" sz="1500" dirty="0" smtClean="0">
                <a:solidFill>
                  <a:srgbClr val="000000"/>
                </a:solidFill>
                <a:highlight>
                  <a:srgbClr val="FFFFFF"/>
                </a:highlight>
                <a:latin typeface="Consolas"/>
              </a:rPr>
              <a:t>, float* </a:t>
            </a:r>
            <a:r>
              <a:rPr lang="en-US" sz="1500" dirty="0" err="1" smtClean="0">
                <a:solidFill>
                  <a:srgbClr val="000000"/>
                </a:solidFill>
                <a:highlight>
                  <a:srgbClr val="FFFFFF"/>
                </a:highlight>
                <a:latin typeface="Consolas"/>
              </a:rPr>
              <a:t>Nd</a:t>
            </a:r>
            <a:r>
              <a:rPr lang="en-US" sz="1500" dirty="0" smtClean="0">
                <a:solidFill>
                  <a:srgbClr val="000000"/>
                </a:solidFill>
                <a:highlight>
                  <a:srgbClr val="FFFFFF"/>
                </a:highlight>
                <a:latin typeface="Consolas"/>
              </a:rPr>
              <a:t>, float* Pd, </a:t>
            </a:r>
            <a:r>
              <a:rPr lang="en-US" sz="1500" dirty="0" err="1" smtClean="0">
                <a:solidFill>
                  <a:srgbClr val="000000"/>
                </a:solidFill>
                <a:highlight>
                  <a:srgbClr val="FFFFFF"/>
                </a:highlight>
                <a:latin typeface="Consolas"/>
              </a:rPr>
              <a:t>int</a:t>
            </a:r>
            <a:r>
              <a:rPr lang="en-US" sz="1500" dirty="0" smtClean="0">
                <a:solidFill>
                  <a:srgbClr val="000000"/>
                </a:solidFill>
                <a:highlight>
                  <a:srgbClr val="FFFFFF"/>
                </a:highlight>
                <a:latin typeface="Consolas"/>
              </a:rPr>
              <a:t> Width)</a:t>
            </a:r>
            <a:endParaRPr lang="sr-Latn-RS" sz="1500" dirty="0" smtClean="0">
              <a:solidFill>
                <a:srgbClr val="00000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a:t>
            </a:r>
            <a:endParaRPr lang="sr-Latn-RS" sz="1500" dirty="0" smtClean="0">
              <a:solidFill>
                <a:srgbClr val="000000"/>
              </a:solidFill>
              <a:highlight>
                <a:srgbClr val="FFFFFF"/>
              </a:highlight>
              <a:latin typeface="Consolas"/>
            </a:endParaRPr>
          </a:p>
          <a:p>
            <a:pPr>
              <a:buNone/>
            </a:pPr>
            <a:r>
              <a:rPr lang="sr-Latn-RS" sz="1500" dirty="0" smtClean="0">
                <a:solidFill>
                  <a:srgbClr val="92D050"/>
                </a:solidFill>
                <a:highlight>
                  <a:srgbClr val="FFFFFF"/>
                </a:highlight>
                <a:latin typeface="Consolas"/>
              </a:rPr>
              <a:t>        </a:t>
            </a:r>
            <a:r>
              <a:rPr lang="en-US" sz="1500" dirty="0" smtClean="0">
                <a:solidFill>
                  <a:srgbClr val="92D050"/>
                </a:solidFill>
                <a:highlight>
                  <a:srgbClr val="FFFFFF"/>
                </a:highlight>
                <a:latin typeface="Consolas"/>
              </a:rPr>
              <a:t>// </a:t>
            </a:r>
            <a:r>
              <a:rPr lang="en-US" sz="1500" dirty="0" err="1" smtClean="0">
                <a:solidFill>
                  <a:srgbClr val="92D050"/>
                </a:solidFill>
                <a:highlight>
                  <a:srgbClr val="FFFFFF"/>
                </a:highlight>
                <a:latin typeface="Consolas"/>
              </a:rPr>
              <a:t>Pvalue</a:t>
            </a:r>
            <a:r>
              <a:rPr lang="en-US" sz="1500" dirty="0" smtClean="0">
                <a:solidFill>
                  <a:srgbClr val="92D050"/>
                </a:solidFill>
                <a:highlight>
                  <a:srgbClr val="FFFFFF"/>
                </a:highlight>
                <a:latin typeface="Consolas"/>
              </a:rPr>
              <a:t> is used to store the element of the </a:t>
            </a:r>
            <a:r>
              <a:rPr lang="en-US" sz="1500" dirty="0" err="1" smtClean="0">
                <a:solidFill>
                  <a:srgbClr val="92D050"/>
                </a:solidFill>
                <a:highlight>
                  <a:srgbClr val="FFFFFF"/>
                </a:highlight>
                <a:latin typeface="Consolas"/>
              </a:rPr>
              <a:t>matri</a:t>
            </a:r>
            <a:r>
              <a:rPr lang="sr-Latn-RS" sz="1500" dirty="0" smtClean="0">
                <a:solidFill>
                  <a:srgbClr val="92D050"/>
                </a:solidFill>
                <a:highlight>
                  <a:srgbClr val="FFFFFF"/>
                </a:highlight>
                <a:latin typeface="Consolas"/>
              </a:rPr>
              <a:t>x </a:t>
            </a:r>
          </a:p>
          <a:p>
            <a:pPr>
              <a:buNone/>
            </a:pPr>
            <a:r>
              <a:rPr lang="sr-Latn-RS" sz="1500" dirty="0" smtClean="0">
                <a:solidFill>
                  <a:srgbClr val="92D050"/>
                </a:solidFill>
                <a:highlight>
                  <a:srgbClr val="FFFFFF"/>
                </a:highlight>
                <a:latin typeface="Consolas"/>
              </a:rPr>
              <a:t>        // </a:t>
            </a:r>
            <a:r>
              <a:rPr lang="en-US" sz="1500" dirty="0" smtClean="0">
                <a:solidFill>
                  <a:srgbClr val="92D050"/>
                </a:solidFill>
                <a:highlight>
                  <a:srgbClr val="FFFFFF"/>
                </a:highlight>
                <a:latin typeface="Consolas"/>
              </a:rPr>
              <a:t>that is computed by the thread</a:t>
            </a:r>
            <a:endParaRPr lang="sr-Latn-RS" sz="1500" dirty="0" smtClean="0">
              <a:solidFill>
                <a:srgbClr val="92D05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float </a:t>
            </a:r>
            <a:r>
              <a:rPr lang="en-US" sz="1500" dirty="0" err="1" smtClean="0">
                <a:solidFill>
                  <a:srgbClr val="000000"/>
                </a:solidFill>
                <a:highlight>
                  <a:srgbClr val="FFFFFF"/>
                </a:highlight>
                <a:latin typeface="Consolas"/>
              </a:rPr>
              <a:t>Pvalue</a:t>
            </a:r>
            <a:r>
              <a:rPr lang="en-US" sz="1500" dirty="0" smtClean="0">
                <a:solidFill>
                  <a:srgbClr val="000000"/>
                </a:solidFill>
                <a:highlight>
                  <a:srgbClr val="FFFFFF"/>
                </a:highlight>
                <a:latin typeface="Consolas"/>
              </a:rPr>
              <a:t> = 0;</a:t>
            </a:r>
            <a:endParaRPr lang="sr-Latn-RS" sz="1500" dirty="0" smtClean="0">
              <a:solidFill>
                <a:srgbClr val="000000"/>
              </a:solidFill>
              <a:highlight>
                <a:srgbClr val="FFFFFF"/>
              </a:highlight>
              <a:latin typeface="Consolas"/>
            </a:endParaRPr>
          </a:p>
          <a:p>
            <a:pPr>
              <a:buNone/>
            </a:pPr>
            <a:endParaRPr lang="sr-Latn-RS" sz="1500" dirty="0" smtClean="0">
              <a:solidFill>
                <a:srgbClr val="00000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for (</a:t>
            </a:r>
            <a:r>
              <a:rPr lang="en-US" sz="1500" dirty="0" err="1" smtClean="0">
                <a:solidFill>
                  <a:srgbClr val="000000"/>
                </a:solidFill>
                <a:highlight>
                  <a:srgbClr val="FFFFFF"/>
                </a:highlight>
                <a:latin typeface="Consolas"/>
              </a:rPr>
              <a:t>int</a:t>
            </a:r>
            <a:r>
              <a:rPr lang="en-US" sz="1500" dirty="0" smtClean="0">
                <a:solidFill>
                  <a:srgbClr val="000000"/>
                </a:solidFill>
                <a:highlight>
                  <a:srgbClr val="FFFFFF"/>
                </a:highlight>
                <a:latin typeface="Consolas"/>
              </a:rPr>
              <a:t> k = 0; k &lt; Width; ++k) </a:t>
            </a:r>
            <a:endParaRPr lang="sr-Latn-RS" sz="1500" dirty="0" smtClean="0">
              <a:solidFill>
                <a:srgbClr val="00000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a:t>
            </a:r>
            <a:endParaRPr lang="sr-Latn-RS" sz="1500" dirty="0" smtClean="0">
              <a:solidFill>
                <a:srgbClr val="00000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float </a:t>
            </a:r>
            <a:r>
              <a:rPr lang="en-US" sz="1500" dirty="0" err="1" smtClean="0">
                <a:solidFill>
                  <a:srgbClr val="000000"/>
                </a:solidFill>
                <a:highlight>
                  <a:srgbClr val="FFFFFF"/>
                </a:highlight>
                <a:latin typeface="Consolas"/>
              </a:rPr>
              <a:t>Melement</a:t>
            </a:r>
            <a:r>
              <a:rPr lang="en-US" sz="1500" dirty="0" smtClean="0">
                <a:solidFill>
                  <a:srgbClr val="000000"/>
                </a:solidFill>
                <a:highlight>
                  <a:srgbClr val="FFFFFF"/>
                </a:highlight>
                <a:latin typeface="Consolas"/>
              </a:rPr>
              <a:t> = </a:t>
            </a:r>
            <a:r>
              <a:rPr lang="en-US" sz="1500" dirty="0" err="1" smtClean="0">
                <a:solidFill>
                  <a:srgbClr val="000000"/>
                </a:solidFill>
                <a:highlight>
                  <a:srgbClr val="FFFFFF"/>
                </a:highlight>
                <a:latin typeface="Consolas"/>
              </a:rPr>
              <a:t>Md</a:t>
            </a:r>
            <a:r>
              <a:rPr lang="en-US" sz="1500" dirty="0" smtClean="0">
                <a:solidFill>
                  <a:srgbClr val="000000"/>
                </a:solidFill>
                <a:highlight>
                  <a:srgbClr val="FFFFFF"/>
                </a:highlight>
                <a:latin typeface="Consolas"/>
              </a:rPr>
              <a:t>[</a:t>
            </a:r>
            <a:r>
              <a:rPr lang="en-US" sz="1500" dirty="0" err="1" smtClean="0">
                <a:solidFill>
                  <a:srgbClr val="000000"/>
                </a:solidFill>
                <a:highlight>
                  <a:srgbClr val="FFFFFF"/>
                </a:highlight>
                <a:latin typeface="Consolas"/>
              </a:rPr>
              <a:t>threadIdx.y</a:t>
            </a:r>
            <a:r>
              <a:rPr lang="en-US" sz="1500" dirty="0" smtClean="0">
                <a:solidFill>
                  <a:srgbClr val="000000"/>
                </a:solidFill>
                <a:highlight>
                  <a:srgbClr val="FFFFFF"/>
                </a:highlight>
                <a:latin typeface="Consolas"/>
              </a:rPr>
              <a:t> * Width + k];</a:t>
            </a:r>
            <a:endParaRPr lang="sr-Latn-RS" sz="1500" dirty="0" smtClean="0">
              <a:solidFill>
                <a:srgbClr val="00000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float </a:t>
            </a:r>
            <a:r>
              <a:rPr lang="en-US" sz="1500" dirty="0" err="1" smtClean="0">
                <a:solidFill>
                  <a:srgbClr val="000000"/>
                </a:solidFill>
                <a:highlight>
                  <a:srgbClr val="FFFFFF"/>
                </a:highlight>
                <a:latin typeface="Consolas"/>
              </a:rPr>
              <a:t>Nelement</a:t>
            </a:r>
            <a:r>
              <a:rPr lang="en-US" sz="1500" dirty="0" smtClean="0">
                <a:solidFill>
                  <a:srgbClr val="000000"/>
                </a:solidFill>
                <a:highlight>
                  <a:srgbClr val="FFFFFF"/>
                </a:highlight>
                <a:latin typeface="Consolas"/>
              </a:rPr>
              <a:t> = </a:t>
            </a:r>
            <a:r>
              <a:rPr lang="en-US" sz="1500" dirty="0" err="1" smtClean="0">
                <a:solidFill>
                  <a:srgbClr val="000000"/>
                </a:solidFill>
                <a:highlight>
                  <a:srgbClr val="FFFFFF"/>
                </a:highlight>
                <a:latin typeface="Consolas"/>
              </a:rPr>
              <a:t>Nd</a:t>
            </a:r>
            <a:r>
              <a:rPr lang="en-US" sz="1500" dirty="0" smtClean="0">
                <a:solidFill>
                  <a:srgbClr val="000000"/>
                </a:solidFill>
                <a:highlight>
                  <a:srgbClr val="FFFFFF"/>
                </a:highlight>
                <a:latin typeface="Consolas"/>
              </a:rPr>
              <a:t>[k * Width + </a:t>
            </a:r>
            <a:r>
              <a:rPr lang="en-US" sz="1500" dirty="0" err="1" smtClean="0">
                <a:solidFill>
                  <a:srgbClr val="000000"/>
                </a:solidFill>
                <a:highlight>
                  <a:srgbClr val="FFFFFF"/>
                </a:highlight>
                <a:latin typeface="Consolas"/>
              </a:rPr>
              <a:t>threadIdx.x</a:t>
            </a:r>
            <a:r>
              <a:rPr lang="en-US" sz="1500" dirty="0" smtClean="0">
                <a:solidFill>
                  <a:srgbClr val="000000"/>
                </a:solidFill>
                <a:highlight>
                  <a:srgbClr val="FFFFFF"/>
                </a:highlight>
                <a:latin typeface="Consolas"/>
              </a:rPr>
              <a:t>];</a:t>
            </a:r>
            <a:endParaRPr lang="sr-Latn-RS" sz="1500" dirty="0" smtClean="0">
              <a:solidFill>
                <a:srgbClr val="000000"/>
              </a:solidFill>
              <a:highlight>
                <a:srgbClr val="FFFFFF"/>
              </a:highlight>
              <a:latin typeface="Consolas"/>
            </a:endParaRPr>
          </a:p>
          <a:p>
            <a:pPr>
              <a:buNone/>
            </a:pPr>
            <a:r>
              <a:rPr lang="sr-Latn-RS" sz="1500" dirty="0" smtClean="0">
                <a:solidFill>
                  <a:srgbClr val="000000"/>
                </a:solidFill>
                <a:highlight>
                  <a:srgbClr val="FFFFFF"/>
                </a:highlight>
                <a:latin typeface="Consolas"/>
              </a:rPr>
              <a:t>            </a:t>
            </a:r>
            <a:r>
              <a:rPr lang="en-US" sz="1500" dirty="0" err="1" smtClean="0">
                <a:solidFill>
                  <a:srgbClr val="000000"/>
                </a:solidFill>
                <a:highlight>
                  <a:srgbClr val="FFFFFF"/>
                </a:highlight>
                <a:latin typeface="Consolas"/>
              </a:rPr>
              <a:t>Pvalue</a:t>
            </a:r>
            <a:r>
              <a:rPr lang="en-US" sz="1500" dirty="0" smtClean="0">
                <a:solidFill>
                  <a:srgbClr val="000000"/>
                </a:solidFill>
                <a:highlight>
                  <a:srgbClr val="FFFFFF"/>
                </a:highlight>
                <a:latin typeface="Consolas"/>
              </a:rPr>
              <a:t> += </a:t>
            </a:r>
            <a:r>
              <a:rPr lang="en-US" sz="1500" dirty="0" err="1" smtClean="0">
                <a:solidFill>
                  <a:srgbClr val="000000"/>
                </a:solidFill>
                <a:highlight>
                  <a:srgbClr val="FFFFFF"/>
                </a:highlight>
                <a:latin typeface="Consolas"/>
              </a:rPr>
              <a:t>Melement</a:t>
            </a:r>
            <a:r>
              <a:rPr lang="en-US" sz="1500" dirty="0" smtClean="0">
                <a:solidFill>
                  <a:srgbClr val="000000"/>
                </a:solidFill>
                <a:highlight>
                  <a:srgbClr val="FFFFFF"/>
                </a:highlight>
                <a:latin typeface="Consolas"/>
              </a:rPr>
              <a:t> * </a:t>
            </a:r>
            <a:r>
              <a:rPr lang="en-US" sz="1500" dirty="0" err="1" smtClean="0">
                <a:solidFill>
                  <a:srgbClr val="000000"/>
                </a:solidFill>
                <a:highlight>
                  <a:srgbClr val="FFFFFF"/>
                </a:highlight>
                <a:latin typeface="Consolas"/>
              </a:rPr>
              <a:t>Nelement</a:t>
            </a:r>
            <a:r>
              <a:rPr lang="en-US" sz="1500" dirty="0" smtClean="0">
                <a:solidFill>
                  <a:srgbClr val="000000"/>
                </a:solidFill>
                <a:highlight>
                  <a:srgbClr val="FFFFFF"/>
                </a:highlight>
                <a:latin typeface="Consolas"/>
              </a:rPr>
              <a:t>;</a:t>
            </a:r>
            <a:br>
              <a:rPr lang="en-US" sz="1500" dirty="0" smtClean="0">
                <a:solidFill>
                  <a:srgbClr val="000000"/>
                </a:solidFill>
                <a:highlight>
                  <a:srgbClr val="FFFFFF"/>
                </a:highlight>
                <a:latin typeface="Consolas"/>
              </a:rPr>
            </a:b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a:t>
            </a:r>
            <a:endParaRPr lang="sr-Latn-RS" sz="1500" dirty="0" smtClean="0">
              <a:solidFill>
                <a:srgbClr val="000000"/>
              </a:solidFill>
              <a:highlight>
                <a:srgbClr val="FFFFFF"/>
              </a:highlight>
              <a:latin typeface="Consolas"/>
            </a:endParaRPr>
          </a:p>
          <a:p>
            <a:pPr>
              <a:buNone/>
            </a:pPr>
            <a:r>
              <a:rPr lang="en-US" sz="1500" dirty="0" smtClean="0">
                <a:solidFill>
                  <a:srgbClr val="000000"/>
                </a:solidFill>
                <a:highlight>
                  <a:srgbClr val="FFFFFF"/>
                </a:highlight>
                <a:latin typeface="Consolas"/>
              </a:rPr>
              <a:t/>
            </a:r>
            <a:br>
              <a:rPr lang="en-US" sz="1500" dirty="0" smtClean="0">
                <a:solidFill>
                  <a:srgbClr val="000000"/>
                </a:solidFill>
                <a:highlight>
                  <a:srgbClr val="FFFFFF"/>
                </a:highlight>
                <a:latin typeface="Consolas"/>
              </a:rPr>
            </a:br>
            <a:r>
              <a:rPr lang="sr-Latn-RS" sz="1500" dirty="0" smtClean="0">
                <a:solidFill>
                  <a:srgbClr val="000000"/>
                </a:solidFill>
                <a:highlight>
                  <a:srgbClr val="FFFFFF"/>
                </a:highlight>
                <a:latin typeface="Consolas"/>
              </a:rPr>
              <a:t>      </a:t>
            </a:r>
            <a:r>
              <a:rPr lang="en-US" sz="1500" dirty="0" smtClean="0">
                <a:solidFill>
                  <a:srgbClr val="000000"/>
                </a:solidFill>
                <a:highlight>
                  <a:srgbClr val="FFFFFF"/>
                </a:highlight>
                <a:latin typeface="Consolas"/>
              </a:rPr>
              <a:t>Pd[</a:t>
            </a:r>
            <a:r>
              <a:rPr lang="en-US" sz="1500" dirty="0" err="1" smtClean="0">
                <a:solidFill>
                  <a:srgbClr val="000000"/>
                </a:solidFill>
                <a:highlight>
                  <a:srgbClr val="FFFFFF"/>
                </a:highlight>
                <a:latin typeface="Consolas"/>
              </a:rPr>
              <a:t>threadIdx.y</a:t>
            </a:r>
            <a:r>
              <a:rPr lang="en-US" sz="1500" dirty="0" smtClean="0">
                <a:solidFill>
                  <a:srgbClr val="000000"/>
                </a:solidFill>
                <a:highlight>
                  <a:srgbClr val="FFFFFF"/>
                </a:highlight>
                <a:latin typeface="Consolas"/>
              </a:rPr>
              <a:t> * Width + </a:t>
            </a:r>
            <a:r>
              <a:rPr lang="en-US" sz="1500" dirty="0" err="1" smtClean="0">
                <a:solidFill>
                  <a:srgbClr val="000000"/>
                </a:solidFill>
                <a:highlight>
                  <a:srgbClr val="FFFFFF"/>
                </a:highlight>
                <a:latin typeface="Consolas"/>
              </a:rPr>
              <a:t>threadIdx.x</a:t>
            </a:r>
            <a:r>
              <a:rPr lang="en-US" sz="1500" dirty="0" smtClean="0">
                <a:solidFill>
                  <a:srgbClr val="000000"/>
                </a:solidFill>
                <a:highlight>
                  <a:srgbClr val="FFFFFF"/>
                </a:highlight>
                <a:latin typeface="Consolas"/>
              </a:rPr>
              <a:t>] = </a:t>
            </a:r>
            <a:r>
              <a:rPr lang="en-US" sz="1500" dirty="0" err="1" smtClean="0">
                <a:solidFill>
                  <a:srgbClr val="000000"/>
                </a:solidFill>
                <a:highlight>
                  <a:srgbClr val="FFFFFF"/>
                </a:highlight>
                <a:latin typeface="Consolas"/>
              </a:rPr>
              <a:t>Pvalue</a:t>
            </a:r>
            <a:r>
              <a:rPr lang="en-US" sz="1500" dirty="0" smtClean="0">
                <a:solidFill>
                  <a:srgbClr val="000000"/>
                </a:solidFill>
                <a:highlight>
                  <a:srgbClr val="FFFFFF"/>
                </a:highlight>
                <a:latin typeface="Consolas"/>
              </a:rPr>
              <a:t>;</a:t>
            </a:r>
            <a:br>
              <a:rPr lang="en-US" sz="1500" dirty="0" smtClean="0">
                <a:solidFill>
                  <a:srgbClr val="000000"/>
                </a:solidFill>
                <a:highlight>
                  <a:srgbClr val="FFFFFF"/>
                </a:highlight>
                <a:latin typeface="Consolas"/>
              </a:rPr>
            </a:br>
            <a:r>
              <a:rPr lang="en-US" sz="1500" dirty="0" smtClean="0">
                <a:solidFill>
                  <a:srgbClr val="000000"/>
                </a:solidFill>
                <a:highlight>
                  <a:srgbClr val="FFFFFF"/>
                </a:highlight>
                <a:latin typeface="Consolas"/>
              </a:rPr>
              <a:t>} </a:t>
            </a:r>
            <a:r>
              <a:rPr lang="en-US" dirty="0" smtClean="0"/>
              <a:t/>
            </a:r>
            <a:br>
              <a:rPr lang="en-US" dirty="0" smtClean="0"/>
            </a:br>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Primer: Množenje matrica - Nedostaci (1)</a:t>
            </a:r>
            <a:endParaRPr lang="en-US" dirty="0"/>
          </a:p>
        </p:txBody>
      </p:sp>
      <p:sp>
        <p:nvSpPr>
          <p:cNvPr id="3" name="Content Placeholder 2"/>
          <p:cNvSpPr>
            <a:spLocks noGrp="1"/>
          </p:cNvSpPr>
          <p:nvPr>
            <p:ph idx="1"/>
          </p:nvPr>
        </p:nvSpPr>
        <p:spPr/>
        <p:txBody>
          <a:bodyPr/>
          <a:lstStyle/>
          <a:p>
            <a:r>
              <a:rPr lang="it-IT" dirty="0" smtClean="0"/>
              <a:t>Koristi </a:t>
            </a:r>
            <a:r>
              <a:rPr lang="it-IT" smtClean="0"/>
              <a:t>se samo </a:t>
            </a:r>
            <a:r>
              <a:rPr lang="it-IT" dirty="0" smtClean="0"/>
              <a:t>jedan blok niti</a:t>
            </a:r>
            <a:endParaRPr lang="sr-Latn-RS" dirty="0" smtClean="0"/>
          </a:p>
          <a:p>
            <a:pPr lvl="1"/>
            <a:r>
              <a:rPr lang="it-IT" smtClean="0"/>
              <a:t>Matrice mogu biti samo </a:t>
            </a:r>
            <a:r>
              <a:rPr lang="it-IT" dirty="0" smtClean="0"/>
              <a:t>ograničene veličine </a:t>
            </a:r>
            <a:br>
              <a:rPr lang="it-IT" dirty="0" smtClean="0"/>
            </a:br>
            <a:endParaRPr lang="en-US" dirty="0"/>
          </a:p>
        </p:txBody>
      </p:sp>
      <p:pic>
        <p:nvPicPr>
          <p:cNvPr id="3075" name="Picture 3"/>
          <p:cNvPicPr>
            <a:picLocks noChangeAspect="1" noChangeArrowheads="1"/>
          </p:cNvPicPr>
          <p:nvPr/>
        </p:nvPicPr>
        <p:blipFill>
          <a:blip r:embed="rId3" cstate="print"/>
          <a:srcRect/>
          <a:stretch>
            <a:fillRect/>
          </a:stretch>
        </p:blipFill>
        <p:spPr bwMode="auto">
          <a:xfrm>
            <a:off x="2057400" y="2895600"/>
            <a:ext cx="4762500" cy="349567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036081D1-8380-407A-ABF3-D12854566F9D}" type="slidenum">
              <a:rPr lang="en-US" smtClean="0"/>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cstate="print"/>
          <a:srcRect/>
          <a:stretch>
            <a:fillRect/>
          </a:stretch>
        </p:blipFill>
        <p:spPr bwMode="auto">
          <a:xfrm>
            <a:off x="2895600" y="1066800"/>
            <a:ext cx="5891212" cy="5490146"/>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sr-Latn-RS" dirty="0" smtClean="0"/>
              <a:t>Množenje matrica – tajlovi (1)</a:t>
            </a:r>
            <a:endParaRPr lang="en-US" dirty="0"/>
          </a:p>
        </p:txBody>
      </p:sp>
      <p:sp>
        <p:nvSpPr>
          <p:cNvPr id="3" name="Content Placeholder 2"/>
          <p:cNvSpPr>
            <a:spLocks noGrp="1"/>
          </p:cNvSpPr>
          <p:nvPr>
            <p:ph idx="1"/>
          </p:nvPr>
        </p:nvSpPr>
        <p:spPr/>
        <p:txBody>
          <a:bodyPr/>
          <a:lstStyle/>
          <a:p>
            <a:r>
              <a:rPr lang="en-US" dirty="0" err="1" smtClean="0"/>
              <a:t>Rešenje</a:t>
            </a:r>
            <a:r>
              <a:rPr lang="en-US" dirty="0" smtClean="0"/>
              <a:t> – </a:t>
            </a:r>
            <a:r>
              <a:rPr lang="en-US" err="1" smtClean="0"/>
              <a:t>podeliti</a:t>
            </a:r>
            <a:r>
              <a:rPr lang="en-US" smtClean="0"/>
              <a:t> matricu</a:t>
            </a:r>
            <a:r>
              <a:rPr lang="sr-Latn-RS" smtClean="0"/>
              <a:t> </a:t>
            </a:r>
            <a:r>
              <a:rPr lang="en-US" err="1" smtClean="0"/>
              <a:t>na</a:t>
            </a:r>
            <a:r>
              <a:rPr lang="en-US" smtClean="0"/>
              <a:t> podmatrice </a:t>
            </a:r>
            <a:endParaRPr lang="sr-Latn-RS" dirty="0" smtClean="0"/>
          </a:p>
          <a:p>
            <a:pPr>
              <a:buNone/>
            </a:pPr>
            <a:r>
              <a:rPr lang="sr-Latn-RS" dirty="0" smtClean="0"/>
              <a:t> </a:t>
            </a:r>
            <a:r>
              <a:rPr lang="en-US" dirty="0" smtClean="0"/>
              <a:t>(tiles)</a:t>
            </a:r>
            <a:r>
              <a:rPr lang="sr-Latn-RS" dirty="0" smtClean="0"/>
              <a:t> </a:t>
            </a:r>
            <a:r>
              <a:rPr lang="en-US" dirty="0" err="1" smtClean="0"/>
              <a:t>koje</a:t>
            </a:r>
            <a:r>
              <a:rPr lang="en-US" dirty="0" smtClean="0"/>
              <a:t> </a:t>
            </a:r>
            <a:r>
              <a:rPr lang="en-US" dirty="0" err="1" smtClean="0"/>
              <a:t>će</a:t>
            </a:r>
            <a:r>
              <a:rPr lang="en-US" dirty="0" smtClean="0"/>
              <a:t> </a:t>
            </a:r>
            <a:r>
              <a:rPr lang="en-US" dirty="0" err="1" smtClean="0"/>
              <a:t>obraditi</a:t>
            </a:r>
            <a:r>
              <a:rPr lang="en-US" dirty="0" smtClean="0"/>
              <a:t> </a:t>
            </a:r>
            <a:r>
              <a:rPr lang="en-US" dirty="0" err="1" smtClean="0"/>
              <a:t>zasebni</a:t>
            </a:r>
            <a:r>
              <a:rPr lang="en-US" dirty="0" smtClean="0"/>
              <a:t> </a:t>
            </a:r>
            <a:r>
              <a:rPr lang="en-US" dirty="0" err="1" smtClean="0"/>
              <a:t>blokovi</a:t>
            </a:r>
            <a:r>
              <a:rPr lang="en-US" dirty="0" smtClean="0"/>
              <a:t> </a:t>
            </a:r>
            <a:r>
              <a:rPr lang="en-US" dirty="0" err="1" smtClean="0"/>
              <a:t>niti</a:t>
            </a:r>
            <a:endParaRPr lang="sr-Latn-RS" dirty="0" smtClean="0"/>
          </a:p>
          <a:p>
            <a:pPr lvl="1"/>
            <a:r>
              <a:rPr lang="en-US" dirty="0" err="1" smtClean="0"/>
              <a:t>Svaka</a:t>
            </a:r>
            <a:r>
              <a:rPr lang="en-US" dirty="0" smtClean="0"/>
              <a:t> nit </a:t>
            </a:r>
            <a:r>
              <a:rPr lang="en-US" dirty="0" err="1" smtClean="0"/>
              <a:t>računa</a:t>
            </a:r>
            <a:r>
              <a:rPr lang="en-US" dirty="0" smtClean="0"/>
              <a:t> </a:t>
            </a:r>
            <a:r>
              <a:rPr lang="en-US" err="1" smtClean="0"/>
              <a:t>jedan</a:t>
            </a:r>
            <a:r>
              <a:rPr lang="en-US" smtClean="0"/>
              <a:t> element</a:t>
            </a:r>
            <a:endParaRPr lang="sr-Latn-RS" dirty="0" smtClean="0"/>
          </a:p>
          <a:p>
            <a:pPr lvl="1"/>
            <a:r>
              <a:rPr lang="sr-Latn-RS" dirty="0" smtClean="0"/>
              <a:t>V</a:t>
            </a:r>
            <a:r>
              <a:rPr lang="en-US" dirty="0" err="1" smtClean="0"/>
              <a:t>eličina</a:t>
            </a:r>
            <a:r>
              <a:rPr lang="en-US" dirty="0" smtClean="0"/>
              <a:t> </a:t>
            </a:r>
            <a:r>
              <a:rPr lang="en-US" dirty="0" err="1" smtClean="0"/>
              <a:t>bloka</a:t>
            </a:r>
            <a:r>
              <a:rPr lang="en-US" dirty="0" smtClean="0"/>
              <a:t> </a:t>
            </a:r>
            <a:r>
              <a:rPr lang="en-US" dirty="0" err="1" smtClean="0"/>
              <a:t>niti</a:t>
            </a:r>
            <a:r>
              <a:rPr lang="en-US" dirty="0" smtClean="0"/>
              <a:t> </a:t>
            </a:r>
            <a:r>
              <a:rPr lang="en-US" dirty="0" err="1" smtClean="0"/>
              <a:t>će</a:t>
            </a:r>
            <a:r>
              <a:rPr lang="en-US" dirty="0" smtClean="0"/>
              <a:t> </a:t>
            </a:r>
            <a:r>
              <a:rPr lang="en-US" dirty="0" err="1" smtClean="0"/>
              <a:t>biti</a:t>
            </a:r>
            <a:r>
              <a:rPr lang="en-US" dirty="0" smtClean="0"/>
              <a:t/>
            </a:r>
            <a:br>
              <a:rPr lang="en-US" dirty="0" smtClean="0"/>
            </a:br>
            <a:r>
              <a:rPr lang="en-US" dirty="0" err="1" smtClean="0"/>
              <a:t>jednaka</a:t>
            </a:r>
            <a:r>
              <a:rPr lang="en-US" dirty="0" smtClean="0"/>
              <a:t> </a:t>
            </a:r>
            <a:r>
              <a:rPr lang="en-US" err="1" smtClean="0"/>
              <a:t>veličini</a:t>
            </a:r>
            <a:r>
              <a:rPr lang="en-US" smtClean="0"/>
              <a:t> podmatrice </a:t>
            </a:r>
            <a:r>
              <a:rPr lang="en-US" dirty="0" smtClean="0"/>
              <a:t/>
            </a:r>
            <a:br>
              <a:rPr lang="en-US" dirty="0" smtClean="0"/>
            </a:br>
            <a:endParaRPr lang="en-U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27</a:t>
            </a:fld>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Množenje </a:t>
            </a:r>
            <a:r>
              <a:rPr lang="sr-Latn-RS" dirty="0"/>
              <a:t>matrica – tajlovi </a:t>
            </a:r>
            <a:r>
              <a:rPr lang="sr-Latn-RS" dirty="0" smtClean="0"/>
              <a:t>(2)</a:t>
            </a:r>
            <a:endParaRPr lang="en-US" dirty="0"/>
          </a:p>
        </p:txBody>
      </p:sp>
      <p:sp>
        <p:nvSpPr>
          <p:cNvPr id="3" name="Content Placeholder 2"/>
          <p:cNvSpPr>
            <a:spLocks noGrp="1"/>
          </p:cNvSpPr>
          <p:nvPr>
            <p:ph idx="1"/>
          </p:nvPr>
        </p:nvSpPr>
        <p:spPr>
          <a:xfrm>
            <a:off x="304800" y="1600200"/>
            <a:ext cx="8382000" cy="4876800"/>
          </a:xfrm>
        </p:spPr>
        <p:txBody>
          <a:bodyPr/>
          <a:lstStyle/>
          <a:p>
            <a:r>
              <a:rPr lang="en-US" smtClean="0"/>
              <a:t>Primer množenja matrice </a:t>
            </a:r>
            <a:r>
              <a:rPr lang="en-US" dirty="0" smtClean="0"/>
              <a:t>4x4,</a:t>
            </a:r>
            <a:r>
              <a:rPr lang="en-US" smtClean="0"/>
              <a:t/>
            </a:r>
            <a:br>
              <a:rPr lang="en-US" smtClean="0"/>
            </a:br>
            <a:r>
              <a:rPr lang="en-US" smtClean="0"/>
              <a:t>korišćenjem </a:t>
            </a:r>
            <a:r>
              <a:rPr lang="en-US" dirty="0" err="1" smtClean="0"/>
              <a:t>blokova</a:t>
            </a:r>
            <a:r>
              <a:rPr lang="en-US" dirty="0" smtClean="0"/>
              <a:t> </a:t>
            </a:r>
            <a:r>
              <a:rPr lang="en-US" err="1" smtClean="0"/>
              <a:t>niti</a:t>
            </a:r>
            <a:r>
              <a:rPr lang="en-US" smtClean="0"/>
              <a:t> dimenzija </a:t>
            </a:r>
            <a:r>
              <a:rPr lang="en-US" dirty="0" smtClean="0"/>
              <a:t>2x2 </a:t>
            </a:r>
            <a:r>
              <a:rPr lang="en-US" dirty="0" err="1" smtClean="0"/>
              <a:t>niti</a:t>
            </a:r>
            <a:r>
              <a:rPr lang="en-US" dirty="0" smtClean="0"/>
              <a:t> </a:t>
            </a:r>
            <a:br>
              <a:rPr lang="en-US" dirty="0" smtClean="0"/>
            </a:br>
            <a:endParaRPr lang="en-US" dirty="0"/>
          </a:p>
        </p:txBody>
      </p:sp>
      <p:graphicFrame>
        <p:nvGraphicFramePr>
          <p:cNvPr id="5" name="Table 4"/>
          <p:cNvGraphicFramePr>
            <a:graphicFrameLocks noGrp="1"/>
          </p:cNvGraphicFramePr>
          <p:nvPr/>
        </p:nvGraphicFramePr>
        <p:xfrm>
          <a:off x="838200" y="3581400"/>
          <a:ext cx="2438400" cy="19050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76250">
                <a:tc>
                  <a:txBody>
                    <a:bodyPr/>
                    <a:lstStyle/>
                    <a:p>
                      <a:r>
                        <a:rPr lang="en-US" dirty="0" smtClean="0">
                          <a:solidFill>
                            <a:schemeClr val="tx1"/>
                          </a:solidFill>
                        </a:rPr>
                        <a:t>P</a:t>
                      </a:r>
                      <a:r>
                        <a:rPr lang="sr-Latn-RS" baseline="-25000" dirty="0" smtClean="0">
                          <a:solidFill>
                            <a:schemeClr val="tx1"/>
                          </a:solidFill>
                        </a:rPr>
                        <a:t>0,0</a:t>
                      </a:r>
                      <a:endParaRPr lang="en-US" baseline="-25000" dirty="0">
                        <a:solidFill>
                          <a:schemeClr val="tx1"/>
                        </a:solidFill>
                      </a:endParaRPr>
                    </a:p>
                  </a:txBody>
                  <a:tcPr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1</a:t>
                      </a:r>
                      <a:r>
                        <a:rPr lang="sr-Latn-RS" baseline="-25000" dirty="0" smtClean="0">
                          <a:solidFill>
                            <a:schemeClr val="tx1"/>
                          </a:solidFill>
                        </a:rPr>
                        <a:t>,</a:t>
                      </a:r>
                      <a:r>
                        <a:rPr lang="en-US" baseline="-25000" dirty="0" smtClean="0">
                          <a:solidFill>
                            <a:schemeClr val="tx1"/>
                          </a:solidFill>
                        </a:rPr>
                        <a:t>0</a:t>
                      </a:r>
                    </a:p>
                  </a:txBody>
                  <a:tcPr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2</a:t>
                      </a:r>
                      <a:r>
                        <a:rPr lang="sr-Latn-RS" baseline="-25000" dirty="0" smtClean="0">
                          <a:solidFill>
                            <a:schemeClr val="tx1"/>
                          </a:solidFill>
                        </a:rPr>
                        <a:t>,</a:t>
                      </a:r>
                      <a:r>
                        <a:rPr lang="en-US" baseline="-25000" dirty="0" smtClean="0">
                          <a:solidFill>
                            <a:schemeClr val="tx1"/>
                          </a:solidFill>
                        </a:rPr>
                        <a:t>0</a:t>
                      </a:r>
                    </a:p>
                  </a:txBody>
                  <a:tcPr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3</a:t>
                      </a:r>
                      <a:r>
                        <a:rPr lang="sr-Latn-RS" baseline="-25000" dirty="0" smtClean="0">
                          <a:solidFill>
                            <a:schemeClr val="tx1"/>
                          </a:solidFill>
                        </a:rPr>
                        <a:t>,</a:t>
                      </a:r>
                      <a:r>
                        <a:rPr lang="en-US" baseline="-25000" dirty="0" smtClean="0">
                          <a:solidFill>
                            <a:schemeClr val="tx1"/>
                          </a:solidFill>
                        </a:rPr>
                        <a:t>0</a:t>
                      </a:r>
                    </a:p>
                  </a:txBody>
                  <a:tcPr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0"/>
                  </a:ext>
                </a:extLst>
              </a:tr>
              <a:tr h="476250">
                <a:tc>
                  <a:txBody>
                    <a:bodyPr/>
                    <a:lstStyle/>
                    <a:p>
                      <a:r>
                        <a:rPr lang="en-US" dirty="0" smtClean="0">
                          <a:solidFill>
                            <a:schemeClr val="tx1"/>
                          </a:solidFill>
                        </a:rPr>
                        <a:t>P</a:t>
                      </a:r>
                      <a:r>
                        <a:rPr lang="en-US" baseline="-25000" dirty="0" smtClean="0">
                          <a:solidFill>
                            <a:schemeClr val="tx1"/>
                          </a:solidFill>
                        </a:rPr>
                        <a:t>0</a:t>
                      </a:r>
                      <a:r>
                        <a:rPr lang="sr-Latn-RS" baseline="-25000" dirty="0" smtClean="0">
                          <a:solidFill>
                            <a:schemeClr val="tx1"/>
                          </a:solidFill>
                        </a:rPr>
                        <a:t>,</a:t>
                      </a:r>
                      <a:r>
                        <a:rPr lang="en-US" baseline="-25000" dirty="0" smtClean="0">
                          <a:solidFill>
                            <a:schemeClr val="tx1"/>
                          </a:solidFill>
                        </a:rPr>
                        <a:t>1</a:t>
                      </a:r>
                      <a:endParaRPr lang="en-US" baseline="-25000" dirty="0">
                        <a:solidFill>
                          <a:schemeClr val="tx1"/>
                        </a:solidFill>
                      </a:endParaRPr>
                    </a:p>
                  </a:txBody>
                  <a:tcPr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sr-Latn-RS" baseline="-25000" dirty="0" smtClean="0">
                          <a:solidFill>
                            <a:schemeClr val="tx1"/>
                          </a:solidFill>
                        </a:rPr>
                        <a:t>1,1</a:t>
                      </a:r>
                      <a:endParaRPr lang="en-US" baseline="-25000" dirty="0" smtClean="0">
                        <a:solidFill>
                          <a:schemeClr val="tx1"/>
                        </a:solidFill>
                      </a:endParaRPr>
                    </a:p>
                  </a:txBody>
                  <a:tcPr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2</a:t>
                      </a:r>
                      <a:r>
                        <a:rPr lang="sr-Latn-RS" baseline="-25000" dirty="0" smtClean="0">
                          <a:solidFill>
                            <a:schemeClr val="tx1"/>
                          </a:solidFill>
                        </a:rPr>
                        <a:t>,</a:t>
                      </a:r>
                      <a:r>
                        <a:rPr lang="en-US" baseline="-25000" dirty="0" smtClean="0">
                          <a:solidFill>
                            <a:schemeClr val="tx1"/>
                          </a:solidFill>
                        </a:rPr>
                        <a:t>1</a:t>
                      </a:r>
                    </a:p>
                  </a:txBody>
                  <a:tcPr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3</a:t>
                      </a:r>
                      <a:r>
                        <a:rPr lang="sr-Latn-RS" baseline="-25000" dirty="0" smtClean="0">
                          <a:solidFill>
                            <a:schemeClr val="tx1"/>
                          </a:solidFill>
                        </a:rPr>
                        <a:t>,</a:t>
                      </a:r>
                      <a:r>
                        <a:rPr lang="en-US" baseline="-25000" dirty="0" smtClean="0">
                          <a:solidFill>
                            <a:schemeClr val="tx1"/>
                          </a:solidFill>
                        </a:rPr>
                        <a:t>1</a:t>
                      </a:r>
                    </a:p>
                  </a:txBody>
                  <a:tcPr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6250">
                <a:tc>
                  <a:txBody>
                    <a:bodyPr/>
                    <a:lstStyle/>
                    <a:p>
                      <a:r>
                        <a:rPr lang="en-US" dirty="0" smtClean="0">
                          <a:solidFill>
                            <a:schemeClr val="tx1"/>
                          </a:solidFill>
                        </a:rPr>
                        <a:t>P</a:t>
                      </a:r>
                      <a:r>
                        <a:rPr lang="en-US" baseline="-25000" dirty="0" smtClean="0">
                          <a:solidFill>
                            <a:schemeClr val="tx1"/>
                          </a:solidFill>
                        </a:rPr>
                        <a:t>0</a:t>
                      </a:r>
                      <a:r>
                        <a:rPr lang="sr-Latn-RS" baseline="-25000" dirty="0" smtClean="0">
                          <a:solidFill>
                            <a:schemeClr val="tx1"/>
                          </a:solidFill>
                        </a:rPr>
                        <a:t>,</a:t>
                      </a:r>
                      <a:r>
                        <a:rPr lang="en-US" baseline="-25000" dirty="0" smtClean="0">
                          <a:solidFill>
                            <a:schemeClr val="tx1"/>
                          </a:solidFill>
                        </a:rPr>
                        <a:t>2</a:t>
                      </a:r>
                      <a:endParaRPr lang="en-US" baseline="-25000" dirty="0">
                        <a:solidFill>
                          <a:schemeClr val="tx1"/>
                        </a:solidFill>
                      </a:endParaRPr>
                    </a:p>
                  </a:txBody>
                  <a:tcPr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1</a:t>
                      </a:r>
                      <a:r>
                        <a:rPr lang="sr-Latn-RS" baseline="-25000" dirty="0" smtClean="0">
                          <a:solidFill>
                            <a:schemeClr val="tx1"/>
                          </a:solidFill>
                        </a:rPr>
                        <a:t>,</a:t>
                      </a:r>
                      <a:r>
                        <a:rPr lang="en-US" baseline="-25000" dirty="0" smtClean="0">
                          <a:solidFill>
                            <a:schemeClr val="tx1"/>
                          </a:solidFill>
                        </a:rPr>
                        <a:t>2</a:t>
                      </a:r>
                    </a:p>
                  </a:txBody>
                  <a:tcPr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sr-Latn-RS" baseline="-25000" dirty="0" smtClean="0">
                          <a:solidFill>
                            <a:schemeClr val="tx1"/>
                          </a:solidFill>
                        </a:rPr>
                        <a:t>2,2</a:t>
                      </a:r>
                      <a:endParaRPr lang="en-US" baseline="-25000" dirty="0" smtClean="0">
                        <a:solidFill>
                          <a:schemeClr val="tx1"/>
                        </a:solidFill>
                      </a:endParaRPr>
                    </a:p>
                  </a:txBody>
                  <a:tcPr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3</a:t>
                      </a:r>
                      <a:r>
                        <a:rPr lang="sr-Latn-RS" baseline="-25000" dirty="0" smtClean="0">
                          <a:solidFill>
                            <a:schemeClr val="tx1"/>
                          </a:solidFill>
                        </a:rPr>
                        <a:t>,</a:t>
                      </a:r>
                      <a:r>
                        <a:rPr lang="en-US" baseline="-25000" dirty="0" smtClean="0">
                          <a:solidFill>
                            <a:schemeClr val="tx1"/>
                          </a:solidFill>
                        </a:rPr>
                        <a:t>2</a:t>
                      </a:r>
                    </a:p>
                  </a:txBody>
                  <a:tcPr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2"/>
                  </a:ext>
                </a:extLst>
              </a:tr>
              <a:tr h="476250">
                <a:tc>
                  <a:txBody>
                    <a:bodyPr/>
                    <a:lstStyle/>
                    <a:p>
                      <a:r>
                        <a:rPr lang="en-US" dirty="0" smtClean="0">
                          <a:solidFill>
                            <a:schemeClr val="tx1"/>
                          </a:solidFill>
                        </a:rPr>
                        <a:t>P</a:t>
                      </a:r>
                      <a:r>
                        <a:rPr lang="en-US" baseline="-25000" dirty="0" smtClean="0">
                          <a:solidFill>
                            <a:schemeClr val="tx1"/>
                          </a:solidFill>
                        </a:rPr>
                        <a:t>0</a:t>
                      </a:r>
                      <a:r>
                        <a:rPr lang="sr-Latn-RS" baseline="-25000" dirty="0" smtClean="0">
                          <a:solidFill>
                            <a:schemeClr val="tx1"/>
                          </a:solidFill>
                        </a:rPr>
                        <a:t>,</a:t>
                      </a:r>
                      <a:r>
                        <a:rPr lang="en-US" baseline="-25000" dirty="0" smtClean="0">
                          <a:solidFill>
                            <a:schemeClr val="tx1"/>
                          </a:solidFill>
                        </a:rPr>
                        <a:t>3</a:t>
                      </a:r>
                      <a:endParaRPr lang="en-US" baseline="-25000" dirty="0">
                        <a:solidFill>
                          <a:schemeClr val="tx1"/>
                        </a:solidFill>
                      </a:endParaRPr>
                    </a:p>
                  </a:txBody>
                  <a:tcPr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1</a:t>
                      </a:r>
                      <a:r>
                        <a:rPr lang="sr-Latn-RS" baseline="-25000" dirty="0" smtClean="0">
                          <a:solidFill>
                            <a:schemeClr val="tx1"/>
                          </a:solidFill>
                        </a:rPr>
                        <a:t>,</a:t>
                      </a:r>
                      <a:r>
                        <a:rPr lang="en-US" baseline="-25000" dirty="0" smtClean="0">
                          <a:solidFill>
                            <a:schemeClr val="tx1"/>
                          </a:solidFill>
                        </a:rPr>
                        <a:t>3</a:t>
                      </a:r>
                    </a:p>
                  </a:txBody>
                  <a:tcPr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en-US" baseline="-25000" dirty="0" smtClean="0">
                          <a:solidFill>
                            <a:schemeClr val="tx1"/>
                          </a:solidFill>
                        </a:rPr>
                        <a:t>2</a:t>
                      </a:r>
                      <a:r>
                        <a:rPr lang="sr-Latn-RS" baseline="-25000" dirty="0" smtClean="0">
                          <a:solidFill>
                            <a:schemeClr val="tx1"/>
                          </a:solidFill>
                        </a:rPr>
                        <a:t>,</a:t>
                      </a:r>
                      <a:r>
                        <a:rPr lang="en-US" baseline="-25000" dirty="0" smtClean="0">
                          <a:solidFill>
                            <a:schemeClr val="tx1"/>
                          </a:solidFill>
                        </a:rPr>
                        <a:t>3</a:t>
                      </a:r>
                    </a:p>
                  </a:txBody>
                  <a:tcPr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P</a:t>
                      </a:r>
                      <a:r>
                        <a:rPr lang="sr-Latn-RS" baseline="-25000" dirty="0" smtClean="0">
                          <a:solidFill>
                            <a:schemeClr val="tx1"/>
                          </a:solidFill>
                        </a:rPr>
                        <a:t>3,3</a:t>
                      </a:r>
                      <a:endParaRPr lang="en-US" baseline="-25000" dirty="0" smtClean="0">
                        <a:solidFill>
                          <a:schemeClr val="tx1"/>
                        </a:solidFill>
                      </a:endParaRPr>
                    </a:p>
                  </a:txBody>
                  <a:tcPr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nvGraphicFramePr>
        <p:xfrm>
          <a:off x="6324600" y="1981200"/>
          <a:ext cx="2438400" cy="19050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76250">
                <a:tc>
                  <a:txBody>
                    <a:bodyPr/>
                    <a:lstStyle/>
                    <a:p>
                      <a:r>
                        <a:rPr lang="sr-Latn-RS" sz="1400" dirty="0" smtClean="0">
                          <a:solidFill>
                            <a:schemeClr val="tx1"/>
                          </a:solidFill>
                        </a:rPr>
                        <a:t>Nd</a:t>
                      </a:r>
                      <a:r>
                        <a:rPr lang="sr-Latn-RS" sz="1400" baseline="-25000" dirty="0" smtClean="0">
                          <a:solidFill>
                            <a:schemeClr val="tx1"/>
                          </a:solidFill>
                        </a:rPr>
                        <a:t>0,0</a:t>
                      </a:r>
                      <a:endParaRPr lang="en-US" sz="1400" baseline="-25000" dirty="0">
                        <a:solidFill>
                          <a:schemeClr val="tx1"/>
                        </a:solidFill>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1,0</a:t>
                      </a:r>
                      <a:endParaRPr lang="en-US" sz="1400" baseline="-25000" dirty="0" smtClean="0">
                        <a:solidFill>
                          <a:schemeClr val="tx1"/>
                        </a:solidFill>
                      </a:endParaRPr>
                    </a:p>
                  </a:txBody>
                  <a:tcPr anchor="ctr">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extLst>
                  <a:ext uri="{0D108BD9-81ED-4DB2-BD59-A6C34878D82A}">
                    <a16:rowId xmlns:a16="http://schemas.microsoft.com/office/drawing/2014/main" val="10000"/>
                  </a:ext>
                </a:extLst>
              </a:tr>
              <a:tr h="476250">
                <a:tc>
                  <a:txBody>
                    <a:bodyPr/>
                    <a:lstStyle/>
                    <a:p>
                      <a:r>
                        <a:rPr lang="sr-Latn-RS" sz="1400" dirty="0" smtClean="0">
                          <a:solidFill>
                            <a:schemeClr val="tx1"/>
                          </a:solidFill>
                        </a:rPr>
                        <a:t>Nd</a:t>
                      </a:r>
                      <a:r>
                        <a:rPr lang="sr-Latn-RS" sz="1400" baseline="-25000" dirty="0" smtClean="0">
                          <a:solidFill>
                            <a:schemeClr val="tx1"/>
                          </a:solidFill>
                        </a:rPr>
                        <a:t>0,1</a:t>
                      </a:r>
                      <a:endParaRPr lang="en-US" sz="1400" baseline="-25000" dirty="0">
                        <a:solidFill>
                          <a:schemeClr val="tx1"/>
                        </a:solidFill>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1,1</a:t>
                      </a:r>
                      <a:endParaRPr lang="en-US" sz="1400" baseline="-25000" dirty="0" smtClean="0">
                        <a:solidFill>
                          <a:schemeClr val="tx1"/>
                        </a:solidFill>
                      </a:endParaRPr>
                    </a:p>
                  </a:txBody>
                  <a:tcPr anchor="ctr">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extLst>
                  <a:ext uri="{0D108BD9-81ED-4DB2-BD59-A6C34878D82A}">
                    <a16:rowId xmlns:a16="http://schemas.microsoft.com/office/drawing/2014/main" val="10001"/>
                  </a:ext>
                </a:extLst>
              </a:tr>
              <a:tr h="476250">
                <a:tc>
                  <a:txBody>
                    <a:bodyPr/>
                    <a:lstStyle/>
                    <a:p>
                      <a:r>
                        <a:rPr lang="sr-Latn-RS" sz="1400" dirty="0" smtClean="0">
                          <a:solidFill>
                            <a:schemeClr val="tx1"/>
                          </a:solidFill>
                        </a:rPr>
                        <a:t>Nd</a:t>
                      </a:r>
                      <a:r>
                        <a:rPr lang="en-US" sz="1400" baseline="-25000" dirty="0" smtClean="0">
                          <a:solidFill>
                            <a:schemeClr val="tx1"/>
                          </a:solidFill>
                        </a:rPr>
                        <a:t>0</a:t>
                      </a:r>
                      <a:r>
                        <a:rPr lang="sr-Latn-RS" sz="1400" baseline="-25000" dirty="0" smtClean="0">
                          <a:solidFill>
                            <a:schemeClr val="tx1"/>
                          </a:solidFill>
                        </a:rPr>
                        <a:t>,2</a:t>
                      </a:r>
                      <a:endParaRPr lang="en-US" sz="1400" baseline="-25000" dirty="0">
                        <a:solidFill>
                          <a:schemeClr val="tx1"/>
                        </a:solidFill>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1,2</a:t>
                      </a:r>
                      <a:endParaRPr lang="en-US" sz="1400" baseline="-25000" dirty="0" smtClean="0">
                        <a:solidFill>
                          <a:schemeClr val="tx1"/>
                        </a:solidFill>
                      </a:endParaRPr>
                    </a:p>
                  </a:txBody>
                  <a:tcPr anchor="ctr">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extLst>
                  <a:ext uri="{0D108BD9-81ED-4DB2-BD59-A6C34878D82A}">
                    <a16:rowId xmlns:a16="http://schemas.microsoft.com/office/drawing/2014/main" val="10002"/>
                  </a:ext>
                </a:extLst>
              </a:tr>
              <a:tr h="476250">
                <a:tc>
                  <a:txBody>
                    <a:bodyPr/>
                    <a:lstStyle/>
                    <a:p>
                      <a:r>
                        <a:rPr lang="sr-Latn-RS" sz="1400" dirty="0" smtClean="0">
                          <a:solidFill>
                            <a:schemeClr val="tx1"/>
                          </a:solidFill>
                        </a:rPr>
                        <a:t>Nd</a:t>
                      </a:r>
                      <a:r>
                        <a:rPr lang="sr-Latn-RS" sz="1400" baseline="-25000" dirty="0" smtClean="0">
                          <a:solidFill>
                            <a:schemeClr val="tx1"/>
                          </a:solidFill>
                        </a:rPr>
                        <a:t>0,3</a:t>
                      </a:r>
                      <a:endParaRPr lang="en-US" sz="1400" baseline="-25000" dirty="0">
                        <a:solidFill>
                          <a:schemeClr val="tx1"/>
                        </a:solidFill>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1,3</a:t>
                      </a:r>
                      <a:endParaRPr lang="en-US" sz="1400" baseline="-25000" dirty="0" smtClean="0">
                        <a:solidFill>
                          <a:schemeClr val="tx1"/>
                        </a:solidFill>
                      </a:endParaRPr>
                    </a:p>
                  </a:txBody>
                  <a:tcPr anchor="ctr">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nvGraphicFramePr>
        <p:xfrm>
          <a:off x="3505200" y="4038600"/>
          <a:ext cx="2590800" cy="1905000"/>
        </p:xfrm>
        <a:graphic>
          <a:graphicData uri="http://schemas.openxmlformats.org/drawingml/2006/table">
            <a:tbl>
              <a:tblPr firstRow="1" bandRow="1">
                <a:tableStyleId>{5940675A-B579-460E-94D1-54222C63F5DA}</a:tableStyleId>
              </a:tblPr>
              <a:tblGrid>
                <a:gridCol w="6477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tblGrid>
              <a:tr h="476250">
                <a:tc>
                  <a:txBody>
                    <a:bodyPr/>
                    <a:lstStyle/>
                    <a:p>
                      <a:r>
                        <a:rPr lang="sr-Latn-RS" sz="1400" dirty="0" smtClean="0">
                          <a:solidFill>
                            <a:schemeClr val="tx1"/>
                          </a:solidFill>
                        </a:rPr>
                        <a:t>Md</a:t>
                      </a:r>
                      <a:r>
                        <a:rPr lang="sr-Latn-RS" sz="1400" baseline="-25000" dirty="0" smtClean="0">
                          <a:solidFill>
                            <a:schemeClr val="tx1"/>
                          </a:solidFill>
                        </a:rPr>
                        <a:t>0,0</a:t>
                      </a:r>
                      <a:endParaRPr lang="en-US" sz="1400" baseline="-25000" dirty="0">
                        <a:solidFill>
                          <a:schemeClr val="tx1"/>
                        </a:solidFill>
                      </a:endParaRPr>
                    </a:p>
                  </a:txBody>
                  <a:tcPr anchor="ct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1</a:t>
                      </a:r>
                      <a:r>
                        <a:rPr lang="sr-Latn-RS" sz="1400" baseline="-25000" dirty="0" smtClean="0">
                          <a:solidFill>
                            <a:schemeClr val="tx1"/>
                          </a:solidFill>
                        </a:rPr>
                        <a:t>,</a:t>
                      </a:r>
                      <a:r>
                        <a:rPr lang="en-US" sz="1400" baseline="-25000" dirty="0" smtClean="0">
                          <a:solidFill>
                            <a:schemeClr val="tx1"/>
                          </a:solidFill>
                        </a:rPr>
                        <a:t>0</a:t>
                      </a:r>
                    </a:p>
                  </a:txBody>
                  <a:tcPr anchor="ct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2</a:t>
                      </a:r>
                      <a:r>
                        <a:rPr lang="sr-Latn-RS" sz="1400" baseline="-25000" dirty="0" smtClean="0">
                          <a:solidFill>
                            <a:schemeClr val="tx1"/>
                          </a:solidFill>
                        </a:rPr>
                        <a:t>,</a:t>
                      </a:r>
                      <a:r>
                        <a:rPr lang="en-US" sz="1400" baseline="-25000" dirty="0" smtClean="0">
                          <a:solidFill>
                            <a:schemeClr val="tx1"/>
                          </a:solidFill>
                        </a:rPr>
                        <a:t>0</a:t>
                      </a:r>
                    </a:p>
                  </a:txBody>
                  <a:tcPr anchor="ct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3,0</a:t>
                      </a:r>
                    </a:p>
                  </a:txBody>
                  <a:tcPr anchor="ctr">
                    <a:solidFill>
                      <a:srgbClr val="FFFF00"/>
                    </a:solidFill>
                  </a:tcPr>
                </a:tc>
                <a:extLst>
                  <a:ext uri="{0D108BD9-81ED-4DB2-BD59-A6C34878D82A}">
                    <a16:rowId xmlns:a16="http://schemas.microsoft.com/office/drawing/2014/main" val="10000"/>
                  </a:ext>
                </a:extLst>
              </a:tr>
              <a:tr h="476250">
                <a:tc>
                  <a:txBody>
                    <a:bodyPr/>
                    <a:lstStyle/>
                    <a:p>
                      <a:r>
                        <a:rPr lang="sr-Latn-RS" sz="1400" dirty="0" smtClean="0">
                          <a:solidFill>
                            <a:schemeClr val="tx1"/>
                          </a:solidFill>
                        </a:rPr>
                        <a:t>Md</a:t>
                      </a:r>
                      <a:r>
                        <a:rPr lang="en-US" sz="1400" baseline="-25000" dirty="0" smtClean="0">
                          <a:solidFill>
                            <a:schemeClr val="tx1"/>
                          </a:solidFill>
                        </a:rPr>
                        <a:t>0</a:t>
                      </a:r>
                      <a:r>
                        <a:rPr lang="sr-Latn-RS" sz="1400" baseline="-25000" dirty="0" smtClean="0">
                          <a:solidFill>
                            <a:schemeClr val="tx1"/>
                          </a:solidFill>
                        </a:rPr>
                        <a:t>,</a:t>
                      </a:r>
                      <a:r>
                        <a:rPr lang="en-US" sz="1400" baseline="-25000" dirty="0" smtClean="0">
                          <a:solidFill>
                            <a:schemeClr val="tx1"/>
                          </a:solidFill>
                        </a:rPr>
                        <a:t>1</a:t>
                      </a:r>
                      <a:endParaRPr lang="en-US" sz="1400" baseline="-25000" dirty="0">
                        <a:solidFill>
                          <a:schemeClr val="tx1"/>
                        </a:solidFill>
                      </a:endParaRPr>
                    </a:p>
                  </a:txBody>
                  <a:tcPr anchor="ctr">
                    <a:solidFill>
                      <a:srgbClr val="FF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sr-Latn-RS" sz="1400" baseline="-25000" dirty="0" smtClean="0">
                          <a:solidFill>
                            <a:schemeClr val="tx1"/>
                          </a:solidFill>
                        </a:rPr>
                        <a:t>1,1</a:t>
                      </a:r>
                      <a:endParaRPr lang="en-US" sz="1400" baseline="-25000" dirty="0" smtClean="0">
                        <a:solidFill>
                          <a:schemeClr val="tx1"/>
                        </a:solidFill>
                      </a:endParaRPr>
                    </a:p>
                  </a:txBody>
                  <a:tcPr anchor="ctr">
                    <a:solidFill>
                      <a:srgbClr val="FF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2</a:t>
                      </a:r>
                      <a:r>
                        <a:rPr lang="sr-Latn-RS" sz="1400" baseline="-25000" dirty="0" smtClean="0">
                          <a:solidFill>
                            <a:schemeClr val="tx1"/>
                          </a:solidFill>
                        </a:rPr>
                        <a:t>,</a:t>
                      </a:r>
                      <a:r>
                        <a:rPr lang="en-US" sz="1400" baseline="-25000" dirty="0" smtClean="0">
                          <a:solidFill>
                            <a:schemeClr val="tx1"/>
                          </a:solidFill>
                        </a:rPr>
                        <a:t>1</a:t>
                      </a:r>
                    </a:p>
                  </a:txBody>
                  <a:tcPr anchor="ctr">
                    <a:solidFill>
                      <a:srgbClr val="FF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smtClean="0">
                          <a:solidFill>
                            <a:schemeClr val="tx1"/>
                          </a:solidFill>
                        </a:rPr>
                        <a:t>3</a:t>
                      </a:r>
                      <a:r>
                        <a:rPr lang="sr-Latn-RS" sz="1400" baseline="-25000" smtClean="0">
                          <a:solidFill>
                            <a:schemeClr val="tx1"/>
                          </a:solidFill>
                        </a:rPr>
                        <a:t>,</a:t>
                      </a:r>
                      <a:r>
                        <a:rPr lang="en-US" sz="1400" baseline="-25000" dirty="0" smtClean="0">
                          <a:solidFill>
                            <a:schemeClr val="tx1"/>
                          </a:solidFill>
                        </a:rPr>
                        <a:t>1</a:t>
                      </a:r>
                    </a:p>
                  </a:txBody>
                  <a:tcPr anchor="ctr">
                    <a:solidFill>
                      <a:srgbClr val="FF0000"/>
                    </a:solidFill>
                  </a:tcPr>
                </a:tc>
                <a:extLst>
                  <a:ext uri="{0D108BD9-81ED-4DB2-BD59-A6C34878D82A}">
                    <a16:rowId xmlns:a16="http://schemas.microsoft.com/office/drawing/2014/main" val="10001"/>
                  </a:ext>
                </a:extLst>
              </a:tr>
              <a:tr h="476250">
                <a:tc>
                  <a:txBody>
                    <a:bodyPr/>
                    <a:lstStyle/>
                    <a:p>
                      <a:endParaRPr lang="en-US" dirty="0"/>
                    </a:p>
                  </a:txBody>
                  <a:tcPr anchor="ctr">
                    <a:solidFill>
                      <a:schemeClr val="bg1"/>
                    </a:solidFill>
                  </a:tcPr>
                </a:tc>
                <a:tc>
                  <a:txBody>
                    <a:bodyPr/>
                    <a:lstStyle/>
                    <a:p>
                      <a:endParaRPr lang="en-US"/>
                    </a:p>
                  </a:txBody>
                  <a:tcPr anchor="ctr">
                    <a:solidFill>
                      <a:schemeClr val="bg1"/>
                    </a:solidFill>
                  </a:tcPr>
                </a:tc>
                <a:tc>
                  <a:txBody>
                    <a:bodyPr/>
                    <a:lstStyle/>
                    <a:p>
                      <a:endParaRPr lang="en-US"/>
                    </a:p>
                  </a:txBody>
                  <a:tcPr anchor="ctr">
                    <a:solidFill>
                      <a:schemeClr val="bg1"/>
                    </a:solidFill>
                  </a:tcPr>
                </a:tc>
                <a:tc>
                  <a:txBody>
                    <a:bodyPr/>
                    <a:lstStyle/>
                    <a:p>
                      <a:endParaRPr lang="en-US"/>
                    </a:p>
                  </a:txBody>
                  <a:tcPr anchor="ctr">
                    <a:solidFill>
                      <a:schemeClr val="bg1"/>
                    </a:solidFill>
                  </a:tcPr>
                </a:tc>
                <a:extLst>
                  <a:ext uri="{0D108BD9-81ED-4DB2-BD59-A6C34878D82A}">
                    <a16:rowId xmlns:a16="http://schemas.microsoft.com/office/drawing/2014/main" val="10002"/>
                  </a:ext>
                </a:extLst>
              </a:tr>
              <a:tr h="476250">
                <a:tc>
                  <a:txBody>
                    <a:bodyPr/>
                    <a:lstStyle/>
                    <a:p>
                      <a:endParaRPr lang="en-US"/>
                    </a:p>
                  </a:txBody>
                  <a:tcPr anchor="ctr">
                    <a:solidFill>
                      <a:schemeClr val="bg1"/>
                    </a:solidFill>
                  </a:tcPr>
                </a:tc>
                <a:tc>
                  <a:txBody>
                    <a:bodyPr/>
                    <a:lstStyle/>
                    <a:p>
                      <a:endParaRPr lang="en-US" dirty="0"/>
                    </a:p>
                  </a:txBody>
                  <a:tcPr anchor="ctr">
                    <a:solidFill>
                      <a:schemeClr val="bg1"/>
                    </a:solidFill>
                  </a:tcPr>
                </a:tc>
                <a:tc>
                  <a:txBody>
                    <a:bodyPr/>
                    <a:lstStyle/>
                    <a:p>
                      <a:endParaRPr lang="en-US" dirty="0"/>
                    </a:p>
                  </a:txBody>
                  <a:tcPr anchor="ctr">
                    <a:solidFill>
                      <a:schemeClr val="bg1"/>
                    </a:solidFill>
                  </a:tcPr>
                </a:tc>
                <a:tc>
                  <a:txBody>
                    <a:bodyPr/>
                    <a:lstStyle/>
                    <a:p>
                      <a:endParaRPr lang="en-US" dirty="0"/>
                    </a:p>
                  </a:txBody>
                  <a:tcPr anchor="ctr">
                    <a:solidFill>
                      <a:schemeClr val="bg1"/>
                    </a:solidFill>
                  </a:tcPr>
                </a:tc>
                <a:extLst>
                  <a:ext uri="{0D108BD9-81ED-4DB2-BD59-A6C34878D82A}">
                    <a16:rowId xmlns:a16="http://schemas.microsoft.com/office/drawing/2014/main" val="10003"/>
                  </a:ext>
                </a:extLst>
              </a:tr>
            </a:tbl>
          </a:graphicData>
        </a:graphic>
      </p:graphicFrame>
      <p:graphicFrame>
        <p:nvGraphicFramePr>
          <p:cNvPr id="8" name="Table 7"/>
          <p:cNvGraphicFramePr>
            <a:graphicFrameLocks noGrp="1"/>
          </p:cNvGraphicFramePr>
          <p:nvPr/>
        </p:nvGraphicFramePr>
        <p:xfrm>
          <a:off x="6324600" y="4038600"/>
          <a:ext cx="2438400" cy="1905000"/>
        </p:xfrm>
        <a:graphic>
          <a:graphicData uri="http://schemas.openxmlformats.org/drawingml/2006/table">
            <a:tbl>
              <a:tblPr firstRow="1" bandRow="1">
                <a:noFill/>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76250">
                <a:tc>
                  <a:txBody>
                    <a:bodyPr/>
                    <a:lstStyle/>
                    <a:p>
                      <a:r>
                        <a:rPr lang="en-US" sz="1400" dirty="0" smtClean="0">
                          <a:solidFill>
                            <a:schemeClr val="tx1"/>
                          </a:solidFill>
                        </a:rPr>
                        <a:t>Pd</a:t>
                      </a:r>
                      <a:r>
                        <a:rPr lang="sr-Latn-RS" sz="1400" baseline="-25000" dirty="0" smtClean="0">
                          <a:solidFill>
                            <a:schemeClr val="tx1"/>
                          </a:solidFill>
                        </a:rPr>
                        <a:t>0,0</a:t>
                      </a:r>
                      <a:endParaRPr lang="en-US" sz="1400" baseline="-25000" dirty="0">
                        <a:solidFill>
                          <a:schemeClr val="tx1"/>
                        </a:solidFill>
                      </a:endParaRPr>
                    </a:p>
                  </a:txBody>
                  <a:tcPr anchor="ctr">
                    <a:gradFill flip="none" rotWithShape="1">
                      <a:gsLst>
                        <a:gs pos="48000">
                          <a:srgbClr val="FFFF00"/>
                        </a:gs>
                        <a:gs pos="49000">
                          <a:srgbClr val="00B050"/>
                        </a:gs>
                      </a:gsLst>
                      <a:lin ang="18900000" scaled="1"/>
                      <a:tileRect/>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1,0</a:t>
                      </a:r>
                      <a:endParaRPr lang="en-US" sz="1400" baseline="-25000" dirty="0" smtClean="0">
                        <a:solidFill>
                          <a:schemeClr val="tx1"/>
                        </a:solidFill>
                      </a:endParaRPr>
                    </a:p>
                  </a:txBody>
                  <a:tcPr anchor="ctr">
                    <a:gradFill>
                      <a:gsLst>
                        <a:gs pos="48000">
                          <a:srgbClr val="FFFF00"/>
                        </a:gs>
                        <a:gs pos="49000">
                          <a:srgbClr val="0070C0"/>
                        </a:gs>
                      </a:gsLst>
                      <a:lin ang="18900000" scaled="1"/>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2,0</a:t>
                      </a:r>
                      <a:endParaRPr lang="en-US" sz="1400" baseline="-25000" dirty="0" smtClean="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3,0</a:t>
                      </a:r>
                      <a:endParaRPr lang="en-US" sz="1400" baseline="-25000" dirty="0" smtClean="0">
                        <a:solidFill>
                          <a:schemeClr val="tx1"/>
                        </a:solidFill>
                      </a:endParaRPr>
                    </a:p>
                  </a:txBody>
                  <a:tcPr anchor="ctr">
                    <a:solidFill>
                      <a:schemeClr val="bg1"/>
                    </a:solidFill>
                  </a:tcPr>
                </a:tc>
                <a:extLst>
                  <a:ext uri="{0D108BD9-81ED-4DB2-BD59-A6C34878D82A}">
                    <a16:rowId xmlns:a16="http://schemas.microsoft.com/office/drawing/2014/main" val="10000"/>
                  </a:ext>
                </a:extLst>
              </a:tr>
              <a:tr h="476250">
                <a:tc>
                  <a:txBody>
                    <a:bodyPr/>
                    <a:lstStyle/>
                    <a:p>
                      <a:r>
                        <a:rPr lang="en-US" sz="1400" dirty="0" smtClean="0">
                          <a:solidFill>
                            <a:schemeClr val="tx1"/>
                          </a:solidFill>
                        </a:rPr>
                        <a:t>Pd</a:t>
                      </a:r>
                      <a:r>
                        <a:rPr lang="sr-Latn-RS" sz="1400" baseline="-25000" dirty="0" smtClean="0">
                          <a:solidFill>
                            <a:schemeClr val="tx1"/>
                          </a:solidFill>
                        </a:rPr>
                        <a:t>0,1</a:t>
                      </a:r>
                      <a:endParaRPr lang="en-US" sz="1400" baseline="-25000" dirty="0">
                        <a:solidFill>
                          <a:schemeClr val="tx1"/>
                        </a:solidFill>
                      </a:endParaRPr>
                    </a:p>
                  </a:txBody>
                  <a:tcPr anchor="ctr">
                    <a:gradFill>
                      <a:gsLst>
                        <a:gs pos="48000">
                          <a:srgbClr val="FF0000"/>
                        </a:gs>
                        <a:gs pos="49000">
                          <a:srgbClr val="00B050"/>
                        </a:gs>
                      </a:gsLst>
                      <a:lin ang="18900000" scaled="1"/>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1,1</a:t>
                      </a:r>
                      <a:endParaRPr lang="en-US" sz="1400" baseline="-25000" dirty="0" smtClean="0">
                        <a:solidFill>
                          <a:schemeClr val="tx1"/>
                        </a:solidFill>
                      </a:endParaRPr>
                    </a:p>
                  </a:txBody>
                  <a:tcPr anchor="ctr">
                    <a:gradFill>
                      <a:gsLst>
                        <a:gs pos="48000">
                          <a:srgbClr val="FF0000"/>
                        </a:gs>
                        <a:gs pos="49000">
                          <a:srgbClr val="0070C0"/>
                        </a:gs>
                      </a:gsLst>
                      <a:lin ang="18900000" scaled="1"/>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2,1</a:t>
                      </a:r>
                      <a:endParaRPr lang="en-US" sz="1400" baseline="-25000" dirty="0" smtClean="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3,1</a:t>
                      </a:r>
                      <a:endParaRPr lang="en-US" sz="1400" baseline="-25000" dirty="0" smtClean="0">
                        <a:solidFill>
                          <a:schemeClr val="tx1"/>
                        </a:solidFill>
                      </a:endParaRPr>
                    </a:p>
                  </a:txBody>
                  <a:tcPr anchor="ctr">
                    <a:solidFill>
                      <a:schemeClr val="bg1"/>
                    </a:solidFill>
                  </a:tcPr>
                </a:tc>
                <a:extLst>
                  <a:ext uri="{0D108BD9-81ED-4DB2-BD59-A6C34878D82A}">
                    <a16:rowId xmlns:a16="http://schemas.microsoft.com/office/drawing/2014/main" val="10001"/>
                  </a:ext>
                </a:extLst>
              </a:tr>
              <a:tr h="476250">
                <a:tc>
                  <a:txBody>
                    <a:bodyPr/>
                    <a:lstStyle/>
                    <a:p>
                      <a:r>
                        <a:rPr lang="en-US" sz="1400" dirty="0" smtClean="0">
                          <a:solidFill>
                            <a:schemeClr val="tx1"/>
                          </a:solidFill>
                        </a:rPr>
                        <a:t>Pd</a:t>
                      </a:r>
                      <a:r>
                        <a:rPr lang="sr-Latn-RS" sz="1400" baseline="-25000" dirty="0" smtClean="0">
                          <a:solidFill>
                            <a:schemeClr val="tx1"/>
                          </a:solidFill>
                        </a:rPr>
                        <a:t>0,2</a:t>
                      </a:r>
                      <a:endParaRPr lang="en-US" sz="1400" baseline="-25000" dirty="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1,2</a:t>
                      </a:r>
                      <a:endParaRPr lang="en-US" sz="1400" baseline="-25000" dirty="0" smtClean="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2,2</a:t>
                      </a:r>
                      <a:endParaRPr lang="en-US" sz="1400" baseline="-25000" dirty="0" smtClean="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3,2</a:t>
                      </a:r>
                      <a:endParaRPr lang="en-US" sz="1400" baseline="-25000" dirty="0" smtClean="0">
                        <a:solidFill>
                          <a:schemeClr val="tx1"/>
                        </a:solidFill>
                      </a:endParaRPr>
                    </a:p>
                  </a:txBody>
                  <a:tcPr anchor="ctr">
                    <a:solidFill>
                      <a:schemeClr val="bg1"/>
                    </a:solidFill>
                  </a:tcPr>
                </a:tc>
                <a:extLst>
                  <a:ext uri="{0D108BD9-81ED-4DB2-BD59-A6C34878D82A}">
                    <a16:rowId xmlns:a16="http://schemas.microsoft.com/office/drawing/2014/main" val="10002"/>
                  </a:ext>
                </a:extLst>
              </a:tr>
              <a:tr h="476250">
                <a:tc>
                  <a:txBody>
                    <a:bodyPr/>
                    <a:lstStyle/>
                    <a:p>
                      <a:r>
                        <a:rPr lang="en-US" sz="1400" dirty="0" smtClean="0">
                          <a:solidFill>
                            <a:schemeClr val="tx1"/>
                          </a:solidFill>
                        </a:rPr>
                        <a:t>Pd</a:t>
                      </a:r>
                      <a:r>
                        <a:rPr lang="sr-Latn-RS" sz="1400" baseline="-25000" dirty="0" smtClean="0">
                          <a:solidFill>
                            <a:schemeClr val="tx1"/>
                          </a:solidFill>
                        </a:rPr>
                        <a:t>0,3</a:t>
                      </a:r>
                      <a:endParaRPr lang="en-US" sz="1400" baseline="-25000" dirty="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1,3</a:t>
                      </a:r>
                      <a:endParaRPr lang="en-US" sz="1400" baseline="-25000" dirty="0" smtClean="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2,3</a:t>
                      </a:r>
                      <a:endParaRPr lang="en-US" sz="1400" baseline="-25000" dirty="0" smtClean="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3,3</a:t>
                      </a:r>
                      <a:endParaRPr lang="en-US" sz="1400" baseline="-25000" dirty="0" smtClean="0">
                        <a:solidFill>
                          <a:schemeClr val="tx1"/>
                        </a:solidFill>
                      </a:endParaRPr>
                    </a:p>
                  </a:txBody>
                  <a:tcPr anchor="ctr">
                    <a:solidFill>
                      <a:schemeClr val="bg1"/>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381000" y="2754868"/>
            <a:ext cx="1219200" cy="369332"/>
          </a:xfrm>
          <a:prstGeom prst="rect">
            <a:avLst/>
          </a:prstGeom>
          <a:noFill/>
        </p:spPr>
        <p:txBody>
          <a:bodyPr wrap="square" rtlCol="0">
            <a:spAutoFit/>
          </a:bodyPr>
          <a:lstStyle/>
          <a:p>
            <a:r>
              <a:rPr lang="sr-Latn-RS" dirty="0" smtClean="0"/>
              <a:t>Blok(0,0)</a:t>
            </a:r>
            <a:endParaRPr lang="en-US" dirty="0"/>
          </a:p>
        </p:txBody>
      </p:sp>
      <p:sp>
        <p:nvSpPr>
          <p:cNvPr id="12" name="TextBox 11"/>
          <p:cNvSpPr txBox="1"/>
          <p:nvPr/>
        </p:nvSpPr>
        <p:spPr>
          <a:xfrm>
            <a:off x="533400" y="6096000"/>
            <a:ext cx="1219200" cy="369332"/>
          </a:xfrm>
          <a:prstGeom prst="rect">
            <a:avLst/>
          </a:prstGeom>
          <a:noFill/>
        </p:spPr>
        <p:txBody>
          <a:bodyPr wrap="square" rtlCol="0">
            <a:spAutoFit/>
          </a:bodyPr>
          <a:lstStyle/>
          <a:p>
            <a:r>
              <a:rPr lang="sr-Latn-RS" dirty="0" smtClean="0"/>
              <a:t>Blok(0,1)</a:t>
            </a:r>
            <a:endParaRPr lang="en-US" dirty="0"/>
          </a:p>
        </p:txBody>
      </p:sp>
      <p:sp>
        <p:nvSpPr>
          <p:cNvPr id="14" name="TextBox 13"/>
          <p:cNvSpPr txBox="1"/>
          <p:nvPr/>
        </p:nvSpPr>
        <p:spPr>
          <a:xfrm>
            <a:off x="2133600" y="6107668"/>
            <a:ext cx="1219200" cy="369332"/>
          </a:xfrm>
          <a:prstGeom prst="rect">
            <a:avLst/>
          </a:prstGeom>
          <a:noFill/>
        </p:spPr>
        <p:txBody>
          <a:bodyPr wrap="square" rtlCol="0">
            <a:spAutoFit/>
          </a:bodyPr>
          <a:lstStyle/>
          <a:p>
            <a:r>
              <a:rPr lang="sr-Latn-RS" dirty="0" smtClean="0"/>
              <a:t>Blok(1,1)</a:t>
            </a:r>
            <a:endParaRPr lang="en-US" dirty="0"/>
          </a:p>
        </p:txBody>
      </p:sp>
      <p:sp>
        <p:nvSpPr>
          <p:cNvPr id="15" name="TextBox 14"/>
          <p:cNvSpPr txBox="1"/>
          <p:nvPr/>
        </p:nvSpPr>
        <p:spPr>
          <a:xfrm>
            <a:off x="2514600" y="2754868"/>
            <a:ext cx="1219200" cy="369332"/>
          </a:xfrm>
          <a:prstGeom prst="rect">
            <a:avLst/>
          </a:prstGeom>
          <a:noFill/>
        </p:spPr>
        <p:txBody>
          <a:bodyPr wrap="square" rtlCol="0">
            <a:spAutoFit/>
          </a:bodyPr>
          <a:lstStyle/>
          <a:p>
            <a:r>
              <a:rPr lang="sr-Latn-RS" dirty="0" smtClean="0"/>
              <a:t>Blok(1,0)</a:t>
            </a:r>
            <a:endParaRPr lang="en-US" dirty="0"/>
          </a:p>
        </p:txBody>
      </p:sp>
      <p:cxnSp>
        <p:nvCxnSpPr>
          <p:cNvPr id="17" name="Straight Arrow Connector 16"/>
          <p:cNvCxnSpPr>
            <a:stCxn id="15" idx="2"/>
          </p:cNvCxnSpPr>
          <p:nvPr/>
        </p:nvCxnSpPr>
        <p:spPr>
          <a:xfrm rot="5400000">
            <a:off x="2743200" y="3124200"/>
            <a:ext cx="381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4" idx="0"/>
          </p:cNvCxnSpPr>
          <p:nvPr/>
        </p:nvCxnSpPr>
        <p:spPr>
          <a:xfrm rot="16200000" flipV="1">
            <a:off x="2438400" y="5802868"/>
            <a:ext cx="533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2" idx="0"/>
          </p:cNvCxnSpPr>
          <p:nvPr/>
        </p:nvCxnSpPr>
        <p:spPr>
          <a:xfrm rot="5400000" flipH="1" flipV="1">
            <a:off x="1028700" y="5676900"/>
            <a:ext cx="533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1" idx="2"/>
          </p:cNvCxnSpPr>
          <p:nvPr/>
        </p:nvCxnSpPr>
        <p:spPr>
          <a:xfrm rot="16200000" flipH="1">
            <a:off x="946666" y="3168134"/>
            <a:ext cx="392668"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505200" y="4114800"/>
            <a:ext cx="2895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505200" y="4419600"/>
            <a:ext cx="3505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5372100" y="3009900"/>
            <a:ext cx="2057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a:off x="5981700" y="3009900"/>
            <a:ext cx="2057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Slide Number Placeholder 8"/>
          <p:cNvSpPr>
            <a:spLocks noGrp="1"/>
          </p:cNvSpPr>
          <p:nvPr>
            <p:ph type="sldNum" sz="quarter" idx="12"/>
          </p:nvPr>
        </p:nvSpPr>
        <p:spPr/>
        <p:txBody>
          <a:bodyPr/>
          <a:lstStyle/>
          <a:p>
            <a:fld id="{036081D1-8380-407A-ABF3-D12854566F9D}" type="slidenum">
              <a:rPr lang="en-US" smtClean="0"/>
              <a:pPr/>
              <a:t>28</a:t>
            </a:fld>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Množenje </a:t>
            </a:r>
            <a:r>
              <a:rPr lang="sr-Latn-RS" dirty="0"/>
              <a:t>matrica – tajlovi </a:t>
            </a:r>
            <a:r>
              <a:rPr lang="sr-Latn-RS" dirty="0" smtClean="0"/>
              <a:t>(3)</a:t>
            </a:r>
            <a:endParaRPr lang="en-US" dirty="0"/>
          </a:p>
        </p:txBody>
      </p:sp>
      <p:sp>
        <p:nvSpPr>
          <p:cNvPr id="3" name="Content Placeholder 2"/>
          <p:cNvSpPr>
            <a:spLocks noGrp="1"/>
          </p:cNvSpPr>
          <p:nvPr>
            <p:ph idx="1"/>
          </p:nvPr>
        </p:nvSpPr>
        <p:spPr>
          <a:xfrm>
            <a:off x="304800" y="1600200"/>
            <a:ext cx="8534400" cy="4876800"/>
          </a:xfrm>
        </p:spPr>
        <p:txBody>
          <a:bodyPr>
            <a:noAutofit/>
          </a:bodyPr>
          <a:lstStyle/>
          <a:p>
            <a:pPr>
              <a:buNone/>
            </a:pPr>
            <a:r>
              <a:rPr lang="sr-Latn-RS" b="1" dirty="0" smtClean="0">
                <a:solidFill>
                  <a:srgbClr val="000000"/>
                </a:solidFill>
                <a:highlight>
                  <a:srgbClr val="FFFFFF"/>
                </a:highlight>
                <a:latin typeface="Consolas"/>
              </a:rPr>
              <a:t>KERNEL</a:t>
            </a:r>
            <a:r>
              <a:rPr lang="en-US" b="1" dirty="0" smtClean="0">
                <a:solidFill>
                  <a:srgbClr val="000000"/>
                </a:solidFill>
                <a:highlight>
                  <a:srgbClr val="FFFFFF"/>
                </a:highlight>
                <a:latin typeface="Consolas"/>
              </a:rPr>
              <a:t>:</a:t>
            </a:r>
            <a:r>
              <a:rPr lang="en-US" sz="4400" dirty="0" smtClean="0"/>
              <a:t/>
            </a:r>
            <a:br>
              <a:rPr lang="en-US" sz="4400" dirty="0" smtClean="0"/>
            </a:br>
            <a:r>
              <a:rPr lang="en-US" sz="2000" dirty="0" smtClean="0">
                <a:solidFill>
                  <a:srgbClr val="000000"/>
                </a:solidFill>
                <a:highlight>
                  <a:srgbClr val="FFFFFF"/>
                </a:highlight>
                <a:latin typeface="Consolas"/>
              </a:rPr>
              <a:t> __global__ void </a:t>
            </a:r>
            <a:r>
              <a:rPr lang="en-US" sz="2000" dirty="0" err="1" smtClean="0">
                <a:solidFill>
                  <a:srgbClr val="000000"/>
                </a:solidFill>
                <a:highlight>
                  <a:srgbClr val="FFFFFF"/>
                </a:highlight>
                <a:latin typeface="Consolas"/>
              </a:rPr>
              <a:t>MatrixMulKernel</a:t>
            </a: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	(float* </a:t>
            </a:r>
            <a:r>
              <a:rPr lang="en-US" sz="2000" dirty="0" err="1" smtClean="0">
                <a:solidFill>
                  <a:srgbClr val="000000"/>
                </a:solidFill>
                <a:highlight>
                  <a:srgbClr val="FFFFFF"/>
                </a:highlight>
                <a:latin typeface="Consolas"/>
              </a:rPr>
              <a:t>Md</a:t>
            </a:r>
            <a:r>
              <a:rPr lang="en-US" sz="2000" dirty="0" smtClean="0">
                <a:solidFill>
                  <a:srgbClr val="000000"/>
                </a:solidFill>
                <a:highlight>
                  <a:srgbClr val="FFFFFF"/>
                </a:highlight>
                <a:latin typeface="Consolas"/>
              </a:rPr>
              <a:t>, float* </a:t>
            </a:r>
            <a:r>
              <a:rPr lang="en-US" sz="2000" dirty="0" err="1" smtClean="0">
                <a:solidFill>
                  <a:srgbClr val="000000"/>
                </a:solidFill>
                <a:highlight>
                  <a:srgbClr val="FFFFFF"/>
                </a:highlight>
                <a:latin typeface="Consolas"/>
              </a:rPr>
              <a:t>Nd</a:t>
            </a:r>
            <a:r>
              <a:rPr lang="en-US" sz="2000" dirty="0" smtClean="0">
                <a:solidFill>
                  <a:srgbClr val="000000"/>
                </a:solidFill>
                <a:highlight>
                  <a:srgbClr val="FFFFFF"/>
                </a:highlight>
                <a:latin typeface="Consolas"/>
              </a:rPr>
              <a:t>, float* Pd,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Width) </a:t>
            </a:r>
          </a:p>
          <a:p>
            <a:pPr>
              <a:buNone/>
            </a:pPr>
            <a:r>
              <a:rPr lang="en-US" sz="2000" dirty="0" smtClean="0">
                <a:solidFill>
                  <a:srgbClr val="000000"/>
                </a:solidFill>
                <a:highlight>
                  <a:srgbClr val="FFFFFF"/>
                </a:highlight>
                <a:latin typeface="Consolas"/>
              </a:rPr>
              <a:t>	{</a:t>
            </a:r>
            <a:br>
              <a:rPr lang="en-US" sz="2000" dirty="0" smtClean="0">
                <a:solidFill>
                  <a:srgbClr val="000000"/>
                </a:solidFill>
                <a:highlight>
                  <a:srgbClr val="FFFFFF"/>
                </a:highlight>
                <a:latin typeface="Consolas"/>
              </a:rPr>
            </a:br>
            <a:r>
              <a:rPr lang="en-US" sz="2000" dirty="0" smtClean="0">
                <a:solidFill>
                  <a:srgbClr val="92D050"/>
                </a:solidFill>
                <a:highlight>
                  <a:srgbClr val="FFFFFF"/>
                </a:highlight>
                <a:latin typeface="Consolas"/>
              </a:rPr>
              <a:t>// </a:t>
            </a:r>
            <a:r>
              <a:rPr lang="sr-Latn-RS" sz="2000" dirty="0" smtClean="0">
                <a:solidFill>
                  <a:srgbClr val="92D050"/>
                </a:solidFill>
                <a:highlight>
                  <a:srgbClr val="FFFFFF"/>
                </a:highlight>
                <a:latin typeface="Consolas"/>
              </a:rPr>
              <a:t>Računanje indeksa za vrstu za Pd i M</a:t>
            </a: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Row = </a:t>
            </a:r>
            <a:r>
              <a:rPr lang="en-US" sz="2000" dirty="0" err="1" smtClean="0">
                <a:solidFill>
                  <a:srgbClr val="000000"/>
                </a:solidFill>
                <a:highlight>
                  <a:srgbClr val="FFFFFF"/>
                </a:highlight>
                <a:latin typeface="Consolas"/>
              </a:rPr>
              <a:t>blockIdx.y</a:t>
            </a:r>
            <a:r>
              <a:rPr lang="en-US" sz="2000" dirty="0" smtClean="0">
                <a:solidFill>
                  <a:srgbClr val="000000"/>
                </a:solidFill>
                <a:highlight>
                  <a:srgbClr val="FFFFFF"/>
                </a:highlight>
                <a:latin typeface="Consolas"/>
              </a:rPr>
              <a:t> * TILE_WIDTH + </a:t>
            </a:r>
            <a:r>
              <a:rPr lang="en-US" sz="2000" dirty="0" err="1" smtClean="0">
                <a:solidFill>
                  <a:srgbClr val="000000"/>
                </a:solidFill>
                <a:highlight>
                  <a:srgbClr val="FFFFFF"/>
                </a:highlight>
                <a:latin typeface="Consolas"/>
              </a:rPr>
              <a:t>threadIdx.y</a:t>
            </a:r>
            <a:r>
              <a:rPr lang="en-US" sz="2000" dirty="0" smtClean="0">
                <a:solidFill>
                  <a:srgbClr val="000000"/>
                </a:solidFill>
                <a:highlight>
                  <a:srgbClr val="FFFFFF"/>
                </a:highlight>
                <a:latin typeface="Consolas"/>
              </a:rPr>
              <a:t>;</a:t>
            </a:r>
            <a:br>
              <a:rPr lang="en-US" sz="2000" dirty="0" smtClean="0">
                <a:solidFill>
                  <a:srgbClr val="000000"/>
                </a:solidFill>
                <a:highlight>
                  <a:srgbClr val="FFFFFF"/>
                </a:highlight>
                <a:latin typeface="Consolas"/>
              </a:rPr>
            </a:br>
            <a:r>
              <a:rPr lang="en-US" sz="2000" dirty="0" smtClean="0">
                <a:solidFill>
                  <a:srgbClr val="92D050"/>
                </a:solidFill>
                <a:highlight>
                  <a:srgbClr val="FFFFFF"/>
                </a:highlight>
                <a:latin typeface="Consolas"/>
              </a:rPr>
              <a:t>// </a:t>
            </a:r>
            <a:r>
              <a:rPr lang="sr-Latn-RS" sz="2000" dirty="0" smtClean="0">
                <a:solidFill>
                  <a:srgbClr val="92D050"/>
                </a:solidFill>
                <a:highlight>
                  <a:srgbClr val="FFFFFF"/>
                </a:highlight>
                <a:latin typeface="Consolas"/>
              </a:rPr>
              <a:t>Računanje indeksa za kolonu za</a:t>
            </a:r>
            <a:r>
              <a:rPr lang="en-US" sz="2000" dirty="0" smtClean="0">
                <a:solidFill>
                  <a:srgbClr val="92D050"/>
                </a:solidFill>
                <a:highlight>
                  <a:srgbClr val="FFFFFF"/>
                </a:highlight>
                <a:latin typeface="Consolas"/>
              </a:rPr>
              <a:t> Pd </a:t>
            </a:r>
            <a:r>
              <a:rPr lang="sr-Latn-RS" sz="2000" dirty="0" smtClean="0">
                <a:solidFill>
                  <a:srgbClr val="92D050"/>
                </a:solidFill>
                <a:highlight>
                  <a:srgbClr val="FFFFFF"/>
                </a:highlight>
                <a:latin typeface="Consolas"/>
              </a:rPr>
              <a:t>i</a:t>
            </a:r>
            <a:r>
              <a:rPr lang="en-US" sz="2000" dirty="0" smtClean="0">
                <a:solidFill>
                  <a:srgbClr val="92D050"/>
                </a:solidFill>
                <a:highlight>
                  <a:srgbClr val="FFFFFF"/>
                </a:highlight>
                <a:latin typeface="Consolas"/>
              </a:rPr>
              <a:t> N</a:t>
            </a: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Col = </a:t>
            </a:r>
            <a:r>
              <a:rPr lang="en-US" sz="2000" dirty="0" err="1" smtClean="0">
                <a:solidFill>
                  <a:srgbClr val="000000"/>
                </a:solidFill>
                <a:highlight>
                  <a:srgbClr val="FFFFFF"/>
                </a:highlight>
                <a:latin typeface="Consolas"/>
              </a:rPr>
              <a:t>blockIdx.x</a:t>
            </a:r>
            <a:r>
              <a:rPr lang="en-US" sz="2000" dirty="0" smtClean="0">
                <a:solidFill>
                  <a:srgbClr val="000000"/>
                </a:solidFill>
                <a:highlight>
                  <a:srgbClr val="FFFFFF"/>
                </a:highlight>
                <a:latin typeface="Consolas"/>
              </a:rPr>
              <a:t> * TILE_WIDTH + </a:t>
            </a:r>
            <a:r>
              <a:rPr lang="en-US" sz="2000" dirty="0" err="1" smtClean="0">
                <a:solidFill>
                  <a:srgbClr val="000000"/>
                </a:solidFill>
                <a:highlight>
                  <a:srgbClr val="FFFFFF"/>
                </a:highlight>
                <a:latin typeface="Consolas"/>
              </a:rPr>
              <a:t>threadIdx.x</a:t>
            </a:r>
            <a:r>
              <a:rPr lang="en-US" sz="2000" dirty="0" smtClean="0">
                <a:solidFill>
                  <a:srgbClr val="000000"/>
                </a:solidFill>
                <a:highlight>
                  <a:srgbClr val="FFFFFF"/>
                </a:highlight>
                <a:latin typeface="Consolas"/>
              </a:rPr>
              <a:t>;</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    float </a:t>
            </a:r>
            <a:r>
              <a:rPr lang="en-US" sz="2000" dirty="0" err="1" smtClean="0">
                <a:solidFill>
                  <a:srgbClr val="000000"/>
                </a:solidFill>
                <a:highlight>
                  <a:srgbClr val="FFFFFF"/>
                </a:highlight>
                <a:latin typeface="Consolas"/>
              </a:rPr>
              <a:t>Pvalue</a:t>
            </a:r>
            <a:r>
              <a:rPr lang="en-US" sz="2000" dirty="0" smtClean="0">
                <a:solidFill>
                  <a:srgbClr val="000000"/>
                </a:solidFill>
                <a:highlight>
                  <a:srgbClr val="FFFFFF"/>
                </a:highlight>
                <a:latin typeface="Consolas"/>
              </a:rPr>
              <a:t> = 0;</a:t>
            </a:r>
            <a:endParaRPr lang="sr-Latn-RS" sz="2000" dirty="0" smtClean="0">
              <a:solidFill>
                <a:srgbClr val="000000"/>
              </a:solidFill>
              <a:highlight>
                <a:srgbClr val="FFFFFF"/>
              </a:highlight>
              <a:latin typeface="Consolas"/>
            </a:endParaRPr>
          </a:p>
          <a:p>
            <a:pPr>
              <a:buNone/>
            </a:pPr>
            <a:r>
              <a:rPr lang="en-US" sz="2000" dirty="0" smtClean="0">
                <a:solidFill>
                  <a:srgbClr val="000000"/>
                </a:solidFill>
                <a:highlight>
                  <a:srgbClr val="FFFFFF"/>
                </a:highlight>
                <a:latin typeface="Consolas"/>
              </a:rPr>
              <a:t/>
            </a:r>
            <a:br>
              <a:rPr lang="en-US" sz="2000" dirty="0" smtClean="0">
                <a:solidFill>
                  <a:srgbClr val="000000"/>
                </a:solidFill>
                <a:highlight>
                  <a:srgbClr val="FFFFFF"/>
                </a:highlight>
                <a:latin typeface="Consolas"/>
              </a:rPr>
            </a:br>
            <a:r>
              <a:rPr lang="en-US" sz="2000" dirty="0" smtClean="0">
                <a:solidFill>
                  <a:srgbClr val="92D050"/>
                </a:solidFill>
                <a:highlight>
                  <a:srgbClr val="FFFFFF"/>
                </a:highlight>
                <a:latin typeface="Consolas"/>
              </a:rPr>
              <a:t>// </a:t>
            </a:r>
            <a:r>
              <a:rPr lang="sr-Latn-RS" sz="2000" dirty="0" smtClean="0">
                <a:solidFill>
                  <a:srgbClr val="92D050"/>
                </a:solidFill>
                <a:highlight>
                  <a:srgbClr val="FFFFFF"/>
                </a:highlight>
                <a:latin typeface="Consolas"/>
              </a:rPr>
              <a:t>Svaka nit računa jedan element za podmatricu bloka</a:t>
            </a: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for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k = 0; k &lt; Width; ++k)</a:t>
            </a:r>
            <a:br>
              <a:rPr lang="en-US" sz="2000" dirty="0" smtClean="0">
                <a:solidFill>
                  <a:srgbClr val="000000"/>
                </a:solidFill>
                <a:highlight>
                  <a:srgbClr val="FFFFFF"/>
                </a:highlight>
                <a:latin typeface="Consolas"/>
              </a:rPr>
            </a:b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Pvalue</a:t>
            </a:r>
            <a:r>
              <a:rPr lang="en-US" sz="2000" dirty="0" smtClean="0">
                <a:solidFill>
                  <a:srgbClr val="000000"/>
                </a:solidFill>
                <a:highlight>
                  <a:srgbClr val="FFFFFF"/>
                </a:highlight>
                <a:latin typeface="Consolas"/>
              </a:rPr>
              <a:t> += </a:t>
            </a:r>
            <a:r>
              <a:rPr lang="en-US" sz="2000" dirty="0" err="1" smtClean="0">
                <a:solidFill>
                  <a:srgbClr val="000000"/>
                </a:solidFill>
                <a:highlight>
                  <a:srgbClr val="FFFFFF"/>
                </a:highlight>
                <a:latin typeface="Consolas"/>
              </a:rPr>
              <a:t>Md</a:t>
            </a:r>
            <a:r>
              <a:rPr lang="en-US" sz="2000" dirty="0" smtClean="0">
                <a:solidFill>
                  <a:srgbClr val="000000"/>
                </a:solidFill>
                <a:highlight>
                  <a:srgbClr val="FFFFFF"/>
                </a:highlight>
                <a:latin typeface="Consolas"/>
              </a:rPr>
              <a:t>[Row * Width + k] * </a:t>
            </a:r>
            <a:r>
              <a:rPr lang="en-US" sz="2000" dirty="0" err="1" smtClean="0">
                <a:solidFill>
                  <a:srgbClr val="000000"/>
                </a:solidFill>
                <a:highlight>
                  <a:srgbClr val="FFFFFF"/>
                </a:highlight>
                <a:latin typeface="Consolas"/>
              </a:rPr>
              <a:t>Nd</a:t>
            </a:r>
            <a:r>
              <a:rPr lang="en-US" sz="2000" dirty="0" smtClean="0">
                <a:solidFill>
                  <a:srgbClr val="000000"/>
                </a:solidFill>
                <a:highlight>
                  <a:srgbClr val="FFFFFF"/>
                </a:highlight>
                <a:latin typeface="Consolas"/>
              </a:rPr>
              <a:t>[k * Width + Col];</a:t>
            </a:r>
            <a:br>
              <a:rPr lang="en-US" sz="2000" dirty="0" smtClean="0">
                <a:solidFill>
                  <a:srgbClr val="000000"/>
                </a:solidFill>
                <a:highlight>
                  <a:srgbClr val="FFFFFF"/>
                </a:highlight>
                <a:latin typeface="Consolas"/>
              </a:rPr>
            </a:br>
            <a:r>
              <a:rPr lang="sr-Latn-RS" sz="2000" dirty="0" smtClean="0">
                <a:solidFill>
                  <a:srgbClr val="000000"/>
                </a:solidFill>
                <a:highlight>
                  <a:srgbClr val="FFFFFF"/>
                </a:highlight>
                <a:latin typeface="Consolas"/>
              </a:rPr>
              <a:t>    </a:t>
            </a: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Pd[Row * Width + Col] = </a:t>
            </a:r>
            <a:r>
              <a:rPr lang="en-US" sz="2000" dirty="0" err="1" smtClean="0">
                <a:solidFill>
                  <a:srgbClr val="000000"/>
                </a:solidFill>
                <a:highlight>
                  <a:srgbClr val="FFFFFF"/>
                </a:highlight>
                <a:latin typeface="Consolas"/>
              </a:rPr>
              <a:t>Pvalue</a:t>
            </a:r>
            <a:r>
              <a:rPr lang="en-US" sz="2000" dirty="0" smtClean="0">
                <a:solidFill>
                  <a:srgbClr val="000000"/>
                </a:solidFill>
                <a:highlight>
                  <a:srgbClr val="FFFFFF"/>
                </a:highlight>
                <a:latin typeface="Consolas"/>
              </a:rPr>
              <a:t>;</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 </a:t>
            </a:r>
            <a:r>
              <a:rPr lang="en-US" sz="4400" dirty="0" smtClean="0"/>
              <a:t/>
            </a:r>
            <a:br>
              <a:rPr lang="en-US" sz="4400" dirty="0" smtClean="0"/>
            </a:br>
            <a:endParaRPr lang="en-US" sz="4400"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r-Latn-RS" dirty="0" smtClean="0"/>
              <a:t>Množenje </a:t>
            </a:r>
            <a:r>
              <a:rPr lang="sr-Latn-RS" dirty="0"/>
              <a:t>matrica – tajlovi </a:t>
            </a:r>
            <a:r>
              <a:rPr lang="sr-Latn-RS" dirty="0" smtClean="0"/>
              <a:t>(4)	</a:t>
            </a:r>
            <a:endParaRPr lang="sr-Latn-RS" dirty="0"/>
          </a:p>
        </p:txBody>
      </p:sp>
      <p:sp>
        <p:nvSpPr>
          <p:cNvPr id="3" name="Content Placeholder 2"/>
          <p:cNvSpPr>
            <a:spLocks noGrp="1"/>
          </p:cNvSpPr>
          <p:nvPr>
            <p:ph idx="1"/>
          </p:nvPr>
        </p:nvSpPr>
        <p:spPr/>
        <p:txBody>
          <a:bodyPr/>
          <a:lstStyle/>
          <a:p>
            <a:r>
              <a:rPr lang="sr-Latn-RS" dirty="0" smtClean="0"/>
              <a:t>Poziv kernela?</a:t>
            </a:r>
            <a:endParaRPr lang="sr-Latn-R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30</a:t>
            </a:fld>
            <a:endParaRPr lang="en-US" dirty="0"/>
          </a:p>
        </p:txBody>
      </p:sp>
    </p:spTree>
    <p:extLst>
      <p:ext uri="{BB962C8B-B14F-4D97-AF65-F5344CB8AC3E}">
        <p14:creationId xmlns:p14="http://schemas.microsoft.com/office/powerpoint/2010/main" val="12552539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r-Latn-RS" dirty="0" smtClean="0"/>
              <a:t>Množenje </a:t>
            </a:r>
            <a:r>
              <a:rPr lang="sr-Latn-RS" dirty="0"/>
              <a:t>matrica – tajlovi </a:t>
            </a:r>
            <a:r>
              <a:rPr lang="sr-Latn-RS" dirty="0" smtClean="0"/>
              <a:t>(4)	</a:t>
            </a:r>
            <a:endParaRPr lang="sr-Latn-RS" dirty="0"/>
          </a:p>
        </p:txBody>
      </p:sp>
      <p:sp>
        <p:nvSpPr>
          <p:cNvPr id="3" name="Content Placeholder 2"/>
          <p:cNvSpPr>
            <a:spLocks noGrp="1"/>
          </p:cNvSpPr>
          <p:nvPr>
            <p:ph idx="1"/>
          </p:nvPr>
        </p:nvSpPr>
        <p:spPr/>
        <p:txBody>
          <a:bodyPr/>
          <a:lstStyle/>
          <a:p>
            <a:r>
              <a:rPr lang="sr-Latn-RS" dirty="0" smtClean="0"/>
              <a:t>Poziv kernela?</a:t>
            </a:r>
          </a:p>
          <a:p>
            <a:endParaRPr lang="sr-Latn-RS" dirty="0"/>
          </a:p>
        </p:txBody>
      </p:sp>
      <p:pic>
        <p:nvPicPr>
          <p:cNvPr id="3076" name="Picture 4"/>
          <p:cNvPicPr>
            <a:picLocks noChangeAspect="1" noChangeArrowheads="1"/>
          </p:cNvPicPr>
          <p:nvPr/>
        </p:nvPicPr>
        <p:blipFill>
          <a:blip r:embed="rId3"/>
          <a:srcRect/>
          <a:stretch>
            <a:fillRect/>
          </a:stretch>
        </p:blipFill>
        <p:spPr bwMode="auto">
          <a:xfrm>
            <a:off x="1303020" y="2514600"/>
            <a:ext cx="6537960" cy="1828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036081D1-8380-407A-ABF3-D12854566F9D}" type="slidenum">
              <a:rPr lang="en-US" smtClean="0"/>
              <a:pPr/>
              <a:t>31</a:t>
            </a:fld>
            <a:endParaRPr lang="en-US" dirty="0"/>
          </a:p>
        </p:txBody>
      </p:sp>
    </p:spTree>
    <p:extLst>
      <p:ext uri="{BB962C8B-B14F-4D97-AF65-F5344CB8AC3E}">
        <p14:creationId xmlns:p14="http://schemas.microsoft.com/office/powerpoint/2010/main" val="12552539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sr-Latn-RS" dirty="0" smtClean="0"/>
              <a:t>Množenje matrica - deljiva memorija (1)</a:t>
            </a:r>
            <a:endParaRPr lang="en-US" dirty="0"/>
          </a:p>
        </p:txBody>
      </p:sp>
      <p:sp>
        <p:nvSpPr>
          <p:cNvPr id="144387" name="Content Placeholder 2"/>
          <p:cNvSpPr>
            <a:spLocks noGrp="1"/>
          </p:cNvSpPr>
          <p:nvPr>
            <p:ph idx="1"/>
          </p:nvPr>
        </p:nvSpPr>
        <p:spPr/>
        <p:txBody>
          <a:bodyPr/>
          <a:lstStyle/>
          <a:p>
            <a:r>
              <a:rPr lang="sr-Latn-RS" altLang="sr-Latn-RS" smtClean="0"/>
              <a:t>Jednostavni CUDA kerneli koji obezbeđuju da niti pristupaju određenim delovima podataka, koji su prethodno prebačeni na uređaj.</a:t>
            </a:r>
          </a:p>
          <a:p>
            <a:r>
              <a:rPr lang="sr-Latn-RS" altLang="sr-Latn-RS" smtClean="0"/>
              <a:t>Latenca globalne memorije i ograničen bandwidth za pristup dovode do zagušenja</a:t>
            </a:r>
          </a:p>
          <a:p>
            <a:r>
              <a:rPr lang="sr-Latn-RS" altLang="sr-Latn-RS" smtClean="0"/>
              <a:t>Rešenje: dodatni metodi za pristup memoriji (različiti tipovi memorije)</a:t>
            </a:r>
          </a:p>
        </p:txBody>
      </p:sp>
      <p:sp>
        <p:nvSpPr>
          <p:cNvPr id="3" name="Slide Number Placeholder 2"/>
          <p:cNvSpPr>
            <a:spLocks noGrp="1"/>
          </p:cNvSpPr>
          <p:nvPr>
            <p:ph type="sldNum" sz="quarter" idx="12"/>
          </p:nvPr>
        </p:nvSpPr>
        <p:spPr/>
        <p:txBody>
          <a:bodyPr/>
          <a:lstStyle/>
          <a:p>
            <a:fld id="{036081D1-8380-407A-ABF3-D12854566F9D}" type="slidenum">
              <a:rPr lang="en-US" smtClean="0"/>
              <a:pPr/>
              <a:t>32</a:t>
            </a:fld>
            <a:endParaRPr lang="en-US" dirty="0"/>
          </a:p>
        </p:txBody>
      </p:sp>
    </p:spTree>
    <p:extLst>
      <p:ext uri="{BB962C8B-B14F-4D97-AF65-F5344CB8AC3E}">
        <p14:creationId xmlns:p14="http://schemas.microsoft.com/office/powerpoint/2010/main" val="6912652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sr-Latn-RS" dirty="0" smtClean="0"/>
              <a:t>Množenje matrica - deljiva memorija (2)</a:t>
            </a:r>
            <a:endParaRPr lang="en-US" dirty="0"/>
          </a:p>
        </p:txBody>
      </p:sp>
      <p:sp>
        <p:nvSpPr>
          <p:cNvPr id="145411" name="Content Placeholder 2"/>
          <p:cNvSpPr>
            <a:spLocks noGrp="1"/>
          </p:cNvSpPr>
          <p:nvPr>
            <p:ph idx="1"/>
          </p:nvPr>
        </p:nvSpPr>
        <p:spPr/>
        <p:txBody>
          <a:bodyPr/>
          <a:lstStyle/>
          <a:p>
            <a:r>
              <a:rPr lang="en-US" altLang="sr-Latn-RS" sz="2800" smtClean="0"/>
              <a:t>Najbitniji deo kernela jeste for petlja koja se koristi da se računaju skalarni proizvodi. </a:t>
            </a:r>
            <a:endParaRPr lang="sr-Latn-RS" altLang="sr-Latn-RS" sz="2800" smtClean="0"/>
          </a:p>
          <a:p>
            <a:pPr lvl="1"/>
            <a:r>
              <a:rPr lang="en-US" altLang="sr-Latn-RS" sz="2400" smtClean="0"/>
              <a:t>U svakoj iteraciji ove petlje, imamo dva pristupa globalnoj memoriji, </a:t>
            </a:r>
            <a:r>
              <a:rPr lang="sr-Latn-RS" altLang="sr-Latn-RS" sz="2400" smtClean="0"/>
              <a:t>jedno </a:t>
            </a:r>
            <a:r>
              <a:rPr lang="en-US" altLang="sr-Latn-RS" sz="2400" smtClean="0"/>
              <a:t>FP množenj</a:t>
            </a:r>
            <a:r>
              <a:rPr lang="sr-Latn-RS" altLang="sr-Latn-RS" sz="2400" smtClean="0"/>
              <a:t>e</a:t>
            </a:r>
            <a:r>
              <a:rPr lang="en-US" altLang="sr-Latn-RS" sz="2400" smtClean="0"/>
              <a:t> i jedno FP  sabiranj</a:t>
            </a:r>
            <a:r>
              <a:rPr lang="sr-Latn-RS" altLang="sr-Latn-RS" sz="2400" smtClean="0"/>
              <a:t>e</a:t>
            </a:r>
            <a:r>
              <a:rPr lang="en-US" altLang="sr-Latn-RS" sz="2400" smtClean="0"/>
              <a:t>. </a:t>
            </a:r>
            <a:endParaRPr lang="sr-Latn-RS" altLang="sr-Latn-RS" sz="2400" smtClean="0"/>
          </a:p>
          <a:p>
            <a:pPr lvl="1"/>
            <a:r>
              <a:rPr lang="sr-Latn-RS" altLang="sr-Latn-RS" sz="2400" smtClean="0"/>
              <a:t>O</a:t>
            </a:r>
            <a:r>
              <a:rPr lang="en-US" altLang="sr-Latn-RS" sz="2400" smtClean="0"/>
              <a:t>dnos FP operacija i pristupa globalnoj memoriji </a:t>
            </a:r>
            <a:r>
              <a:rPr lang="sr-Latn-RS" altLang="sr-Latn-RS" sz="2400" smtClean="0"/>
              <a:t> - </a:t>
            </a:r>
            <a:r>
              <a:rPr lang="en-US" altLang="sr-Latn-RS" sz="2400" smtClean="0"/>
              <a:t>1:1. </a:t>
            </a:r>
            <a:endParaRPr lang="sr-Latn-RS" altLang="sr-Latn-RS" sz="2400" smtClean="0"/>
          </a:p>
          <a:p>
            <a:pPr lvl="2"/>
            <a:r>
              <a:rPr lang="en-US" altLang="sr-Latn-RS" sz="2000" b="1" smtClean="0">
                <a:solidFill>
                  <a:srgbClr val="C00000"/>
                </a:solidFill>
              </a:rPr>
              <a:t>CGMA</a:t>
            </a:r>
            <a:r>
              <a:rPr lang="en-US" altLang="sr-Latn-RS" sz="2000" smtClean="0"/>
              <a:t> odnos predstavlja broj FP operacija koji se izvršavaju za svaki pristup globalnoj memoriji u jednom delu (regionu) CUDA programa.</a:t>
            </a:r>
            <a:endParaRPr lang="sr-Latn-RS" altLang="sr-Latn-RS" sz="2000" smtClean="0"/>
          </a:p>
        </p:txBody>
      </p:sp>
      <p:sp>
        <p:nvSpPr>
          <p:cNvPr id="3" name="Slide Number Placeholder 2"/>
          <p:cNvSpPr>
            <a:spLocks noGrp="1"/>
          </p:cNvSpPr>
          <p:nvPr>
            <p:ph type="sldNum" sz="quarter" idx="12"/>
          </p:nvPr>
        </p:nvSpPr>
        <p:spPr/>
        <p:txBody>
          <a:bodyPr/>
          <a:lstStyle/>
          <a:p>
            <a:fld id="{036081D1-8380-407A-ABF3-D12854566F9D}" type="slidenum">
              <a:rPr lang="en-US" smtClean="0"/>
              <a:pPr/>
              <a:t>33</a:t>
            </a:fld>
            <a:endParaRPr lang="en-US" dirty="0"/>
          </a:p>
        </p:txBody>
      </p:sp>
    </p:spTree>
    <p:extLst>
      <p:ext uri="{BB962C8B-B14F-4D97-AF65-F5344CB8AC3E}">
        <p14:creationId xmlns:p14="http://schemas.microsoft.com/office/powerpoint/2010/main" val="26773141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sr-Latn-RS" dirty="0" smtClean="0"/>
              <a:t>Množenje matrica - deljiva memorija (3)</a:t>
            </a:r>
            <a:endParaRPr lang="en-US" dirty="0"/>
          </a:p>
        </p:txBody>
      </p:sp>
      <p:sp>
        <p:nvSpPr>
          <p:cNvPr id="146435" name="Content Placeholder 2"/>
          <p:cNvSpPr>
            <a:spLocks noGrp="1"/>
          </p:cNvSpPr>
          <p:nvPr>
            <p:ph idx="1"/>
          </p:nvPr>
        </p:nvSpPr>
        <p:spPr/>
        <p:txBody>
          <a:bodyPr/>
          <a:lstStyle/>
          <a:p>
            <a:r>
              <a:rPr lang="en-US" altLang="sr-Latn-RS" sz="2800" smtClean="0"/>
              <a:t>Sa CGMA odnosom koji je 1:1, kernel koji se koristi za množenje matrica će izvršavati  ne više od 21.6 </a:t>
            </a:r>
            <a:r>
              <a:rPr lang="en-US" altLang="sr-Latn-RS" sz="2800" b="1" smtClean="0"/>
              <a:t>biliona</a:t>
            </a:r>
            <a:r>
              <a:rPr lang="en-US" altLang="sr-Latn-RS" sz="2800" smtClean="0"/>
              <a:t> FP operacija u sekundi (gigaflopsi) (</a:t>
            </a:r>
            <a:r>
              <a:rPr lang="sr-Latn-RS" altLang="sr-Latn-RS" sz="2800" smtClean="0"/>
              <a:t>kartica </a:t>
            </a:r>
            <a:r>
              <a:rPr lang="en-US" altLang="sr-Latn-RS" sz="2800" smtClean="0"/>
              <a:t>G80, global memor</a:t>
            </a:r>
            <a:r>
              <a:rPr lang="sr-Latn-RS" altLang="sr-Latn-RS" sz="2800" smtClean="0"/>
              <a:t>y</a:t>
            </a:r>
            <a:r>
              <a:rPr lang="en-US" altLang="sr-Latn-RS" sz="2800" smtClean="0"/>
              <a:t> access bandwidth od 86.4GB/s) </a:t>
            </a:r>
            <a:endParaRPr lang="sr-Latn-RS" altLang="sr-Latn-RS" sz="2800" smtClean="0"/>
          </a:p>
          <a:p>
            <a:r>
              <a:rPr lang="sr-Latn-RS" altLang="sr-Latn-RS" sz="2800" smtClean="0"/>
              <a:t>S</a:t>
            </a:r>
            <a:r>
              <a:rPr lang="en-US" altLang="sr-Latn-RS" sz="2800" smtClean="0"/>
              <a:t>vaka FP operacija zahteva jedan single-precision global memor</a:t>
            </a:r>
            <a:r>
              <a:rPr lang="sr-Latn-RS" altLang="sr-Latn-RS" sz="2800" smtClean="0"/>
              <a:t>y</a:t>
            </a:r>
            <a:r>
              <a:rPr lang="en-US" altLang="sr-Latn-RS" sz="2800" smtClean="0"/>
              <a:t> datum. </a:t>
            </a:r>
            <a:endParaRPr lang="sr-Latn-RS" altLang="sr-Latn-RS" sz="2800" smtClean="0"/>
          </a:p>
          <a:p>
            <a:r>
              <a:rPr lang="sr-Latn-RS" altLang="sr-Latn-RS" sz="2800" smtClean="0"/>
              <a:t>M</a:t>
            </a:r>
            <a:r>
              <a:rPr lang="en-US" altLang="sr-Latn-RS" sz="2800" smtClean="0"/>
              <a:t>aksimaln</a:t>
            </a:r>
            <a:r>
              <a:rPr lang="sr-Latn-RS" altLang="sr-Latn-RS" sz="2800" smtClean="0"/>
              <a:t>i</a:t>
            </a:r>
            <a:r>
              <a:rPr lang="en-US" altLang="sr-Latn-RS" sz="2800" smtClean="0"/>
              <a:t> procenjen</a:t>
            </a:r>
            <a:r>
              <a:rPr lang="sr-Latn-RS" altLang="sr-Latn-RS" sz="2800" smtClean="0"/>
              <a:t>i</a:t>
            </a:r>
            <a:r>
              <a:rPr lang="en-US" altLang="sr-Latn-RS" sz="2800" smtClean="0"/>
              <a:t> </a:t>
            </a:r>
            <a:r>
              <a:rPr lang="sr-Latn-RS" altLang="sr-Latn-RS" sz="2800" smtClean="0"/>
              <a:t>broj operacija </a:t>
            </a:r>
            <a:r>
              <a:rPr lang="en-US" altLang="sr-Latn-RS" sz="2800" smtClean="0"/>
              <a:t>za istu karticu </a:t>
            </a:r>
            <a:r>
              <a:rPr lang="sr-Latn-RS" altLang="sr-Latn-RS" sz="2800" smtClean="0"/>
              <a:t>je </a:t>
            </a:r>
            <a:r>
              <a:rPr lang="en-US" altLang="sr-Latn-RS" sz="2800" smtClean="0"/>
              <a:t>367gflops</a:t>
            </a:r>
            <a:r>
              <a:rPr lang="sr-Latn-RS" altLang="sr-Latn-RS" sz="2800" smtClean="0"/>
              <a:t>.</a:t>
            </a:r>
          </a:p>
        </p:txBody>
      </p:sp>
      <p:sp>
        <p:nvSpPr>
          <p:cNvPr id="3" name="Slide Number Placeholder 2"/>
          <p:cNvSpPr>
            <a:spLocks noGrp="1"/>
          </p:cNvSpPr>
          <p:nvPr>
            <p:ph type="sldNum" sz="quarter" idx="12"/>
          </p:nvPr>
        </p:nvSpPr>
        <p:spPr/>
        <p:txBody>
          <a:bodyPr/>
          <a:lstStyle/>
          <a:p>
            <a:fld id="{036081D1-8380-407A-ABF3-D12854566F9D}" type="slidenum">
              <a:rPr lang="en-US" smtClean="0"/>
              <a:pPr/>
              <a:t>34</a:t>
            </a:fld>
            <a:endParaRPr lang="en-US" dirty="0"/>
          </a:p>
        </p:txBody>
      </p:sp>
    </p:spTree>
    <p:extLst>
      <p:ext uri="{BB962C8B-B14F-4D97-AF65-F5344CB8AC3E}">
        <p14:creationId xmlns:p14="http://schemas.microsoft.com/office/powerpoint/2010/main" val="41382915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CUDA device memory types - podsetnik</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1371600"/>
            <a:ext cx="7950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4038600"/>
            <a:ext cx="4343400" cy="2484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036081D1-8380-407A-ABF3-D12854566F9D}" type="slidenum">
              <a:rPr lang="en-US" smtClean="0"/>
              <a:pPr/>
              <a:t>35</a:t>
            </a:fld>
            <a:endParaRPr lang="en-US" dirty="0"/>
          </a:p>
        </p:txBody>
      </p:sp>
    </p:spTree>
    <p:extLst>
      <p:ext uri="{BB962C8B-B14F-4D97-AF65-F5344CB8AC3E}">
        <p14:creationId xmlns:p14="http://schemas.microsoft.com/office/powerpoint/2010/main" val="12334662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Strategija za redukciju broja pristupa globalnoj memoriji</a:t>
            </a:r>
            <a:endParaRPr lang="sr-Latn-RS" dirty="0"/>
          </a:p>
        </p:txBody>
      </p:sp>
      <p:sp>
        <p:nvSpPr>
          <p:cNvPr id="3" name="Content Placeholder 2"/>
          <p:cNvSpPr>
            <a:spLocks noGrp="1"/>
          </p:cNvSpPr>
          <p:nvPr>
            <p:ph idx="1"/>
          </p:nvPr>
        </p:nvSpPr>
        <p:spPr/>
        <p:txBody>
          <a:bodyPr/>
          <a:lstStyle/>
          <a:p>
            <a:r>
              <a:rPr lang="sr-Latn-RS" dirty="0" smtClean="0"/>
              <a:t>P</a:t>
            </a:r>
            <a:r>
              <a:rPr lang="en-US" dirty="0" err="1" smtClean="0"/>
              <a:t>articionisanje</a:t>
            </a:r>
            <a:r>
              <a:rPr lang="en-US" dirty="0" smtClean="0"/>
              <a:t> </a:t>
            </a:r>
            <a:r>
              <a:rPr lang="en-US" dirty="0" err="1"/>
              <a:t>podataka</a:t>
            </a:r>
            <a:r>
              <a:rPr lang="en-US" dirty="0"/>
              <a:t> u </a:t>
            </a:r>
            <a:r>
              <a:rPr lang="en-US" dirty="0" err="1" smtClean="0"/>
              <a:t>podskupove</a:t>
            </a:r>
            <a:r>
              <a:rPr lang="sr-Latn-RS" dirty="0" smtClean="0"/>
              <a:t>, ili tajlove</a:t>
            </a:r>
            <a:r>
              <a:rPr lang="en-US" dirty="0" smtClean="0"/>
              <a:t> (</a:t>
            </a:r>
            <a:r>
              <a:rPr lang="en-US" dirty="0"/>
              <a:t>eng. </a:t>
            </a:r>
            <a:r>
              <a:rPr lang="en-US" i="1" dirty="0"/>
              <a:t>tiles</a:t>
            </a:r>
            <a:r>
              <a:rPr lang="en-US" dirty="0" smtClean="0"/>
              <a:t>)</a:t>
            </a:r>
            <a:endParaRPr lang="sr-Latn-RS" dirty="0" smtClean="0"/>
          </a:p>
          <a:p>
            <a:r>
              <a:rPr lang="sr-Latn-RS" dirty="0" smtClean="0"/>
              <a:t>Cilj je da s</a:t>
            </a:r>
            <a:r>
              <a:rPr lang="en-US" dirty="0" err="1" smtClean="0"/>
              <a:t>vaki</a:t>
            </a:r>
            <a:r>
              <a:rPr lang="en-US" dirty="0" smtClean="0"/>
              <a:t> </a:t>
            </a:r>
            <a:r>
              <a:rPr lang="en-US" dirty="0" err="1"/>
              <a:t>tajl</a:t>
            </a:r>
            <a:r>
              <a:rPr lang="en-US" dirty="0"/>
              <a:t> </a:t>
            </a:r>
            <a:r>
              <a:rPr lang="en-US" dirty="0" err="1"/>
              <a:t>može</a:t>
            </a:r>
            <a:r>
              <a:rPr lang="en-US" dirty="0"/>
              <a:t> da se </a:t>
            </a:r>
            <a:r>
              <a:rPr lang="en-US" dirty="0" err="1"/>
              <a:t>smesti</a:t>
            </a:r>
            <a:r>
              <a:rPr lang="en-US" dirty="0"/>
              <a:t> u </a:t>
            </a:r>
            <a:r>
              <a:rPr lang="en-US" dirty="0" err="1"/>
              <a:t>deljivu</a:t>
            </a:r>
            <a:r>
              <a:rPr lang="en-US" dirty="0"/>
              <a:t> </a:t>
            </a:r>
            <a:r>
              <a:rPr lang="en-US" dirty="0" err="1" smtClean="0"/>
              <a:t>memoriju</a:t>
            </a:r>
            <a:endParaRPr lang="sr-Latn-RS" dirty="0"/>
          </a:p>
          <a:p>
            <a:r>
              <a:rPr lang="sr-Latn-RS" dirty="0"/>
              <a:t>Globalna memorija (Global memory-GM) je velikog kapaciteta, ali spora, dok je deljiva memorija (Shared memory-S</a:t>
            </a:r>
            <a:r>
              <a:rPr lang="en-US" dirty="0"/>
              <a:t>H</a:t>
            </a:r>
            <a:r>
              <a:rPr lang="sr-Latn-RS" dirty="0"/>
              <a:t>M) mala i brza</a:t>
            </a:r>
          </a:p>
          <a:p>
            <a:r>
              <a:rPr lang="en-US" dirty="0" smtClean="0"/>
              <a:t>Problem</a:t>
            </a:r>
            <a:r>
              <a:rPr lang="sr-Latn-RS" dirty="0" smtClean="0"/>
              <a:t>:</a:t>
            </a:r>
            <a:r>
              <a:rPr lang="en-US" dirty="0" smtClean="0"/>
              <a:t> ne </a:t>
            </a:r>
            <a:r>
              <a:rPr lang="en-US" dirty="0" err="1"/>
              <a:t>mogu</a:t>
            </a:r>
            <a:r>
              <a:rPr lang="en-US" dirty="0"/>
              <a:t> </a:t>
            </a:r>
            <a:r>
              <a:rPr lang="en-US" dirty="0" err="1"/>
              <a:t>sve</a:t>
            </a:r>
            <a:r>
              <a:rPr lang="en-US" dirty="0"/>
              <a:t> </a:t>
            </a:r>
            <a:r>
              <a:rPr lang="en-US" dirty="0" err="1" smtClean="0"/>
              <a:t>strukture</a:t>
            </a:r>
            <a:r>
              <a:rPr lang="en-US" dirty="0" smtClean="0"/>
              <a:t> </a:t>
            </a:r>
            <a:r>
              <a:rPr lang="en-US" dirty="0" err="1"/>
              <a:t>podataka</a:t>
            </a:r>
            <a:r>
              <a:rPr lang="en-US" dirty="0"/>
              <a:t> da se </a:t>
            </a:r>
            <a:r>
              <a:rPr lang="en-US" dirty="0" err="1"/>
              <a:t>podele</a:t>
            </a:r>
            <a:r>
              <a:rPr lang="en-US" dirty="0"/>
              <a:t> u </a:t>
            </a:r>
            <a:r>
              <a:rPr lang="en-US" dirty="0" err="1"/>
              <a:t>tajlove</a:t>
            </a:r>
            <a:r>
              <a:rPr lang="en-US" dirty="0"/>
              <a:t>.</a:t>
            </a:r>
            <a:endParaRPr lang="sr-Latn-RS" dirty="0"/>
          </a:p>
          <a:p>
            <a:endParaRPr lang="sr-Latn-R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36</a:t>
            </a:fld>
            <a:endParaRPr lang="en-US" dirty="0"/>
          </a:p>
        </p:txBody>
      </p:sp>
    </p:spTree>
    <p:extLst>
      <p:ext uri="{BB962C8B-B14F-4D97-AF65-F5344CB8AC3E}">
        <p14:creationId xmlns:p14="http://schemas.microsoft.com/office/powerpoint/2010/main" val="37122897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sr-Latn-RS" dirty="0" smtClean="0"/>
              <a:t>(1)</a:t>
            </a:r>
            <a:endParaRPr lang="sr-Latn-RS" dirty="0"/>
          </a:p>
        </p:txBody>
      </p:sp>
      <p:graphicFrame>
        <p:nvGraphicFramePr>
          <p:cNvPr id="4" name="Table 3"/>
          <p:cNvGraphicFramePr>
            <a:graphicFrameLocks noGrp="1"/>
          </p:cNvGraphicFramePr>
          <p:nvPr>
            <p:extLst>
              <p:ext uri="{D42A27DB-BD31-4B8C-83A1-F6EECF244321}">
                <p14:modId xmlns:p14="http://schemas.microsoft.com/office/powerpoint/2010/main" val="4227191312"/>
              </p:ext>
            </p:extLst>
          </p:nvPr>
        </p:nvGraphicFramePr>
        <p:xfrm>
          <a:off x="6324600" y="1981200"/>
          <a:ext cx="2438400" cy="19050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76250">
                <a:tc>
                  <a:txBody>
                    <a:bodyPr/>
                    <a:lstStyle/>
                    <a:p>
                      <a:r>
                        <a:rPr lang="sr-Latn-RS" sz="1400" dirty="0" smtClean="0">
                          <a:solidFill>
                            <a:schemeClr val="tx1"/>
                          </a:solidFill>
                        </a:rPr>
                        <a:t>Nd</a:t>
                      </a:r>
                      <a:r>
                        <a:rPr lang="sr-Latn-RS" sz="1400" baseline="-25000" dirty="0" smtClean="0">
                          <a:solidFill>
                            <a:schemeClr val="tx1"/>
                          </a:solidFill>
                        </a:rPr>
                        <a:t>0,0</a:t>
                      </a:r>
                      <a:endParaRPr lang="en-US" sz="1400" baseline="-25000" dirty="0">
                        <a:solidFill>
                          <a:schemeClr val="tx1"/>
                        </a:solidFill>
                      </a:endParaRPr>
                    </a:p>
                  </a:txBody>
                  <a:tcPr anchor="c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1,0</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L w="19050" cap="flat" cmpd="sng" algn="ctr">
                      <a:solidFill>
                        <a:schemeClr val="tx1"/>
                      </a:solidFill>
                      <a:prstDash val="solid"/>
                      <a:round/>
                      <a:headEnd type="none" w="med" len="med"/>
                      <a:tailEnd type="none" w="med" len="med"/>
                    </a:lnL>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solidFill>
                      <a:schemeClr val="bg1"/>
                    </a:solidFill>
                  </a:tcPr>
                </a:tc>
                <a:extLst>
                  <a:ext uri="{0D108BD9-81ED-4DB2-BD59-A6C34878D82A}">
                    <a16:rowId xmlns:a16="http://schemas.microsoft.com/office/drawing/2014/main" val="10000"/>
                  </a:ext>
                </a:extLst>
              </a:tr>
              <a:tr h="476250">
                <a:tc>
                  <a:txBody>
                    <a:bodyPr/>
                    <a:lstStyle/>
                    <a:p>
                      <a:r>
                        <a:rPr lang="sr-Latn-RS" sz="1400" dirty="0" smtClean="0">
                          <a:solidFill>
                            <a:schemeClr val="tx1"/>
                          </a:solidFill>
                        </a:rPr>
                        <a:t>Nd</a:t>
                      </a:r>
                      <a:r>
                        <a:rPr lang="sr-Latn-RS" sz="1400" baseline="-25000" dirty="0" smtClean="0">
                          <a:solidFill>
                            <a:schemeClr val="tx1"/>
                          </a:solidFill>
                        </a:rPr>
                        <a:t>0,1</a:t>
                      </a:r>
                      <a:endParaRPr lang="en-US" sz="1400" baseline="-25000" dirty="0">
                        <a:solidFill>
                          <a:schemeClr val="tx1"/>
                        </a:solidFill>
                      </a:endParaRPr>
                    </a:p>
                  </a:txBody>
                  <a:tcPr anchor="ctr">
                    <a:lnB w="19050" cap="flat" cmpd="sng" algn="ctr">
                      <a:solidFill>
                        <a:schemeClr val="tx1"/>
                      </a:solidFill>
                      <a:prstDash val="solid"/>
                      <a:round/>
                      <a:headEnd type="none" w="med" len="med"/>
                      <a:tailEnd type="none" w="med" len="med"/>
                    </a:lnB>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1,1</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6250">
                <a:tc>
                  <a:txBody>
                    <a:bodyPr/>
                    <a:lstStyle/>
                    <a:p>
                      <a:r>
                        <a:rPr lang="sr-Latn-RS" sz="1400" dirty="0" smtClean="0">
                          <a:solidFill>
                            <a:schemeClr val="tx1"/>
                          </a:solidFill>
                        </a:rPr>
                        <a:t>Nd</a:t>
                      </a:r>
                      <a:r>
                        <a:rPr lang="en-US" sz="1400" baseline="-25000" dirty="0" smtClean="0">
                          <a:solidFill>
                            <a:schemeClr val="tx1"/>
                          </a:solidFill>
                        </a:rPr>
                        <a:t>0</a:t>
                      </a:r>
                      <a:r>
                        <a:rPr lang="sr-Latn-RS" sz="1400" baseline="-25000" dirty="0" smtClean="0">
                          <a:solidFill>
                            <a:schemeClr val="tx1"/>
                          </a:solidFill>
                        </a:rPr>
                        <a:t>,2</a:t>
                      </a:r>
                      <a:endParaRPr lang="en-US" sz="1400" baseline="-25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1,2</a:t>
                      </a:r>
                      <a:endParaRPr lang="en-US" sz="1400" baseline="-25000" dirty="0" smtClean="0">
                        <a:solidFill>
                          <a:schemeClr val="tx1"/>
                        </a:solidFill>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76250">
                <a:tc>
                  <a:txBody>
                    <a:bodyPr/>
                    <a:lstStyle/>
                    <a:p>
                      <a:r>
                        <a:rPr lang="sr-Latn-RS" sz="1400" dirty="0" smtClean="0">
                          <a:solidFill>
                            <a:schemeClr val="tx1"/>
                          </a:solidFill>
                        </a:rPr>
                        <a:t>Nd</a:t>
                      </a:r>
                      <a:r>
                        <a:rPr lang="sr-Latn-RS" sz="1400" baseline="-25000" dirty="0" smtClean="0">
                          <a:solidFill>
                            <a:schemeClr val="tx1"/>
                          </a:solidFill>
                        </a:rPr>
                        <a:t>0,3</a:t>
                      </a:r>
                      <a:endParaRPr lang="en-US" sz="1400" baseline="-25000" dirty="0">
                        <a:solidFill>
                          <a:schemeClr val="tx1"/>
                        </a:solidFill>
                      </a:endParaRPr>
                    </a:p>
                  </a:txBody>
                  <a:tcPr anchor="ctr">
                    <a:lnT w="12700" cap="flat" cmpd="sng" algn="ctr">
                      <a:solidFill>
                        <a:schemeClr val="tx1"/>
                      </a:solidFill>
                      <a:prstDash val="solid"/>
                      <a:round/>
                      <a:headEnd type="none" w="med" len="med"/>
                      <a:tailEnd type="none" w="med" len="med"/>
                    </a:lnT>
                    <a:solidFill>
                      <a:srgbClr val="92D05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Nd</a:t>
                      </a:r>
                      <a:r>
                        <a:rPr lang="sr-Latn-RS" sz="1400" baseline="-25000" dirty="0" smtClean="0">
                          <a:solidFill>
                            <a:schemeClr val="tx1"/>
                          </a:solidFill>
                        </a:rPr>
                        <a:t>1,3</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0070C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L w="1905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25000" dirty="0" smtClean="0">
                        <a:solidFill>
                          <a:schemeClr val="bg1"/>
                        </a:solidFill>
                      </a:endParaRPr>
                    </a:p>
                  </a:txBody>
                  <a:tcPr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661103164"/>
              </p:ext>
            </p:extLst>
          </p:nvPr>
        </p:nvGraphicFramePr>
        <p:xfrm>
          <a:off x="3505200" y="4038600"/>
          <a:ext cx="2590800" cy="1905000"/>
        </p:xfrm>
        <a:graphic>
          <a:graphicData uri="http://schemas.openxmlformats.org/drawingml/2006/table">
            <a:tbl>
              <a:tblPr firstRow="1" bandRow="1">
                <a:tableStyleId>{5940675A-B579-460E-94D1-54222C63F5DA}</a:tableStyleId>
              </a:tblPr>
              <a:tblGrid>
                <a:gridCol w="6477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tblGrid>
              <a:tr h="476250">
                <a:tc>
                  <a:txBody>
                    <a:bodyPr/>
                    <a:lstStyle/>
                    <a:p>
                      <a:r>
                        <a:rPr lang="sr-Latn-RS" sz="1400" dirty="0" smtClean="0">
                          <a:solidFill>
                            <a:schemeClr val="tx1"/>
                          </a:solidFill>
                        </a:rPr>
                        <a:t>Md</a:t>
                      </a:r>
                      <a:r>
                        <a:rPr lang="sr-Latn-RS" sz="1400" baseline="-25000" dirty="0" smtClean="0">
                          <a:solidFill>
                            <a:schemeClr val="tx1"/>
                          </a:solidFill>
                        </a:rPr>
                        <a:t>0,0</a:t>
                      </a:r>
                      <a:endParaRPr lang="en-US" sz="1400" baseline="-25000" dirty="0">
                        <a:solidFill>
                          <a:schemeClr val="tx1"/>
                        </a:solidFill>
                      </a:endParaRPr>
                    </a:p>
                  </a:txBody>
                  <a:tcPr anchor="ct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1</a:t>
                      </a:r>
                      <a:r>
                        <a:rPr lang="sr-Latn-RS" sz="1400" baseline="-25000" dirty="0" smtClean="0">
                          <a:solidFill>
                            <a:schemeClr val="tx1"/>
                          </a:solidFill>
                        </a:rPr>
                        <a:t>,</a:t>
                      </a:r>
                      <a:r>
                        <a:rPr lang="en-US" sz="1400" baseline="-25000" dirty="0" smtClean="0">
                          <a:solidFill>
                            <a:schemeClr val="tx1"/>
                          </a:solidFill>
                        </a:rPr>
                        <a:t>0</a:t>
                      </a:r>
                    </a:p>
                  </a:txBody>
                  <a:tcPr anchor="ctr">
                    <a:lnR w="19050" cap="flat" cmpd="sng" algn="ctr">
                      <a:solidFill>
                        <a:schemeClr val="tx1"/>
                      </a:solidFill>
                      <a:prstDash val="solid"/>
                      <a:round/>
                      <a:headEnd type="none" w="med" len="med"/>
                      <a:tailEnd type="none" w="med" len="med"/>
                    </a:lnR>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2</a:t>
                      </a:r>
                      <a:r>
                        <a:rPr lang="sr-Latn-RS" sz="1400" baseline="-25000" dirty="0" smtClean="0">
                          <a:solidFill>
                            <a:schemeClr val="tx1"/>
                          </a:solidFill>
                        </a:rPr>
                        <a:t>,</a:t>
                      </a:r>
                      <a:r>
                        <a:rPr lang="en-US" sz="1400" baseline="-25000" dirty="0" smtClean="0">
                          <a:solidFill>
                            <a:schemeClr val="tx1"/>
                          </a:solidFill>
                        </a:rPr>
                        <a:t>0</a:t>
                      </a:r>
                    </a:p>
                  </a:txBody>
                  <a:tcPr anchor="ctr">
                    <a:lnL w="19050" cap="flat" cmpd="sng" algn="ctr">
                      <a:solidFill>
                        <a:schemeClr val="tx1"/>
                      </a:solidFill>
                      <a:prstDash val="solid"/>
                      <a:round/>
                      <a:headEnd type="none" w="med" len="med"/>
                      <a:tailEnd type="none" w="med" len="med"/>
                    </a:lnL>
                    <a:solidFill>
                      <a:srgbClr val="FFFF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3,0</a:t>
                      </a:r>
                    </a:p>
                  </a:txBody>
                  <a:tcPr anchor="ctr">
                    <a:solidFill>
                      <a:srgbClr val="FFFF00"/>
                    </a:solidFill>
                  </a:tcPr>
                </a:tc>
                <a:extLst>
                  <a:ext uri="{0D108BD9-81ED-4DB2-BD59-A6C34878D82A}">
                    <a16:rowId xmlns:a16="http://schemas.microsoft.com/office/drawing/2014/main" val="10000"/>
                  </a:ext>
                </a:extLst>
              </a:tr>
              <a:tr h="476250">
                <a:tc>
                  <a:txBody>
                    <a:bodyPr/>
                    <a:lstStyle/>
                    <a:p>
                      <a:r>
                        <a:rPr lang="sr-Latn-RS" sz="1400" dirty="0" smtClean="0">
                          <a:solidFill>
                            <a:schemeClr val="tx1"/>
                          </a:solidFill>
                        </a:rPr>
                        <a:t>Md</a:t>
                      </a:r>
                      <a:r>
                        <a:rPr lang="en-US" sz="1400" baseline="-25000" dirty="0" smtClean="0">
                          <a:solidFill>
                            <a:schemeClr val="tx1"/>
                          </a:solidFill>
                        </a:rPr>
                        <a:t>0</a:t>
                      </a:r>
                      <a:r>
                        <a:rPr lang="sr-Latn-RS" sz="1400" baseline="-25000" dirty="0" smtClean="0">
                          <a:solidFill>
                            <a:schemeClr val="tx1"/>
                          </a:solidFill>
                        </a:rPr>
                        <a:t>,</a:t>
                      </a:r>
                      <a:r>
                        <a:rPr lang="en-US" sz="1400" baseline="-25000" dirty="0" smtClean="0">
                          <a:solidFill>
                            <a:schemeClr val="tx1"/>
                          </a:solidFill>
                        </a:rPr>
                        <a:t>1</a:t>
                      </a:r>
                      <a:endParaRPr lang="en-US" sz="1400" baseline="-25000" dirty="0">
                        <a:solidFill>
                          <a:schemeClr val="tx1"/>
                        </a:solidFill>
                      </a:endParaRPr>
                    </a:p>
                  </a:txBody>
                  <a:tcPr anchor="ctr">
                    <a:lnB w="19050" cap="flat" cmpd="sng" algn="ctr">
                      <a:solidFill>
                        <a:schemeClr val="tx1"/>
                      </a:solidFill>
                      <a:prstDash val="solid"/>
                      <a:round/>
                      <a:headEnd type="none" w="med" len="med"/>
                      <a:tailEnd type="none" w="med" len="med"/>
                    </a:lnB>
                    <a:solidFill>
                      <a:srgbClr val="FF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sr-Latn-RS" sz="1400" baseline="-25000" dirty="0" smtClean="0">
                          <a:solidFill>
                            <a:schemeClr val="tx1"/>
                          </a:solidFill>
                        </a:rPr>
                        <a:t>1,1</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rgbClr val="FF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dirty="0" smtClean="0">
                          <a:solidFill>
                            <a:schemeClr val="tx1"/>
                          </a:solidFill>
                        </a:rPr>
                        <a:t>2</a:t>
                      </a:r>
                      <a:r>
                        <a:rPr lang="sr-Latn-RS" sz="1400" baseline="-25000" dirty="0" smtClean="0">
                          <a:solidFill>
                            <a:schemeClr val="tx1"/>
                          </a:solidFill>
                        </a:rPr>
                        <a:t>,</a:t>
                      </a:r>
                      <a:r>
                        <a:rPr lang="en-US" sz="1400" baseline="-25000" dirty="0" smtClean="0">
                          <a:solidFill>
                            <a:schemeClr val="tx1"/>
                          </a:solidFill>
                        </a:rPr>
                        <a:t>1</a:t>
                      </a: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rgbClr val="FF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sr-Latn-RS" sz="1400" dirty="0" smtClean="0">
                          <a:solidFill>
                            <a:schemeClr val="tx1"/>
                          </a:solidFill>
                        </a:rPr>
                        <a:t>Md</a:t>
                      </a:r>
                      <a:r>
                        <a:rPr lang="en-US" sz="1400" baseline="-25000" smtClean="0">
                          <a:solidFill>
                            <a:schemeClr val="tx1"/>
                          </a:solidFill>
                        </a:rPr>
                        <a:t>3</a:t>
                      </a:r>
                      <a:r>
                        <a:rPr lang="sr-Latn-RS" sz="1400" baseline="-25000" smtClean="0">
                          <a:solidFill>
                            <a:schemeClr val="tx1"/>
                          </a:solidFill>
                        </a:rPr>
                        <a:t>,</a:t>
                      </a:r>
                      <a:r>
                        <a:rPr lang="en-US" sz="1400" baseline="-25000" dirty="0" smtClean="0">
                          <a:solidFill>
                            <a:schemeClr val="tx1"/>
                          </a:solidFill>
                        </a:rPr>
                        <a:t>1</a:t>
                      </a:r>
                    </a:p>
                  </a:txBody>
                  <a:tcPr anchor="ctr">
                    <a:lnB w="190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10001"/>
                  </a:ext>
                </a:extLst>
              </a:tr>
              <a:tr h="476250">
                <a:tc>
                  <a:txBody>
                    <a:bodyPr/>
                    <a:lstStyle/>
                    <a:p>
                      <a:endParaRPr lang="en-US" dirty="0"/>
                    </a:p>
                  </a:txBody>
                  <a:tcPr anchor="ctr">
                    <a:lnT w="19050" cap="flat" cmpd="sng" algn="ctr">
                      <a:solidFill>
                        <a:schemeClr val="tx1"/>
                      </a:solidFill>
                      <a:prstDash val="solid"/>
                      <a:round/>
                      <a:headEnd type="none" w="med" len="med"/>
                      <a:tailEnd type="none" w="med" len="med"/>
                    </a:lnT>
                    <a:solidFill>
                      <a:schemeClr val="bg1"/>
                    </a:solidFill>
                  </a:tcPr>
                </a:tc>
                <a:tc>
                  <a:txBody>
                    <a:bodyPr/>
                    <a:lstStyle/>
                    <a:p>
                      <a:endParaRPr lang="en-US" dirty="0"/>
                    </a:p>
                  </a:txBody>
                  <a:tcPr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endParaRPr lang="en-US"/>
                    </a:p>
                  </a:txBody>
                  <a:tcPr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endParaRPr lang="en-US"/>
                    </a:p>
                  </a:txBody>
                  <a:tcPr anchor="ctr">
                    <a:lnT w="1905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2"/>
                  </a:ext>
                </a:extLst>
              </a:tr>
              <a:tr h="476250">
                <a:tc>
                  <a:txBody>
                    <a:bodyPr/>
                    <a:lstStyle/>
                    <a:p>
                      <a:endParaRPr lang="en-US"/>
                    </a:p>
                  </a:txBody>
                  <a:tcPr anchor="ctr">
                    <a:solidFill>
                      <a:schemeClr val="bg1"/>
                    </a:solidFill>
                  </a:tcPr>
                </a:tc>
                <a:tc>
                  <a:txBody>
                    <a:bodyPr/>
                    <a:lstStyle/>
                    <a:p>
                      <a:endParaRPr lang="en-US" dirty="0"/>
                    </a:p>
                  </a:txBody>
                  <a:tcPr anchor="ctr">
                    <a:lnR w="19050" cap="flat" cmpd="sng" algn="ctr">
                      <a:solidFill>
                        <a:schemeClr val="tx1"/>
                      </a:solidFill>
                      <a:prstDash val="solid"/>
                      <a:round/>
                      <a:headEnd type="none" w="med" len="med"/>
                      <a:tailEnd type="none" w="med" len="med"/>
                    </a:lnR>
                    <a:solidFill>
                      <a:schemeClr val="bg1"/>
                    </a:solidFill>
                  </a:tcPr>
                </a:tc>
                <a:tc>
                  <a:txBody>
                    <a:bodyPr/>
                    <a:lstStyle/>
                    <a:p>
                      <a:endParaRPr lang="en-US" dirty="0"/>
                    </a:p>
                  </a:txBody>
                  <a:tcPr anchor="ctr">
                    <a:lnL w="19050" cap="flat" cmpd="sng" algn="ctr">
                      <a:solidFill>
                        <a:schemeClr val="tx1"/>
                      </a:solidFill>
                      <a:prstDash val="solid"/>
                      <a:round/>
                      <a:headEnd type="none" w="med" len="med"/>
                      <a:tailEnd type="none" w="med" len="med"/>
                    </a:lnL>
                    <a:solidFill>
                      <a:schemeClr val="bg1"/>
                    </a:solidFill>
                  </a:tcPr>
                </a:tc>
                <a:tc>
                  <a:txBody>
                    <a:bodyPr/>
                    <a:lstStyle/>
                    <a:p>
                      <a:endParaRPr lang="en-US" dirty="0"/>
                    </a:p>
                  </a:txBody>
                  <a:tcPr anchor="ctr">
                    <a:solidFill>
                      <a:schemeClr val="bg1"/>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505600023"/>
              </p:ext>
            </p:extLst>
          </p:nvPr>
        </p:nvGraphicFramePr>
        <p:xfrm>
          <a:off x="6324600" y="4038600"/>
          <a:ext cx="2438400" cy="1905000"/>
        </p:xfrm>
        <a:graphic>
          <a:graphicData uri="http://schemas.openxmlformats.org/drawingml/2006/table">
            <a:tbl>
              <a:tblPr firstRow="1" bandRow="1">
                <a:noFill/>
                <a:tableStyleId>{5940675A-B579-460E-94D1-54222C63F5DA}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tblGrid>
              <a:tr h="476250">
                <a:tc>
                  <a:txBody>
                    <a:bodyPr/>
                    <a:lstStyle/>
                    <a:p>
                      <a:r>
                        <a:rPr lang="en-US" sz="1400" dirty="0" smtClean="0">
                          <a:solidFill>
                            <a:schemeClr val="tx1"/>
                          </a:solidFill>
                        </a:rPr>
                        <a:t>Pd</a:t>
                      </a:r>
                      <a:r>
                        <a:rPr lang="sr-Latn-RS" sz="1400" baseline="-25000" dirty="0" smtClean="0">
                          <a:solidFill>
                            <a:schemeClr val="tx1"/>
                          </a:solidFill>
                        </a:rPr>
                        <a:t>0,0</a:t>
                      </a:r>
                      <a:endParaRPr lang="en-US" sz="1400" baseline="-25000" dirty="0">
                        <a:solidFill>
                          <a:schemeClr val="tx1"/>
                        </a:solidFill>
                      </a:endParaRPr>
                    </a:p>
                  </a:txBody>
                  <a:tcPr anchor="ctr">
                    <a:gradFill flip="none" rotWithShape="1">
                      <a:gsLst>
                        <a:gs pos="48000">
                          <a:srgbClr val="FFFF00"/>
                        </a:gs>
                        <a:gs pos="49000">
                          <a:srgbClr val="00B050"/>
                        </a:gs>
                      </a:gsLst>
                      <a:lin ang="18900000" scaled="1"/>
                      <a:tileRect/>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1,0</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gradFill>
                      <a:gsLst>
                        <a:gs pos="48000">
                          <a:srgbClr val="FFFF00"/>
                        </a:gs>
                        <a:gs pos="49000">
                          <a:srgbClr val="0070C0"/>
                        </a:gs>
                      </a:gsLst>
                      <a:lin ang="18900000" scaled="1"/>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2,0</a:t>
                      </a:r>
                      <a:endParaRPr lang="en-US" sz="1400" baseline="-25000" dirty="0" smtClean="0">
                        <a:solidFill>
                          <a:schemeClr val="tx1"/>
                        </a:solidFill>
                      </a:endParaRPr>
                    </a:p>
                  </a:txBody>
                  <a:tcPr anchor="ctr">
                    <a:lnL w="19050" cap="flat" cmpd="sng" algn="ctr">
                      <a:solidFill>
                        <a:schemeClr val="tx1"/>
                      </a:solidFill>
                      <a:prstDash val="solid"/>
                      <a:round/>
                      <a:headEnd type="none" w="med" len="med"/>
                      <a:tailEnd type="none" w="med" len="med"/>
                    </a:lnL>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3,0</a:t>
                      </a:r>
                      <a:endParaRPr lang="en-US" sz="1400" baseline="-25000" dirty="0" smtClean="0">
                        <a:solidFill>
                          <a:schemeClr val="tx1"/>
                        </a:solidFill>
                      </a:endParaRPr>
                    </a:p>
                  </a:txBody>
                  <a:tcPr anchor="ctr">
                    <a:solidFill>
                      <a:schemeClr val="bg1"/>
                    </a:solidFill>
                  </a:tcPr>
                </a:tc>
                <a:extLst>
                  <a:ext uri="{0D108BD9-81ED-4DB2-BD59-A6C34878D82A}">
                    <a16:rowId xmlns:a16="http://schemas.microsoft.com/office/drawing/2014/main" val="10000"/>
                  </a:ext>
                </a:extLst>
              </a:tr>
              <a:tr h="476250">
                <a:tc>
                  <a:txBody>
                    <a:bodyPr/>
                    <a:lstStyle/>
                    <a:p>
                      <a:r>
                        <a:rPr lang="en-US" sz="1400" dirty="0" smtClean="0">
                          <a:solidFill>
                            <a:schemeClr val="tx1"/>
                          </a:solidFill>
                        </a:rPr>
                        <a:t>Pd</a:t>
                      </a:r>
                      <a:r>
                        <a:rPr lang="sr-Latn-RS" sz="1400" baseline="-25000" dirty="0" smtClean="0">
                          <a:solidFill>
                            <a:schemeClr val="tx1"/>
                          </a:solidFill>
                        </a:rPr>
                        <a:t>0,1</a:t>
                      </a:r>
                      <a:endParaRPr lang="en-US" sz="1400" baseline="-25000" dirty="0">
                        <a:solidFill>
                          <a:schemeClr val="tx1"/>
                        </a:solidFill>
                      </a:endParaRPr>
                    </a:p>
                  </a:txBody>
                  <a:tcPr anchor="ctr">
                    <a:lnB w="19050" cap="flat" cmpd="sng" algn="ctr">
                      <a:solidFill>
                        <a:schemeClr val="tx1"/>
                      </a:solidFill>
                      <a:prstDash val="solid"/>
                      <a:round/>
                      <a:headEnd type="none" w="med" len="med"/>
                      <a:tailEnd type="none" w="med" len="med"/>
                    </a:lnB>
                    <a:gradFill>
                      <a:gsLst>
                        <a:gs pos="48000">
                          <a:srgbClr val="FF0000"/>
                        </a:gs>
                        <a:gs pos="49000">
                          <a:srgbClr val="00B050"/>
                        </a:gs>
                      </a:gsLst>
                      <a:lin ang="18900000" scaled="1"/>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1,1</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gradFill>
                      <a:gsLst>
                        <a:gs pos="48000">
                          <a:srgbClr val="FF0000"/>
                        </a:gs>
                        <a:gs pos="49000">
                          <a:srgbClr val="0070C0"/>
                        </a:gs>
                      </a:gsLst>
                      <a:lin ang="18900000" scaled="1"/>
                    </a:gra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2,1</a:t>
                      </a:r>
                      <a:endParaRPr lang="en-US" sz="1400" baseline="-25000" dirty="0" smtClean="0">
                        <a:solidFill>
                          <a:schemeClr val="tx1"/>
                        </a:solidFill>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3,1</a:t>
                      </a:r>
                      <a:endParaRPr lang="en-US" sz="1400" baseline="-25000" dirty="0" smtClean="0">
                        <a:solidFill>
                          <a:schemeClr val="tx1"/>
                        </a:solidFill>
                      </a:endParaRPr>
                    </a:p>
                  </a:txBody>
                  <a:tcPr anchor="ctr">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6250">
                <a:tc>
                  <a:txBody>
                    <a:bodyPr/>
                    <a:lstStyle/>
                    <a:p>
                      <a:r>
                        <a:rPr lang="en-US" sz="1400" dirty="0" smtClean="0">
                          <a:solidFill>
                            <a:schemeClr val="tx1"/>
                          </a:solidFill>
                        </a:rPr>
                        <a:t>Pd</a:t>
                      </a:r>
                      <a:r>
                        <a:rPr lang="sr-Latn-RS" sz="1400" baseline="-25000" dirty="0" smtClean="0">
                          <a:solidFill>
                            <a:schemeClr val="tx1"/>
                          </a:solidFill>
                        </a:rPr>
                        <a:t>0,2</a:t>
                      </a:r>
                      <a:endParaRPr lang="en-US" sz="1400" baseline="-25000" dirty="0">
                        <a:solidFill>
                          <a:schemeClr val="tx1"/>
                        </a:solidFill>
                      </a:endParaRPr>
                    </a:p>
                  </a:txBody>
                  <a:tcPr anchor="ctr">
                    <a:lnT w="1905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1,2</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2,2</a:t>
                      </a:r>
                      <a:endParaRPr lang="en-US" sz="1400" baseline="-25000" dirty="0" smtClean="0">
                        <a:solidFill>
                          <a:schemeClr val="tx1"/>
                        </a:solidFill>
                      </a:endParaRPr>
                    </a:p>
                  </a:txBody>
                  <a:tcPr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3,2</a:t>
                      </a:r>
                      <a:endParaRPr lang="en-US" sz="1400" baseline="-25000" dirty="0" smtClean="0">
                        <a:solidFill>
                          <a:schemeClr val="tx1"/>
                        </a:solidFill>
                      </a:endParaRPr>
                    </a:p>
                  </a:txBody>
                  <a:tcPr anchor="ctr">
                    <a:lnT w="1905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2"/>
                  </a:ext>
                </a:extLst>
              </a:tr>
              <a:tr h="476250">
                <a:tc>
                  <a:txBody>
                    <a:bodyPr/>
                    <a:lstStyle/>
                    <a:p>
                      <a:r>
                        <a:rPr lang="en-US" sz="1400" dirty="0" smtClean="0">
                          <a:solidFill>
                            <a:schemeClr val="tx1"/>
                          </a:solidFill>
                        </a:rPr>
                        <a:t>Pd</a:t>
                      </a:r>
                      <a:r>
                        <a:rPr lang="sr-Latn-RS" sz="1400" baseline="-25000" dirty="0" smtClean="0">
                          <a:solidFill>
                            <a:schemeClr val="tx1"/>
                          </a:solidFill>
                        </a:rPr>
                        <a:t>0,3</a:t>
                      </a:r>
                      <a:endParaRPr lang="en-US" sz="1400" baseline="-25000" dirty="0">
                        <a:solidFill>
                          <a:schemeClr val="tx1"/>
                        </a:solidFill>
                      </a:endParaRPr>
                    </a:p>
                  </a:txBody>
                  <a:tcPr anchor="c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1,3</a:t>
                      </a:r>
                      <a:endParaRPr lang="en-US" sz="1400" baseline="-25000" dirty="0" smtClean="0">
                        <a:solidFill>
                          <a:schemeClr val="tx1"/>
                        </a:solidFill>
                      </a:endParaRPr>
                    </a:p>
                  </a:txBody>
                  <a:tcPr anchor="ctr">
                    <a:lnR w="19050" cap="flat" cmpd="sng" algn="ctr">
                      <a:solidFill>
                        <a:schemeClr val="tx1"/>
                      </a:solidFill>
                      <a:prstDash val="solid"/>
                      <a:round/>
                      <a:headEnd type="none" w="med" len="med"/>
                      <a:tailEnd type="none" w="med" len="med"/>
                    </a:ln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2,3</a:t>
                      </a:r>
                      <a:endParaRPr lang="en-US" sz="1400" baseline="-25000" dirty="0" smtClean="0">
                        <a:solidFill>
                          <a:schemeClr val="tx1"/>
                        </a:solidFill>
                      </a:endParaRPr>
                    </a:p>
                  </a:txBody>
                  <a:tcPr anchor="ctr">
                    <a:lnL w="19050" cap="flat" cmpd="sng" algn="ctr">
                      <a:solidFill>
                        <a:schemeClr val="tx1"/>
                      </a:solidFill>
                      <a:prstDash val="solid"/>
                      <a:round/>
                      <a:headEnd type="none" w="med" len="med"/>
                      <a:tailEnd type="none" w="med" len="med"/>
                    </a:lnL>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Pd</a:t>
                      </a:r>
                      <a:r>
                        <a:rPr lang="sr-Latn-RS" sz="1400" baseline="-25000" dirty="0" smtClean="0">
                          <a:solidFill>
                            <a:schemeClr val="tx1"/>
                          </a:solidFill>
                        </a:rPr>
                        <a:t>3,3</a:t>
                      </a:r>
                      <a:endParaRPr lang="en-US" sz="1400" baseline="-25000" dirty="0" smtClean="0">
                        <a:solidFill>
                          <a:schemeClr val="tx1"/>
                        </a:solidFill>
                      </a:endParaRPr>
                    </a:p>
                  </a:txBody>
                  <a:tcPr anchor="ctr">
                    <a:solidFill>
                      <a:schemeClr val="bg1"/>
                    </a:solidFill>
                  </a:tcPr>
                </a:tc>
                <a:extLst>
                  <a:ext uri="{0D108BD9-81ED-4DB2-BD59-A6C34878D82A}">
                    <a16:rowId xmlns:a16="http://schemas.microsoft.com/office/drawing/2014/main" val="10003"/>
                  </a:ext>
                </a:extLst>
              </a:tr>
            </a:tbl>
          </a:graphicData>
        </a:graphic>
      </p:graphicFrame>
      <p:cxnSp>
        <p:nvCxnSpPr>
          <p:cNvPr id="7" name="Straight Arrow Connector 6"/>
          <p:cNvCxnSpPr/>
          <p:nvPr/>
        </p:nvCxnSpPr>
        <p:spPr>
          <a:xfrm>
            <a:off x="3505200" y="4114800"/>
            <a:ext cx="2895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505200" y="4419600"/>
            <a:ext cx="3505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a:off x="5372100" y="3009900"/>
            <a:ext cx="2057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5981700" y="3009900"/>
            <a:ext cx="2057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Content Placeholder 14"/>
          <p:cNvSpPr>
            <a:spLocks noGrp="1"/>
          </p:cNvSpPr>
          <p:nvPr>
            <p:ph idx="1"/>
          </p:nvPr>
        </p:nvSpPr>
        <p:spPr>
          <a:xfrm>
            <a:off x="457200" y="1828800"/>
            <a:ext cx="5638800" cy="1981200"/>
          </a:xfrm>
        </p:spPr>
        <p:txBody>
          <a:bodyPr>
            <a:normAutofit lnSpcReduction="10000"/>
          </a:bodyPr>
          <a:lstStyle/>
          <a:p>
            <a:r>
              <a:rPr lang="en-US" dirty="0" err="1"/>
              <a:t>Svaka</a:t>
            </a:r>
            <a:r>
              <a:rPr lang="en-US" dirty="0"/>
              <a:t> nit </a:t>
            </a:r>
            <a:r>
              <a:rPr lang="en-US" dirty="0" err="1"/>
              <a:t>ima</a:t>
            </a:r>
            <a:r>
              <a:rPr lang="en-US" dirty="0"/>
              <a:t> </a:t>
            </a:r>
            <a:r>
              <a:rPr lang="en-US" dirty="0" err="1"/>
              <a:t>četiri</a:t>
            </a:r>
            <a:r>
              <a:rPr lang="en-US" dirty="0"/>
              <a:t> </a:t>
            </a:r>
            <a:r>
              <a:rPr lang="en-US" dirty="0" err="1"/>
              <a:t>pristupa</a:t>
            </a:r>
            <a:r>
              <a:rPr lang="en-US" dirty="0"/>
              <a:t> </a:t>
            </a:r>
            <a:r>
              <a:rPr lang="en-US" dirty="0" err="1"/>
              <a:t>matrici</a:t>
            </a:r>
            <a:r>
              <a:rPr lang="en-US" dirty="0"/>
              <a:t> </a:t>
            </a:r>
            <a:r>
              <a:rPr lang="en-US" dirty="0" err="1"/>
              <a:t>Md</a:t>
            </a:r>
            <a:r>
              <a:rPr lang="en-US" dirty="0"/>
              <a:t> i </a:t>
            </a:r>
            <a:r>
              <a:rPr lang="en-US" dirty="0" err="1"/>
              <a:t>četiri</a:t>
            </a:r>
            <a:r>
              <a:rPr lang="en-US" dirty="0"/>
              <a:t> </a:t>
            </a:r>
            <a:r>
              <a:rPr lang="en-US" dirty="0" err="1"/>
              <a:t>pristupa</a:t>
            </a:r>
            <a:r>
              <a:rPr lang="en-US" dirty="0"/>
              <a:t> </a:t>
            </a:r>
            <a:r>
              <a:rPr lang="en-US" dirty="0" err="1"/>
              <a:t>matrici</a:t>
            </a:r>
            <a:r>
              <a:rPr lang="en-US" dirty="0"/>
              <a:t> </a:t>
            </a:r>
            <a:r>
              <a:rPr lang="en-US" dirty="0" err="1"/>
              <a:t>Nd</a:t>
            </a:r>
            <a:r>
              <a:rPr lang="en-US" dirty="0"/>
              <a:t> </a:t>
            </a:r>
            <a:r>
              <a:rPr lang="en-US" dirty="0" err="1"/>
              <a:t>prilikom</a:t>
            </a:r>
            <a:r>
              <a:rPr lang="en-US" dirty="0"/>
              <a:t> </a:t>
            </a:r>
            <a:r>
              <a:rPr lang="en-US" dirty="0" err="1"/>
              <a:t>izvršenja</a:t>
            </a:r>
            <a:r>
              <a:rPr lang="en-US" dirty="0" smtClean="0"/>
              <a:t>.</a:t>
            </a:r>
            <a:endParaRPr lang="sr-Latn-RS" dirty="0" smtClean="0"/>
          </a:p>
          <a:p>
            <a:r>
              <a:rPr lang="sr-Latn-RS" dirty="0" smtClean="0"/>
              <a:t>S</a:t>
            </a:r>
            <a:r>
              <a:rPr lang="en-US" dirty="0" err="1" smtClean="0"/>
              <a:t>vakom</a:t>
            </a:r>
            <a:r>
              <a:rPr lang="en-US" dirty="0" smtClean="0"/>
              <a:t> </a:t>
            </a:r>
            <a:r>
              <a:rPr lang="en-US" dirty="0" err="1" smtClean="0"/>
              <a:t>elementu</a:t>
            </a:r>
            <a:r>
              <a:rPr lang="en-US" dirty="0" smtClean="0"/>
              <a:t> </a:t>
            </a:r>
            <a:r>
              <a:rPr lang="en-US" dirty="0" err="1" smtClean="0"/>
              <a:t>matrica</a:t>
            </a:r>
            <a:r>
              <a:rPr lang="en-US" dirty="0" smtClean="0"/>
              <a:t> </a:t>
            </a:r>
            <a:r>
              <a:rPr lang="en-US" dirty="0" err="1" smtClean="0"/>
              <a:t>Md</a:t>
            </a:r>
            <a:r>
              <a:rPr lang="en-US" dirty="0" smtClean="0"/>
              <a:t> </a:t>
            </a:r>
            <a:r>
              <a:rPr lang="en-US" dirty="0" err="1" smtClean="0"/>
              <a:t>i</a:t>
            </a:r>
            <a:r>
              <a:rPr lang="en-US" dirty="0" smtClean="0"/>
              <a:t> </a:t>
            </a:r>
            <a:r>
              <a:rPr lang="en-US" dirty="0" err="1" smtClean="0"/>
              <a:t>Nd</a:t>
            </a:r>
            <a:r>
              <a:rPr lang="en-US" dirty="0" smtClean="0"/>
              <a:t> se </a:t>
            </a:r>
            <a:r>
              <a:rPr lang="en-US" dirty="0" err="1" smtClean="0"/>
              <a:t>pristupa</a:t>
            </a:r>
            <a:r>
              <a:rPr lang="en-US" dirty="0" smtClean="0"/>
              <a:t> </a:t>
            </a:r>
            <a:r>
              <a:rPr lang="en-US" dirty="0" err="1" smtClean="0"/>
              <a:t>tačno</a:t>
            </a:r>
            <a:r>
              <a:rPr lang="en-US" dirty="0" smtClean="0"/>
              <a:t> </a:t>
            </a:r>
            <a:r>
              <a:rPr lang="en-US" dirty="0" err="1" smtClean="0"/>
              <a:t>dva</a:t>
            </a:r>
            <a:r>
              <a:rPr lang="en-US" dirty="0" smtClean="0"/>
              <a:t> </a:t>
            </a:r>
            <a:r>
              <a:rPr lang="en-US" dirty="0" err="1" smtClean="0"/>
              <a:t>puta</a:t>
            </a:r>
            <a:r>
              <a:rPr lang="en-US" dirty="0" smtClean="0"/>
              <a:t>. </a:t>
            </a:r>
            <a:endParaRPr lang="sr-Latn-RS" dirty="0" err="1" smtClean="0"/>
          </a:p>
        </p:txBody>
      </p:sp>
      <p:sp>
        <p:nvSpPr>
          <p:cNvPr id="3" name="Slide Number Placeholder 2"/>
          <p:cNvSpPr>
            <a:spLocks noGrp="1"/>
          </p:cNvSpPr>
          <p:nvPr>
            <p:ph type="sldNum" sz="quarter" idx="12"/>
          </p:nvPr>
        </p:nvSpPr>
        <p:spPr/>
        <p:txBody>
          <a:bodyPr/>
          <a:lstStyle/>
          <a:p>
            <a:fld id="{036081D1-8380-407A-ABF3-D12854566F9D}" type="slidenum">
              <a:rPr lang="en-US" smtClean="0"/>
              <a:pPr/>
              <a:t>37</a:t>
            </a:fld>
            <a:endParaRPr lang="en-US" dirty="0"/>
          </a:p>
        </p:txBody>
      </p:sp>
    </p:spTree>
    <p:extLst>
      <p:ext uri="{BB962C8B-B14F-4D97-AF65-F5344CB8AC3E}">
        <p14:creationId xmlns:p14="http://schemas.microsoft.com/office/powerpoint/2010/main" val="18204515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Množenje matrica - deljiva memorija (2)</a:t>
            </a:r>
            <a:endParaRPr lang="en-US" dirty="0"/>
          </a:p>
        </p:txBody>
      </p:sp>
      <p:sp>
        <p:nvSpPr>
          <p:cNvPr id="3" name="Content Placeholder 2"/>
          <p:cNvSpPr>
            <a:spLocks noGrp="1"/>
          </p:cNvSpPr>
          <p:nvPr>
            <p:ph idx="1"/>
          </p:nvPr>
        </p:nvSpPr>
        <p:spPr/>
        <p:txBody>
          <a:bodyPr>
            <a:normAutofit/>
          </a:bodyPr>
          <a:lstStyle/>
          <a:p>
            <a:r>
              <a:rPr lang="sr-Latn-RS" sz="2800" b="1" dirty="0" smtClean="0">
                <a:solidFill>
                  <a:srgbClr val="C00000"/>
                </a:solidFill>
              </a:rPr>
              <a:t>Šta ako bi </a:t>
            </a:r>
            <a:r>
              <a:rPr lang="en-US" sz="2800" b="1" dirty="0" err="1" smtClean="0">
                <a:solidFill>
                  <a:srgbClr val="C00000"/>
                </a:solidFill>
              </a:rPr>
              <a:t>niti</a:t>
            </a:r>
            <a:r>
              <a:rPr lang="sr-Latn-RS" sz="2800" b="1" dirty="0" smtClean="0">
                <a:solidFill>
                  <a:srgbClr val="C00000"/>
                </a:solidFill>
              </a:rPr>
              <a:t> koje pristupaju istim elementima mogle </a:t>
            </a:r>
            <a:r>
              <a:rPr lang="en-US" sz="2800" b="1" dirty="0" smtClean="0">
                <a:solidFill>
                  <a:srgbClr val="C00000"/>
                </a:solidFill>
              </a:rPr>
              <a:t>me</a:t>
            </a:r>
            <a:r>
              <a:rPr lang="sr-Latn-RS" sz="2800" b="1" dirty="0" smtClean="0">
                <a:solidFill>
                  <a:srgbClr val="C00000"/>
                </a:solidFill>
              </a:rPr>
              <a:t>đ</a:t>
            </a:r>
            <a:r>
              <a:rPr lang="en-US" sz="2800" b="1" dirty="0" err="1" smtClean="0">
                <a:solidFill>
                  <a:srgbClr val="C00000"/>
                </a:solidFill>
              </a:rPr>
              <a:t>usobno</a:t>
            </a:r>
            <a:r>
              <a:rPr lang="en-US" sz="2800" b="1" dirty="0" smtClean="0">
                <a:solidFill>
                  <a:srgbClr val="C00000"/>
                </a:solidFill>
              </a:rPr>
              <a:t> </a:t>
            </a:r>
            <a:r>
              <a:rPr lang="sr-Latn-RS" sz="2800" b="1" dirty="0" smtClean="0">
                <a:solidFill>
                  <a:srgbClr val="C00000"/>
                </a:solidFill>
              </a:rPr>
              <a:t>da </a:t>
            </a:r>
            <a:r>
              <a:rPr lang="en-US" sz="2800" b="1" dirty="0" err="1" smtClean="0">
                <a:solidFill>
                  <a:srgbClr val="C00000"/>
                </a:solidFill>
              </a:rPr>
              <a:t>sarađuju</a:t>
            </a:r>
            <a:r>
              <a:rPr lang="sr-Latn-RS" sz="2800" b="1" dirty="0" smtClean="0">
                <a:solidFill>
                  <a:srgbClr val="C00000"/>
                </a:solidFill>
              </a:rPr>
              <a:t>?</a:t>
            </a:r>
          </a:p>
          <a:p>
            <a:pPr lvl="1"/>
            <a:r>
              <a:rPr lang="sr-Latn-RS" sz="2400" dirty="0" smtClean="0"/>
              <a:t>E</a:t>
            </a:r>
            <a:r>
              <a:rPr lang="en-US" sz="2400" dirty="0" err="1" smtClean="0"/>
              <a:t>lementi</a:t>
            </a:r>
            <a:r>
              <a:rPr lang="en-US" sz="2400" dirty="0" smtClean="0"/>
              <a:t> </a:t>
            </a:r>
            <a:r>
              <a:rPr lang="en-US" sz="2400" dirty="0"/>
              <a:t>se </a:t>
            </a:r>
            <a:r>
              <a:rPr lang="en-US" sz="2400" dirty="0" err="1"/>
              <a:t>mogu</a:t>
            </a:r>
            <a:r>
              <a:rPr lang="en-US" sz="2400" dirty="0"/>
              <a:t> </a:t>
            </a:r>
            <a:r>
              <a:rPr lang="en-US" sz="2400" dirty="0" err="1"/>
              <a:t>iz</a:t>
            </a:r>
            <a:r>
              <a:rPr lang="en-US" sz="2400" dirty="0"/>
              <a:t> </a:t>
            </a:r>
            <a:r>
              <a:rPr lang="en-US" sz="2400" dirty="0" err="1"/>
              <a:t>globalne</a:t>
            </a:r>
            <a:r>
              <a:rPr lang="en-US" sz="2400" dirty="0"/>
              <a:t> </a:t>
            </a:r>
            <a:r>
              <a:rPr lang="en-US" sz="2400" dirty="0" err="1"/>
              <a:t>memorije</a:t>
            </a:r>
            <a:r>
              <a:rPr lang="en-US" sz="2400" dirty="0"/>
              <a:t> </a:t>
            </a:r>
            <a:r>
              <a:rPr lang="en-US" sz="2400" dirty="0" err="1"/>
              <a:t>učitati</a:t>
            </a:r>
            <a:r>
              <a:rPr lang="en-US" sz="2400" dirty="0"/>
              <a:t> </a:t>
            </a:r>
            <a:r>
              <a:rPr lang="en-US" sz="2400" dirty="0" err="1"/>
              <a:t>samo</a:t>
            </a:r>
            <a:r>
              <a:rPr lang="en-US" sz="2400" dirty="0"/>
              <a:t> </a:t>
            </a:r>
            <a:r>
              <a:rPr lang="en-US" sz="2400" dirty="0" err="1"/>
              <a:t>jednom</a:t>
            </a:r>
            <a:r>
              <a:rPr lang="en-US" sz="2400" dirty="0"/>
              <a:t>, </a:t>
            </a:r>
            <a:r>
              <a:rPr lang="en-US" sz="2400" dirty="0" err="1"/>
              <a:t>što</a:t>
            </a:r>
            <a:r>
              <a:rPr lang="en-US" sz="2400" dirty="0"/>
              <a:t> bi </a:t>
            </a:r>
            <a:r>
              <a:rPr lang="sr-Latn-RS" sz="2400" dirty="0" smtClean="0"/>
              <a:t>smanjilo </a:t>
            </a:r>
            <a:r>
              <a:rPr lang="en-US" sz="2400" dirty="0" err="1" smtClean="0"/>
              <a:t>ukupan</a:t>
            </a:r>
            <a:r>
              <a:rPr lang="en-US" sz="2400" dirty="0" smtClean="0"/>
              <a:t> </a:t>
            </a:r>
            <a:r>
              <a:rPr lang="en-US" sz="2400" dirty="0" err="1"/>
              <a:t>broj</a:t>
            </a:r>
            <a:r>
              <a:rPr lang="en-US" sz="2400" dirty="0"/>
              <a:t> </a:t>
            </a:r>
            <a:r>
              <a:rPr lang="en-US" sz="2400" dirty="0" err="1"/>
              <a:t>pristupa</a:t>
            </a:r>
            <a:r>
              <a:rPr lang="en-US" sz="2400" dirty="0"/>
              <a:t> </a:t>
            </a:r>
            <a:r>
              <a:rPr lang="en-US" sz="2400" dirty="0" err="1"/>
              <a:t>globalnoj</a:t>
            </a:r>
            <a:r>
              <a:rPr lang="en-US" sz="2400" dirty="0"/>
              <a:t> </a:t>
            </a:r>
            <a:r>
              <a:rPr lang="en-US" sz="2400" dirty="0" err="1" smtClean="0"/>
              <a:t>memoriji</a:t>
            </a:r>
            <a:r>
              <a:rPr lang="en-US" sz="2400" dirty="0" smtClean="0"/>
              <a:t>.</a:t>
            </a:r>
            <a:endParaRPr lang="sr-Latn-RS" sz="2400" dirty="0" smtClean="0"/>
          </a:p>
          <a:p>
            <a:pPr lvl="1"/>
            <a:r>
              <a:rPr lang="sr-Latn-RS" sz="2400" dirty="0" smtClean="0"/>
              <a:t>S</a:t>
            </a:r>
            <a:r>
              <a:rPr lang="en-US" sz="2400" dirty="0" err="1" smtClean="0"/>
              <a:t>vakom</a:t>
            </a:r>
            <a:r>
              <a:rPr lang="en-US" sz="2400" dirty="0" smtClean="0"/>
              <a:t> </a:t>
            </a:r>
            <a:r>
              <a:rPr lang="en-US" sz="2400" dirty="0" err="1"/>
              <a:t>elementu</a:t>
            </a:r>
            <a:r>
              <a:rPr lang="en-US" sz="2400" dirty="0"/>
              <a:t> </a:t>
            </a:r>
            <a:r>
              <a:rPr lang="en-US" sz="2400" dirty="0" err="1"/>
              <a:t>matrica</a:t>
            </a:r>
            <a:r>
              <a:rPr lang="en-US" sz="2400" dirty="0"/>
              <a:t> </a:t>
            </a:r>
            <a:r>
              <a:rPr lang="en-US" sz="2400" dirty="0" err="1"/>
              <a:t>Md</a:t>
            </a:r>
            <a:r>
              <a:rPr lang="en-US" sz="2400" dirty="0"/>
              <a:t> i </a:t>
            </a:r>
            <a:r>
              <a:rPr lang="en-US" sz="2400" dirty="0" err="1"/>
              <a:t>Nd</a:t>
            </a:r>
            <a:r>
              <a:rPr lang="en-US" sz="2400" dirty="0"/>
              <a:t> se </a:t>
            </a:r>
            <a:r>
              <a:rPr lang="en-US" sz="2400" dirty="0" err="1"/>
              <a:t>pristupa</a:t>
            </a:r>
            <a:r>
              <a:rPr lang="en-US" sz="2400" dirty="0"/>
              <a:t> </a:t>
            </a:r>
            <a:r>
              <a:rPr lang="en-US" sz="2400" dirty="0" err="1"/>
              <a:t>tačno</a:t>
            </a:r>
            <a:r>
              <a:rPr lang="en-US" sz="2400" dirty="0"/>
              <a:t> </a:t>
            </a:r>
            <a:r>
              <a:rPr lang="en-US" sz="2400" dirty="0" err="1"/>
              <a:t>dva</a:t>
            </a:r>
            <a:r>
              <a:rPr lang="en-US" sz="2400" dirty="0"/>
              <a:t> </a:t>
            </a:r>
            <a:r>
              <a:rPr lang="en-US" sz="2400" dirty="0" err="1"/>
              <a:t>puta</a:t>
            </a:r>
            <a:r>
              <a:rPr lang="en-US" sz="2400" dirty="0"/>
              <a:t>. </a:t>
            </a:r>
            <a:endParaRPr lang="sr-Latn-RS" sz="2400" dirty="0" smtClean="0"/>
          </a:p>
          <a:p>
            <a:pPr lvl="2"/>
            <a:r>
              <a:rPr lang="sr-Latn-RS" sz="2000" dirty="0" smtClean="0"/>
              <a:t>P</a:t>
            </a:r>
            <a:r>
              <a:rPr lang="en-US" sz="2000" dirty="0" err="1" smtClean="0"/>
              <a:t>otencijalno</a:t>
            </a:r>
            <a:r>
              <a:rPr lang="en-US" sz="2000" dirty="0" smtClean="0"/>
              <a:t> </a:t>
            </a:r>
            <a:r>
              <a:rPr lang="en-US" sz="2000" dirty="0" err="1" smtClean="0"/>
              <a:t>možemo</a:t>
            </a:r>
            <a:r>
              <a:rPr lang="en-US" sz="2000" dirty="0" smtClean="0"/>
              <a:t> </a:t>
            </a:r>
            <a:r>
              <a:rPr lang="en-US" sz="2000" dirty="0" err="1" smtClean="0"/>
              <a:t>smanjiti</a:t>
            </a:r>
            <a:r>
              <a:rPr lang="en-US" sz="2000" dirty="0" smtClean="0"/>
              <a:t> </a:t>
            </a:r>
            <a:r>
              <a:rPr lang="en-US" sz="2000" dirty="0" err="1" smtClean="0"/>
              <a:t>ukupan</a:t>
            </a:r>
            <a:r>
              <a:rPr lang="en-US" sz="2000" dirty="0" smtClean="0"/>
              <a:t> </a:t>
            </a:r>
            <a:r>
              <a:rPr lang="en-US" sz="2000" dirty="0" err="1"/>
              <a:t>broj</a:t>
            </a:r>
            <a:r>
              <a:rPr lang="en-US" sz="2000" dirty="0"/>
              <a:t> </a:t>
            </a:r>
            <a:r>
              <a:rPr lang="en-US" sz="2000" dirty="0" err="1"/>
              <a:t>pristupa</a:t>
            </a:r>
            <a:r>
              <a:rPr lang="en-US" sz="2000" dirty="0"/>
              <a:t> </a:t>
            </a:r>
            <a:r>
              <a:rPr lang="en-US" sz="2000" dirty="0" err="1" smtClean="0"/>
              <a:t>globalno</a:t>
            </a:r>
            <a:r>
              <a:rPr lang="sr-Latn-RS" sz="2000" dirty="0" smtClean="0"/>
              <a:t>j</a:t>
            </a:r>
            <a:r>
              <a:rPr lang="en-US" sz="2000" dirty="0" smtClean="0"/>
              <a:t> </a:t>
            </a:r>
            <a:r>
              <a:rPr lang="en-US" sz="2000" dirty="0" err="1" smtClean="0"/>
              <a:t>memoriji</a:t>
            </a:r>
            <a:r>
              <a:rPr lang="en-US" sz="2000" dirty="0" smtClean="0"/>
              <a:t> </a:t>
            </a:r>
            <a:endParaRPr lang="sr-Latn-RS" sz="2000" dirty="0" smtClean="0"/>
          </a:p>
          <a:p>
            <a:pPr lvl="1"/>
            <a:r>
              <a:rPr lang="en-US" sz="2400" dirty="0" err="1"/>
              <a:t>Redukcija</a:t>
            </a:r>
            <a:r>
              <a:rPr lang="en-US" sz="2400" dirty="0"/>
              <a:t> je </a:t>
            </a:r>
            <a:r>
              <a:rPr lang="en-US" sz="2400" dirty="0" err="1"/>
              <a:t>proporcionalna</a:t>
            </a:r>
            <a:r>
              <a:rPr lang="en-US" sz="2400" dirty="0"/>
              <a:t> </a:t>
            </a:r>
            <a:r>
              <a:rPr lang="en-US" sz="2400" dirty="0" err="1"/>
              <a:t>broju</a:t>
            </a:r>
            <a:r>
              <a:rPr lang="en-US" sz="2400" dirty="0"/>
              <a:t> </a:t>
            </a:r>
            <a:r>
              <a:rPr lang="en-US" sz="2400" dirty="0" err="1"/>
              <a:t>blokova</a:t>
            </a:r>
            <a:r>
              <a:rPr lang="en-US" sz="2400" dirty="0"/>
              <a:t>: </a:t>
            </a:r>
            <a:r>
              <a:rPr lang="en-US" sz="2400" dirty="0" err="1"/>
              <a:t>sa</a:t>
            </a:r>
            <a:r>
              <a:rPr lang="en-US" sz="2400" dirty="0"/>
              <a:t> </a:t>
            </a:r>
            <a:r>
              <a:rPr lang="en-US" sz="2400" dirty="0" err="1"/>
              <a:t>NxN</a:t>
            </a:r>
            <a:r>
              <a:rPr lang="en-US" sz="2400" dirty="0"/>
              <a:t> </a:t>
            </a:r>
            <a:r>
              <a:rPr lang="en-US" sz="2400" dirty="0" err="1"/>
              <a:t>blokova</a:t>
            </a:r>
            <a:r>
              <a:rPr lang="en-US" sz="2400" dirty="0"/>
              <a:t>, </a:t>
            </a:r>
            <a:r>
              <a:rPr lang="en-US" sz="2400" dirty="0" err="1"/>
              <a:t>potencijalna</a:t>
            </a:r>
            <a:r>
              <a:rPr lang="en-US" sz="2400" dirty="0"/>
              <a:t> </a:t>
            </a:r>
            <a:r>
              <a:rPr lang="en-US" sz="2400" dirty="0" err="1"/>
              <a:t>redukcija</a:t>
            </a:r>
            <a:r>
              <a:rPr lang="en-US" sz="2400" dirty="0"/>
              <a:t> je </a:t>
            </a:r>
            <a:r>
              <a:rPr lang="en-US" sz="2400" dirty="0" smtClean="0"/>
              <a:t>N</a:t>
            </a:r>
            <a:r>
              <a:rPr lang="sr-Latn-RS" sz="2400" dirty="0" smtClean="0"/>
              <a:t> puta</a:t>
            </a:r>
            <a:r>
              <a:rPr lang="en-US" sz="2400" dirty="0" smtClean="0"/>
              <a:t>. </a:t>
            </a:r>
            <a:endParaRPr lang="sr-Latn-RS" sz="2400" dirty="0"/>
          </a:p>
          <a:p>
            <a:endParaRPr lang="sr-Latn-R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38</a:t>
            </a:fld>
            <a:endParaRPr lang="en-US" dirty="0"/>
          </a:p>
        </p:txBody>
      </p:sp>
    </p:spTree>
    <p:extLst>
      <p:ext uri="{BB962C8B-B14F-4D97-AF65-F5344CB8AC3E}">
        <p14:creationId xmlns:p14="http://schemas.microsoft.com/office/powerpoint/2010/main" val="56052050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Množenje matrica - deljiva memorija (3)</a:t>
            </a:r>
            <a:endParaRPr lang="en-US" dirty="0"/>
          </a:p>
        </p:txBody>
      </p:sp>
      <p:sp>
        <p:nvSpPr>
          <p:cNvPr id="3" name="Content Placeholder 2"/>
          <p:cNvSpPr>
            <a:spLocks noGrp="1"/>
          </p:cNvSpPr>
          <p:nvPr>
            <p:ph idx="1"/>
          </p:nvPr>
        </p:nvSpPr>
        <p:spPr/>
        <p:txBody>
          <a:bodyPr>
            <a:normAutofit/>
          </a:bodyPr>
          <a:lstStyle/>
          <a:p>
            <a:pPr marL="274320" lvl="1" indent="0">
              <a:buNone/>
            </a:pPr>
            <a:r>
              <a:rPr lang="sr-Latn-RS" b="1" dirty="0" smtClean="0">
                <a:solidFill>
                  <a:srgbClr val="C00000"/>
                </a:solidFill>
              </a:rPr>
              <a:t>PRISTUP GLOBALNOJ MEMORIJI – NITI IZ BLOKA (0,0)</a:t>
            </a:r>
          </a:p>
          <a:p>
            <a:endParaRPr lang="sr-Latn-RS" dirty="0"/>
          </a:p>
          <a:p>
            <a:endParaRPr lang="sr-Latn-R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057400"/>
            <a:ext cx="6315075"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036081D1-8380-407A-ABF3-D12854566F9D}" type="slidenum">
              <a:rPr lang="en-US" smtClean="0"/>
              <a:pPr/>
              <a:t>39</a:t>
            </a:fld>
            <a:endParaRPr lang="en-US" dirty="0"/>
          </a:p>
        </p:txBody>
      </p:sp>
    </p:spTree>
    <p:extLst>
      <p:ext uri="{BB962C8B-B14F-4D97-AF65-F5344CB8AC3E}">
        <p14:creationId xmlns:p14="http://schemas.microsoft.com/office/powerpoint/2010/main" val="35154175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smtClean="0"/>
              <a:t>Množenje matrica - deljiva memorija (4)</a:t>
            </a:r>
            <a:endParaRPr lang="en-US" dirty="0"/>
          </a:p>
        </p:txBody>
      </p:sp>
      <p:sp>
        <p:nvSpPr>
          <p:cNvPr id="3" name="Content Placeholder 2"/>
          <p:cNvSpPr>
            <a:spLocks noGrp="1"/>
          </p:cNvSpPr>
          <p:nvPr>
            <p:ph idx="1"/>
          </p:nvPr>
        </p:nvSpPr>
        <p:spPr/>
        <p:txBody>
          <a:bodyPr>
            <a:normAutofit fontScale="92500" lnSpcReduction="10000"/>
          </a:bodyPr>
          <a:lstStyle/>
          <a:p>
            <a:r>
              <a:rPr lang="sr-Latn-RS" sz="2800" b="1" dirty="0" smtClean="0">
                <a:solidFill>
                  <a:srgbClr val="C00000"/>
                </a:solidFill>
              </a:rPr>
              <a:t>K</a:t>
            </a:r>
            <a:r>
              <a:rPr lang="en-US" sz="2800" b="1" dirty="0" err="1" smtClean="0">
                <a:solidFill>
                  <a:srgbClr val="C00000"/>
                </a:solidFill>
              </a:rPr>
              <a:t>ako</a:t>
            </a:r>
            <a:r>
              <a:rPr lang="en-US" sz="2800" b="1" dirty="0" smtClean="0">
                <a:solidFill>
                  <a:srgbClr val="C00000"/>
                </a:solidFill>
              </a:rPr>
              <a:t> </a:t>
            </a:r>
            <a:r>
              <a:rPr lang="en-US" sz="2800" b="1" dirty="0" err="1">
                <a:solidFill>
                  <a:srgbClr val="C00000"/>
                </a:solidFill>
              </a:rPr>
              <a:t>niti</a:t>
            </a:r>
            <a:r>
              <a:rPr lang="en-US" sz="2800" b="1" dirty="0">
                <a:solidFill>
                  <a:srgbClr val="C00000"/>
                </a:solidFill>
              </a:rPr>
              <a:t> </a:t>
            </a:r>
            <a:r>
              <a:rPr lang="en-US" sz="2800" b="1" dirty="0" err="1">
                <a:solidFill>
                  <a:srgbClr val="C00000"/>
                </a:solidFill>
              </a:rPr>
              <a:t>mogu</a:t>
            </a:r>
            <a:r>
              <a:rPr lang="en-US" sz="2800" b="1" dirty="0">
                <a:solidFill>
                  <a:srgbClr val="C00000"/>
                </a:solidFill>
              </a:rPr>
              <a:t> </a:t>
            </a:r>
            <a:r>
              <a:rPr lang="en-US" sz="2800" b="1" dirty="0" err="1">
                <a:solidFill>
                  <a:srgbClr val="C00000"/>
                </a:solidFill>
              </a:rPr>
              <a:t>biti</a:t>
            </a:r>
            <a:r>
              <a:rPr lang="en-US" sz="2800" b="1" dirty="0">
                <a:solidFill>
                  <a:srgbClr val="C00000"/>
                </a:solidFill>
              </a:rPr>
              <a:t> </a:t>
            </a:r>
            <a:r>
              <a:rPr lang="en-US" sz="2800" b="1" dirty="0" err="1">
                <a:solidFill>
                  <a:srgbClr val="C00000"/>
                </a:solidFill>
              </a:rPr>
              <a:t>organizovane</a:t>
            </a:r>
            <a:r>
              <a:rPr lang="en-US" sz="2800" b="1" dirty="0">
                <a:solidFill>
                  <a:srgbClr val="C00000"/>
                </a:solidFill>
              </a:rPr>
              <a:t> </a:t>
            </a:r>
            <a:r>
              <a:rPr lang="en-US" sz="2800" b="1" dirty="0" err="1">
                <a:solidFill>
                  <a:srgbClr val="C00000"/>
                </a:solidFill>
              </a:rPr>
              <a:t>tako</a:t>
            </a:r>
            <a:r>
              <a:rPr lang="en-US" sz="2800" b="1" dirty="0">
                <a:solidFill>
                  <a:srgbClr val="C00000"/>
                </a:solidFill>
              </a:rPr>
              <a:t> da se </a:t>
            </a:r>
            <a:r>
              <a:rPr lang="en-US" sz="2800" b="1" dirty="0" err="1">
                <a:solidFill>
                  <a:srgbClr val="C00000"/>
                </a:solidFill>
              </a:rPr>
              <a:t>redukuje</a:t>
            </a:r>
            <a:r>
              <a:rPr lang="en-US" sz="2800" b="1" dirty="0">
                <a:solidFill>
                  <a:srgbClr val="C00000"/>
                </a:solidFill>
              </a:rPr>
              <a:t> </a:t>
            </a:r>
            <a:r>
              <a:rPr lang="en-US" sz="2800" b="1" dirty="0" err="1">
                <a:solidFill>
                  <a:srgbClr val="C00000"/>
                </a:solidFill>
              </a:rPr>
              <a:t>pristup</a:t>
            </a:r>
            <a:r>
              <a:rPr lang="en-US" sz="2800" b="1" dirty="0">
                <a:solidFill>
                  <a:srgbClr val="C00000"/>
                </a:solidFill>
              </a:rPr>
              <a:t> </a:t>
            </a:r>
            <a:r>
              <a:rPr lang="en-US" sz="2800" b="1" dirty="0" err="1" smtClean="0">
                <a:solidFill>
                  <a:srgbClr val="C00000"/>
                </a:solidFill>
              </a:rPr>
              <a:t>memoriji</a:t>
            </a:r>
            <a:r>
              <a:rPr lang="sr-Latn-RS" sz="2800" b="1" dirty="0" smtClean="0">
                <a:solidFill>
                  <a:srgbClr val="C00000"/>
                </a:solidFill>
              </a:rPr>
              <a:t>?</a:t>
            </a:r>
          </a:p>
          <a:p>
            <a:r>
              <a:rPr lang="sr-Latn-RS" dirty="0" smtClean="0"/>
              <a:t>S</a:t>
            </a:r>
            <a:r>
              <a:rPr lang="en-US" dirty="0" err="1" smtClean="0"/>
              <a:t>ve</a:t>
            </a:r>
            <a:r>
              <a:rPr lang="en-US" dirty="0" smtClean="0"/>
              <a:t> </a:t>
            </a:r>
            <a:r>
              <a:rPr lang="en-US" dirty="0" err="1"/>
              <a:t>niti</a:t>
            </a:r>
            <a:r>
              <a:rPr lang="en-US" dirty="0"/>
              <a:t> </a:t>
            </a:r>
            <a:r>
              <a:rPr lang="en-US" dirty="0" err="1"/>
              <a:t>kolaborativno</a:t>
            </a:r>
            <a:r>
              <a:rPr lang="en-US" dirty="0"/>
              <a:t> </a:t>
            </a:r>
            <a:r>
              <a:rPr lang="en-US" dirty="0" err="1"/>
              <a:t>učitavaju</a:t>
            </a:r>
            <a:r>
              <a:rPr lang="en-US" dirty="0"/>
              <a:t> </a:t>
            </a:r>
            <a:r>
              <a:rPr lang="en-US" dirty="0" err="1"/>
              <a:t>elemente</a:t>
            </a:r>
            <a:r>
              <a:rPr lang="en-US" dirty="0"/>
              <a:t> </a:t>
            </a:r>
            <a:r>
              <a:rPr lang="en-US" dirty="0" err="1"/>
              <a:t>Md</a:t>
            </a:r>
            <a:r>
              <a:rPr lang="en-US" dirty="0"/>
              <a:t> i </a:t>
            </a:r>
            <a:r>
              <a:rPr lang="en-US" dirty="0" err="1"/>
              <a:t>Nd</a:t>
            </a:r>
            <a:r>
              <a:rPr lang="en-US" dirty="0"/>
              <a:t> </a:t>
            </a:r>
            <a:r>
              <a:rPr lang="en-US" dirty="0" err="1"/>
              <a:t>matrice</a:t>
            </a:r>
            <a:r>
              <a:rPr lang="en-US" dirty="0"/>
              <a:t> u </a:t>
            </a:r>
            <a:r>
              <a:rPr lang="en-US" dirty="0" err="1"/>
              <a:t>deljivu</a:t>
            </a:r>
            <a:r>
              <a:rPr lang="en-US" dirty="0"/>
              <a:t> </a:t>
            </a:r>
            <a:r>
              <a:rPr lang="en-US" dirty="0" err="1"/>
              <a:t>memoriju</a:t>
            </a:r>
            <a:r>
              <a:rPr lang="en-US" dirty="0"/>
              <a:t> pre </a:t>
            </a:r>
            <a:r>
              <a:rPr lang="en-US" dirty="0" err="1"/>
              <a:t>nego</a:t>
            </a:r>
            <a:r>
              <a:rPr lang="en-US" dirty="0"/>
              <a:t> </a:t>
            </a:r>
            <a:r>
              <a:rPr lang="en-US" dirty="0" err="1"/>
              <a:t>što</a:t>
            </a:r>
            <a:r>
              <a:rPr lang="en-US" dirty="0"/>
              <a:t> </a:t>
            </a:r>
            <a:r>
              <a:rPr lang="en-US" dirty="0" err="1"/>
              <a:t>ih</a:t>
            </a:r>
            <a:r>
              <a:rPr lang="en-US" dirty="0"/>
              <a:t> </a:t>
            </a:r>
            <a:r>
              <a:rPr lang="en-US" dirty="0" err="1" smtClean="0"/>
              <a:t>koriste</a:t>
            </a:r>
            <a:r>
              <a:rPr lang="en-US" dirty="0" smtClean="0"/>
              <a:t> </a:t>
            </a:r>
            <a:r>
              <a:rPr lang="sr-Latn-RS" dirty="0"/>
              <a:t>u svojim </a:t>
            </a:r>
            <a:r>
              <a:rPr lang="sr-Latn-RS" dirty="0" smtClean="0"/>
              <a:t>izračunavanjima</a:t>
            </a:r>
            <a:r>
              <a:rPr lang="en-US" dirty="0" smtClean="0"/>
              <a:t> (</a:t>
            </a:r>
            <a:r>
              <a:rPr lang="sr-Latn-RS" dirty="0" smtClean="0"/>
              <a:t>računanje skalarnog proizvoda</a:t>
            </a:r>
            <a:r>
              <a:rPr lang="en-US" dirty="0" smtClean="0"/>
              <a:t>).</a:t>
            </a:r>
            <a:endParaRPr lang="sr-Latn-RS" dirty="0" smtClean="0"/>
          </a:p>
          <a:p>
            <a:pPr lvl="1"/>
            <a:r>
              <a:rPr lang="sr-Latn-RS" dirty="0" smtClean="0"/>
              <a:t>Potencijalni problem: </a:t>
            </a:r>
            <a:r>
              <a:rPr lang="en-US" dirty="0" err="1" smtClean="0"/>
              <a:t>veličina</a:t>
            </a:r>
            <a:r>
              <a:rPr lang="en-US" dirty="0" smtClean="0"/>
              <a:t> </a:t>
            </a:r>
            <a:r>
              <a:rPr lang="en-US" dirty="0" err="1"/>
              <a:t>deljive</a:t>
            </a:r>
            <a:r>
              <a:rPr lang="en-US" dirty="0"/>
              <a:t> </a:t>
            </a:r>
            <a:r>
              <a:rPr lang="en-US" dirty="0" err="1" smtClean="0"/>
              <a:t>memorije</a:t>
            </a:r>
            <a:endParaRPr lang="sr-Latn-RS" dirty="0"/>
          </a:p>
          <a:p>
            <a:pPr lvl="2"/>
            <a:r>
              <a:rPr lang="sr-Latn-RS" dirty="0" smtClean="0"/>
              <a:t>Rešenje: </a:t>
            </a:r>
            <a:r>
              <a:rPr lang="en-US" dirty="0" smtClean="0"/>
              <a:t> </a:t>
            </a:r>
            <a:r>
              <a:rPr lang="en-US" dirty="0" err="1" smtClean="0"/>
              <a:t>Md</a:t>
            </a:r>
            <a:r>
              <a:rPr lang="en-US" dirty="0" smtClean="0"/>
              <a:t> </a:t>
            </a:r>
            <a:r>
              <a:rPr lang="en-US" dirty="0"/>
              <a:t>i </a:t>
            </a:r>
            <a:r>
              <a:rPr lang="en-US" dirty="0" err="1"/>
              <a:t>Nd</a:t>
            </a:r>
            <a:r>
              <a:rPr lang="en-US" dirty="0"/>
              <a:t> </a:t>
            </a:r>
            <a:r>
              <a:rPr lang="en-US" dirty="0" err="1"/>
              <a:t>matrice</a:t>
            </a:r>
            <a:r>
              <a:rPr lang="en-US" dirty="0"/>
              <a:t> </a:t>
            </a:r>
            <a:r>
              <a:rPr lang="sr-Latn-RS" dirty="0" smtClean="0"/>
              <a:t>se </a:t>
            </a:r>
            <a:r>
              <a:rPr lang="en-US" dirty="0" smtClean="0"/>
              <a:t>dele </a:t>
            </a:r>
            <a:r>
              <a:rPr lang="en-US" dirty="0"/>
              <a:t>u </a:t>
            </a:r>
            <a:r>
              <a:rPr lang="en-US" dirty="0" err="1"/>
              <a:t>tajlove</a:t>
            </a:r>
            <a:r>
              <a:rPr lang="en-US" dirty="0"/>
              <a:t>. </a:t>
            </a:r>
            <a:r>
              <a:rPr lang="en-US" dirty="0" err="1"/>
              <a:t>Veličina</a:t>
            </a:r>
            <a:r>
              <a:rPr lang="en-US" dirty="0"/>
              <a:t> </a:t>
            </a:r>
            <a:r>
              <a:rPr lang="en-US" dirty="0" err="1"/>
              <a:t>tajlova</a:t>
            </a:r>
            <a:r>
              <a:rPr lang="en-US" dirty="0"/>
              <a:t> </a:t>
            </a:r>
            <a:r>
              <a:rPr lang="en-US" dirty="0" err="1"/>
              <a:t>određuje</a:t>
            </a:r>
            <a:r>
              <a:rPr lang="en-US" dirty="0"/>
              <a:t> se </a:t>
            </a:r>
            <a:r>
              <a:rPr lang="en-US" dirty="0" err="1"/>
              <a:t>količinom</a:t>
            </a:r>
            <a:r>
              <a:rPr lang="en-US" dirty="0"/>
              <a:t> </a:t>
            </a:r>
            <a:r>
              <a:rPr lang="en-US" dirty="0" err="1"/>
              <a:t>dostupne</a:t>
            </a:r>
            <a:r>
              <a:rPr lang="en-US" dirty="0"/>
              <a:t> </a:t>
            </a:r>
            <a:r>
              <a:rPr lang="en-US" dirty="0" err="1"/>
              <a:t>deljive</a:t>
            </a:r>
            <a:r>
              <a:rPr lang="en-US" dirty="0"/>
              <a:t> </a:t>
            </a:r>
            <a:r>
              <a:rPr lang="en-US" dirty="0" err="1"/>
              <a:t>memorije</a:t>
            </a:r>
            <a:r>
              <a:rPr lang="en-US" dirty="0"/>
              <a:t>. </a:t>
            </a:r>
            <a:endParaRPr lang="sr-Latn-RS" dirty="0" smtClean="0"/>
          </a:p>
          <a:p>
            <a:r>
              <a:rPr lang="en-US" dirty="0" err="1" smtClean="0"/>
              <a:t>Sv</a:t>
            </a:r>
            <a:r>
              <a:rPr lang="sr-Latn-RS" dirty="0" smtClean="0"/>
              <a:t>aki skalarni proizvod se deli u faze</a:t>
            </a:r>
          </a:p>
          <a:p>
            <a:pPr lvl="1"/>
            <a:r>
              <a:rPr lang="en-US" dirty="0" smtClean="0"/>
              <a:t>U </a:t>
            </a:r>
            <a:r>
              <a:rPr lang="en-US" dirty="0" err="1"/>
              <a:t>svakoj</a:t>
            </a:r>
            <a:r>
              <a:rPr lang="en-US" dirty="0"/>
              <a:t> </a:t>
            </a:r>
            <a:r>
              <a:rPr lang="en-US" dirty="0" err="1"/>
              <a:t>fazi</a:t>
            </a:r>
            <a:r>
              <a:rPr lang="en-US" dirty="0"/>
              <a:t>, </a:t>
            </a:r>
            <a:r>
              <a:rPr lang="en-US" dirty="0" err="1"/>
              <a:t>sve</a:t>
            </a:r>
            <a:r>
              <a:rPr lang="en-US" dirty="0"/>
              <a:t> </a:t>
            </a:r>
            <a:r>
              <a:rPr lang="en-US" dirty="0" err="1"/>
              <a:t>niti</a:t>
            </a:r>
            <a:r>
              <a:rPr lang="en-US" dirty="0"/>
              <a:t> u </a:t>
            </a:r>
            <a:r>
              <a:rPr lang="en-US" dirty="0" err="1"/>
              <a:t>bloku</a:t>
            </a:r>
            <a:r>
              <a:rPr lang="en-US" dirty="0"/>
              <a:t> </a:t>
            </a:r>
            <a:r>
              <a:rPr lang="en-US" dirty="0" err="1"/>
              <a:t>kolaborativno</a:t>
            </a:r>
            <a:r>
              <a:rPr lang="en-US" dirty="0"/>
              <a:t> </a:t>
            </a:r>
            <a:r>
              <a:rPr lang="en-US" dirty="0" err="1"/>
              <a:t>učitavaju</a:t>
            </a:r>
            <a:r>
              <a:rPr lang="en-US" dirty="0"/>
              <a:t> </a:t>
            </a:r>
            <a:r>
              <a:rPr lang="en-US" dirty="0" err="1"/>
              <a:t>jedan</a:t>
            </a:r>
            <a:r>
              <a:rPr lang="en-US" dirty="0"/>
              <a:t> </a:t>
            </a:r>
            <a:r>
              <a:rPr lang="en-US" dirty="0" err="1"/>
              <a:t>tajl</a:t>
            </a:r>
            <a:r>
              <a:rPr lang="en-US" dirty="0"/>
              <a:t> </a:t>
            </a:r>
            <a:r>
              <a:rPr lang="en-US" dirty="0" err="1"/>
              <a:t>matrice</a:t>
            </a:r>
            <a:r>
              <a:rPr lang="en-US" dirty="0"/>
              <a:t> </a:t>
            </a:r>
            <a:r>
              <a:rPr lang="en-US" dirty="0" err="1"/>
              <a:t>Md</a:t>
            </a:r>
            <a:r>
              <a:rPr lang="en-US" dirty="0"/>
              <a:t> i </a:t>
            </a:r>
            <a:r>
              <a:rPr lang="en-US" dirty="0" err="1"/>
              <a:t>jedan</a:t>
            </a:r>
            <a:r>
              <a:rPr lang="en-US" dirty="0"/>
              <a:t> </a:t>
            </a:r>
            <a:r>
              <a:rPr lang="en-US" dirty="0" err="1"/>
              <a:t>tajl</a:t>
            </a:r>
            <a:r>
              <a:rPr lang="en-US" dirty="0"/>
              <a:t> </a:t>
            </a:r>
            <a:r>
              <a:rPr lang="en-US" dirty="0" err="1"/>
              <a:t>matrice</a:t>
            </a:r>
            <a:r>
              <a:rPr lang="en-US" dirty="0"/>
              <a:t> </a:t>
            </a:r>
            <a:r>
              <a:rPr lang="en-US" dirty="0" err="1"/>
              <a:t>Nd</a:t>
            </a:r>
            <a:r>
              <a:rPr lang="en-US" dirty="0"/>
              <a:t> u </a:t>
            </a:r>
            <a:r>
              <a:rPr lang="en-US" dirty="0" err="1"/>
              <a:t>deljivu</a:t>
            </a:r>
            <a:r>
              <a:rPr lang="en-US" dirty="0"/>
              <a:t> </a:t>
            </a:r>
            <a:r>
              <a:rPr lang="en-US" dirty="0" err="1" smtClean="0"/>
              <a:t>memoriju</a:t>
            </a:r>
            <a:r>
              <a:rPr lang="sr-Latn-RS" dirty="0" smtClean="0"/>
              <a:t> </a:t>
            </a:r>
            <a:r>
              <a:rPr lang="sr-Latn-RS" b="1" dirty="0" smtClean="0">
                <a:solidFill>
                  <a:srgbClr val="C00000"/>
                </a:solidFill>
              </a:rPr>
              <a:t>(Mds, Nds)</a:t>
            </a:r>
            <a:r>
              <a:rPr lang="en-US" dirty="0" smtClean="0"/>
              <a:t>. </a:t>
            </a:r>
            <a:r>
              <a:rPr lang="en-US" dirty="0" err="1" smtClean="0"/>
              <a:t>Nakon</a:t>
            </a:r>
            <a:r>
              <a:rPr lang="en-US" dirty="0" smtClean="0"/>
              <a:t> </a:t>
            </a:r>
            <a:r>
              <a:rPr lang="en-US" dirty="0" err="1"/>
              <a:t>učitavanja</a:t>
            </a:r>
            <a:r>
              <a:rPr lang="en-US" dirty="0"/>
              <a:t>, </a:t>
            </a:r>
            <a:r>
              <a:rPr lang="en-US" dirty="0" err="1"/>
              <a:t>ove</a:t>
            </a:r>
            <a:r>
              <a:rPr lang="en-US" dirty="0"/>
              <a:t> se </a:t>
            </a:r>
            <a:r>
              <a:rPr lang="en-US" dirty="0" err="1"/>
              <a:t>vrednosti</a:t>
            </a:r>
            <a:r>
              <a:rPr lang="en-US" dirty="0"/>
              <a:t> </a:t>
            </a:r>
            <a:r>
              <a:rPr lang="en-US" dirty="0" err="1"/>
              <a:t>koriste</a:t>
            </a:r>
            <a:r>
              <a:rPr lang="en-US" dirty="0"/>
              <a:t> </a:t>
            </a:r>
            <a:r>
              <a:rPr lang="en-US" dirty="0" err="1"/>
              <a:t>za</a:t>
            </a:r>
            <a:r>
              <a:rPr lang="en-US" dirty="0"/>
              <a:t> </a:t>
            </a:r>
            <a:r>
              <a:rPr lang="sr-Latn-RS" dirty="0" smtClean="0"/>
              <a:t>skalarni </a:t>
            </a:r>
            <a:r>
              <a:rPr lang="en-US" dirty="0" err="1" smtClean="0"/>
              <a:t>proizvod</a:t>
            </a:r>
            <a:r>
              <a:rPr lang="en-US" dirty="0" smtClean="0"/>
              <a:t>.</a:t>
            </a:r>
            <a:endParaRPr lang="sr-Latn-RS" dirty="0" smtClean="0"/>
          </a:p>
          <a:p>
            <a:r>
              <a:rPr lang="en-US" dirty="0" err="1"/>
              <a:t>Ako</a:t>
            </a:r>
            <a:r>
              <a:rPr lang="en-US" dirty="0"/>
              <a:t> je </a:t>
            </a:r>
            <a:r>
              <a:rPr lang="en-US" dirty="0" err="1"/>
              <a:t>ulazna</a:t>
            </a:r>
            <a:r>
              <a:rPr lang="en-US" dirty="0"/>
              <a:t> </a:t>
            </a:r>
            <a:r>
              <a:rPr lang="en-US" dirty="0" err="1"/>
              <a:t>matrica</a:t>
            </a:r>
            <a:r>
              <a:rPr lang="en-US" dirty="0"/>
              <a:t> </a:t>
            </a:r>
            <a:r>
              <a:rPr lang="en-US" dirty="0" err="1"/>
              <a:t>dimenzije</a:t>
            </a:r>
            <a:r>
              <a:rPr lang="en-US" dirty="0"/>
              <a:t> N, i </a:t>
            </a:r>
            <a:r>
              <a:rPr lang="en-US" dirty="0" err="1"/>
              <a:t>veličina</a:t>
            </a:r>
            <a:r>
              <a:rPr lang="en-US" dirty="0"/>
              <a:t> </a:t>
            </a:r>
            <a:r>
              <a:rPr lang="en-US" dirty="0" err="1"/>
              <a:t>tajlova</a:t>
            </a:r>
            <a:r>
              <a:rPr lang="en-US" dirty="0"/>
              <a:t> je TILE_WIDTH, </a:t>
            </a:r>
            <a:r>
              <a:rPr lang="sr-Latn-RS" dirty="0" smtClean="0"/>
              <a:t>skalarni </a:t>
            </a:r>
            <a:r>
              <a:rPr lang="en-US" dirty="0" err="1" smtClean="0"/>
              <a:t>proizvod</a:t>
            </a:r>
            <a:r>
              <a:rPr lang="en-US" dirty="0" smtClean="0"/>
              <a:t> </a:t>
            </a:r>
            <a:r>
              <a:rPr lang="en-US" dirty="0"/>
              <a:t>se </a:t>
            </a:r>
            <a:r>
              <a:rPr lang="en-US" dirty="0" err="1"/>
              <a:t>obavlja</a:t>
            </a:r>
            <a:r>
              <a:rPr lang="en-US" dirty="0"/>
              <a:t> u N/TILE_WIDTH </a:t>
            </a:r>
            <a:r>
              <a:rPr lang="en-US" dirty="0" err="1"/>
              <a:t>faza</a:t>
            </a:r>
            <a:r>
              <a:rPr lang="en-US" dirty="0"/>
              <a:t>.  </a:t>
            </a:r>
            <a:endParaRPr lang="sr-Latn-RS" dirty="0"/>
          </a:p>
          <a:p>
            <a:pPr lvl="1"/>
            <a:endParaRPr lang="sr-Latn-RS" dirty="0"/>
          </a:p>
          <a:p>
            <a:endParaRPr lang="sr-Latn-RS" dirty="0"/>
          </a:p>
          <a:p>
            <a:endParaRPr lang="sr-Latn-RS" dirty="0"/>
          </a:p>
        </p:txBody>
      </p:sp>
      <p:sp>
        <p:nvSpPr>
          <p:cNvPr id="5" name="Slide Number Placeholder 4"/>
          <p:cNvSpPr>
            <a:spLocks noGrp="1"/>
          </p:cNvSpPr>
          <p:nvPr>
            <p:ph type="sldNum" sz="quarter" idx="12"/>
          </p:nvPr>
        </p:nvSpPr>
        <p:spPr/>
        <p:txBody>
          <a:bodyPr/>
          <a:lstStyle/>
          <a:p>
            <a:fld id="{036081D1-8380-407A-ABF3-D12854566F9D}" type="slidenum">
              <a:rPr lang="en-US" smtClean="0"/>
              <a:pPr/>
              <a:t>40</a:t>
            </a:fld>
            <a:endParaRPr lang="en-US" dirty="0"/>
          </a:p>
        </p:txBody>
      </p:sp>
    </p:spTree>
    <p:extLst>
      <p:ext uri="{BB962C8B-B14F-4D97-AF65-F5344CB8AC3E}">
        <p14:creationId xmlns:p14="http://schemas.microsoft.com/office/powerpoint/2010/main" val="426820253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a:t>
            </a:r>
            <a:r>
              <a:rPr lang="sr-Latn-RS" dirty="0" smtClean="0"/>
              <a:t>memorija (</a:t>
            </a:r>
            <a:r>
              <a:rPr lang="sr-Latn-RS" dirty="0"/>
              <a:t>5</a:t>
            </a:r>
            <a:r>
              <a:rPr lang="sr-Latn-RS" dirty="0" smtClean="0"/>
              <a:t>)</a:t>
            </a:r>
            <a:endParaRPr lang="en-US" dirty="0">
              <a:solidFill>
                <a:srgbClr val="FF0000"/>
              </a:solidFill>
            </a:endParaRPr>
          </a:p>
        </p:txBody>
      </p:sp>
      <p:grpSp>
        <p:nvGrpSpPr>
          <p:cNvPr id="496" name="Group 495"/>
          <p:cNvGrpSpPr/>
          <p:nvPr/>
        </p:nvGrpSpPr>
        <p:grpSpPr>
          <a:xfrm>
            <a:off x="419100" y="2057400"/>
            <a:ext cx="3429000" cy="1828800"/>
            <a:chOff x="304800" y="1524000"/>
            <a:chExt cx="3429000" cy="1828800"/>
          </a:xfrm>
        </p:grpSpPr>
        <p:grpSp>
          <p:nvGrpSpPr>
            <p:cNvPr id="116" name="Group 115"/>
            <p:cNvGrpSpPr/>
            <p:nvPr/>
          </p:nvGrpSpPr>
          <p:grpSpPr>
            <a:xfrm>
              <a:off x="762000" y="1981200"/>
              <a:ext cx="1371600" cy="1371600"/>
              <a:chOff x="762000" y="2133600"/>
              <a:chExt cx="1371600" cy="1371600"/>
            </a:xfrm>
          </p:grpSpPr>
          <p:grpSp>
            <p:nvGrpSpPr>
              <p:cNvPr id="68" name="Group 67"/>
              <p:cNvGrpSpPr/>
              <p:nvPr/>
            </p:nvGrpSpPr>
            <p:grpSpPr>
              <a:xfrm>
                <a:off x="762000" y="2133600"/>
                <a:ext cx="1371600" cy="1371600"/>
                <a:chOff x="2362200" y="2743200"/>
                <a:chExt cx="1828800" cy="1828800"/>
              </a:xfrm>
              <a:solidFill>
                <a:schemeClr val="accent5">
                  <a:lumMod val="20000"/>
                  <a:lumOff val="80000"/>
                </a:schemeClr>
              </a:solidFill>
            </p:grpSpPr>
            <p:grpSp>
              <p:nvGrpSpPr>
                <p:cNvPr id="69" name="Group 22"/>
                <p:cNvGrpSpPr/>
                <p:nvPr/>
              </p:nvGrpSpPr>
              <p:grpSpPr>
                <a:xfrm>
                  <a:off x="2362200" y="2743200"/>
                  <a:ext cx="1828800" cy="457200"/>
                  <a:chOff x="762000" y="4191000"/>
                  <a:chExt cx="1828800" cy="457200"/>
                </a:xfrm>
                <a:grpFill/>
              </p:grpSpPr>
              <p:sp>
                <p:nvSpPr>
                  <p:cNvPr id="85" name="Rectangle 4"/>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86" name="Rectangle 8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87" name="Rectangle 8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88" name="Rectangle 87"/>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70" name="Group 23"/>
                <p:cNvGrpSpPr/>
                <p:nvPr/>
              </p:nvGrpSpPr>
              <p:grpSpPr>
                <a:xfrm>
                  <a:off x="2362200" y="4114800"/>
                  <a:ext cx="1828800" cy="457200"/>
                  <a:chOff x="762000" y="4191000"/>
                  <a:chExt cx="1828800" cy="457200"/>
                </a:xfrm>
                <a:grpFill/>
              </p:grpSpPr>
              <p:sp>
                <p:nvSpPr>
                  <p:cNvPr id="81" name="Rectangle 80"/>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82" name="Rectangle 8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83" name="Rectangle 8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84" name="Rectangle 83"/>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71" name="Group 28"/>
                <p:cNvGrpSpPr/>
                <p:nvPr/>
              </p:nvGrpSpPr>
              <p:grpSpPr>
                <a:xfrm>
                  <a:off x="2362200" y="3200400"/>
                  <a:ext cx="1828800" cy="457200"/>
                  <a:chOff x="762000" y="4191000"/>
                  <a:chExt cx="1828800" cy="457200"/>
                </a:xfrm>
                <a:grpFill/>
              </p:grpSpPr>
              <p:sp>
                <p:nvSpPr>
                  <p:cNvPr id="77" name="Rectangle 76"/>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78" name="Rectangle 77"/>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79" name="Rectangle 78"/>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80" name="Rectangle 79"/>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72" name="Group 33"/>
                <p:cNvGrpSpPr/>
                <p:nvPr/>
              </p:nvGrpSpPr>
              <p:grpSpPr>
                <a:xfrm>
                  <a:off x="2362200" y="3657600"/>
                  <a:ext cx="1828800" cy="457200"/>
                  <a:chOff x="762000" y="4191000"/>
                  <a:chExt cx="1828800" cy="457200"/>
                </a:xfrm>
                <a:grpFill/>
              </p:grpSpPr>
              <p:sp>
                <p:nvSpPr>
                  <p:cNvPr id="73" name="Rectangle 72"/>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74" name="Rectangle 7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75" name="Rectangle 7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76" name="Rectangle 75"/>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95" name="Rectangle 94"/>
              <p:cNvSpPr/>
              <p:nvPr/>
            </p:nvSpPr>
            <p:spPr>
              <a:xfrm>
                <a:off x="762000" y="2438400"/>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114" name="Group 113"/>
            <p:cNvGrpSpPr/>
            <p:nvPr/>
          </p:nvGrpSpPr>
          <p:grpSpPr>
            <a:xfrm>
              <a:off x="2362200" y="1676400"/>
              <a:ext cx="1371600" cy="1676400"/>
              <a:chOff x="2362200" y="1828800"/>
              <a:chExt cx="1371600" cy="1676400"/>
            </a:xfrm>
          </p:grpSpPr>
          <p:grpSp>
            <p:nvGrpSpPr>
              <p:cNvPr id="26"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27" name="Group 22"/>
                <p:cNvGrpSpPr/>
                <p:nvPr/>
              </p:nvGrpSpPr>
              <p:grpSpPr>
                <a:xfrm>
                  <a:off x="2362200" y="2743200"/>
                  <a:ext cx="1828800" cy="457200"/>
                  <a:chOff x="762000" y="4191000"/>
                  <a:chExt cx="1828800" cy="457200"/>
                </a:xfrm>
                <a:grpFill/>
              </p:grpSpPr>
              <p:sp>
                <p:nvSpPr>
                  <p:cNvPr id="43" name="Rectangle 4"/>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44" name="Rectangle 4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45" name="Rectangle 4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46" name="Rectangle 45"/>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28" name="Group 23"/>
                <p:cNvGrpSpPr/>
                <p:nvPr/>
              </p:nvGrpSpPr>
              <p:grpSpPr>
                <a:xfrm>
                  <a:off x="2362200" y="4114800"/>
                  <a:ext cx="1828800" cy="457200"/>
                  <a:chOff x="762000" y="4191000"/>
                  <a:chExt cx="1828800" cy="457200"/>
                </a:xfrm>
                <a:grpFill/>
              </p:grpSpPr>
              <p:sp>
                <p:nvSpPr>
                  <p:cNvPr id="39" name="Rectangle 38"/>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40" name="Rectangle 39"/>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41" name="Rectangle 40"/>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42" name="Rectangle 41"/>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29" name="Group 28"/>
                <p:cNvGrpSpPr/>
                <p:nvPr/>
              </p:nvGrpSpPr>
              <p:grpSpPr>
                <a:xfrm>
                  <a:off x="2362200" y="3200400"/>
                  <a:ext cx="1828800" cy="457200"/>
                  <a:chOff x="762000" y="4191000"/>
                  <a:chExt cx="1828800" cy="457200"/>
                </a:xfrm>
                <a:grpFill/>
              </p:grpSpPr>
              <p:sp>
                <p:nvSpPr>
                  <p:cNvPr id="35" name="Rectangle 34"/>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36" name="Rectangle 3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37" name="Rectangle 3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38" name="Rectangle 37"/>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30" name="Group 33"/>
                <p:cNvGrpSpPr/>
                <p:nvPr/>
              </p:nvGrpSpPr>
              <p:grpSpPr>
                <a:xfrm>
                  <a:off x="2362200" y="3657600"/>
                  <a:ext cx="1828800" cy="457200"/>
                  <a:chOff x="762000" y="4191000"/>
                  <a:chExt cx="1828800" cy="457200"/>
                </a:xfrm>
                <a:grpFill/>
              </p:grpSpPr>
              <p:sp>
                <p:nvSpPr>
                  <p:cNvPr id="31" name="Rectangle 30"/>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32" name="Rectangle 3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33" name="Rectangle 3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34" name="Rectangle 33"/>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111" name="Rectangle 110"/>
              <p:cNvSpPr/>
              <p:nvPr/>
            </p:nvSpPr>
            <p:spPr>
              <a:xfrm>
                <a:off x="2667000" y="2133600"/>
                <a:ext cx="45719"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12" name="TextBox 111"/>
              <p:cNvSpPr txBox="1"/>
              <p:nvPr/>
            </p:nvSpPr>
            <p:spPr>
              <a:xfrm>
                <a:off x="2438400" y="1828800"/>
                <a:ext cx="304800" cy="215444"/>
              </a:xfrm>
              <a:prstGeom prst="rect">
                <a:avLst/>
              </a:prstGeom>
              <a:noFill/>
            </p:spPr>
            <p:txBody>
              <a:bodyPr wrap="square" rtlCol="0">
                <a:spAutoFit/>
              </a:bodyPr>
              <a:lstStyle/>
              <a:p>
                <a:endParaRPr lang="en-US" sz="800" b="1" dirty="0">
                  <a:solidFill>
                    <a:schemeClr val="accent1"/>
                  </a:solidFill>
                </a:endParaRPr>
              </a:p>
            </p:txBody>
          </p:sp>
        </p:grpSp>
        <p:sp>
          <p:nvSpPr>
            <p:cNvPr id="346" name="TextBox 345"/>
            <p:cNvSpPr txBox="1"/>
            <p:nvPr/>
          </p:nvSpPr>
          <p:spPr>
            <a:xfrm>
              <a:off x="304800" y="1524000"/>
              <a:ext cx="473206" cy="338554"/>
            </a:xfrm>
            <a:prstGeom prst="rect">
              <a:avLst/>
            </a:prstGeom>
            <a:noFill/>
          </p:spPr>
          <p:txBody>
            <a:bodyPr wrap="none" rtlCol="0">
              <a:spAutoFit/>
            </a:bodyPr>
            <a:lstStyle/>
            <a:p>
              <a:r>
                <a:rPr lang="en-US" sz="1600" b="1" dirty="0" smtClean="0"/>
                <a:t>B</a:t>
              </a:r>
              <a:r>
                <a:rPr lang="sr-Latn-RS" sz="1600" b="1" baseline="-25000" dirty="0" smtClean="0"/>
                <a:t>0,</a:t>
              </a:r>
              <a:r>
                <a:rPr lang="en-US" sz="1600" b="1" baseline="-25000" dirty="0" smtClean="0"/>
                <a:t>0</a:t>
              </a:r>
              <a:endParaRPr lang="en-US" sz="1600" b="1" dirty="0"/>
            </a:p>
          </p:txBody>
        </p:sp>
      </p:grpSp>
      <p:grpSp>
        <p:nvGrpSpPr>
          <p:cNvPr id="349" name="Group 348"/>
          <p:cNvGrpSpPr/>
          <p:nvPr/>
        </p:nvGrpSpPr>
        <p:grpSpPr>
          <a:xfrm>
            <a:off x="346361" y="4123730"/>
            <a:ext cx="3460178" cy="1828800"/>
            <a:chOff x="273622" y="3810000"/>
            <a:chExt cx="3460178" cy="1828800"/>
          </a:xfrm>
        </p:grpSpPr>
        <p:grpSp>
          <p:nvGrpSpPr>
            <p:cNvPr id="175" name="Group 174"/>
            <p:cNvGrpSpPr/>
            <p:nvPr/>
          </p:nvGrpSpPr>
          <p:grpSpPr>
            <a:xfrm>
              <a:off x="457200" y="3962400"/>
              <a:ext cx="3276600" cy="1676400"/>
              <a:chOff x="457200" y="1828800"/>
              <a:chExt cx="3276600" cy="1676400"/>
            </a:xfrm>
          </p:grpSpPr>
          <p:grpSp>
            <p:nvGrpSpPr>
              <p:cNvPr id="176" name="Group 115"/>
              <p:cNvGrpSpPr/>
              <p:nvPr/>
            </p:nvGrpSpPr>
            <p:grpSpPr>
              <a:xfrm>
                <a:off x="457200" y="2133600"/>
                <a:ext cx="1676400" cy="1371600"/>
                <a:chOff x="457200" y="2133600"/>
                <a:chExt cx="1676400" cy="1371600"/>
              </a:xfrm>
            </p:grpSpPr>
            <p:grpSp>
              <p:nvGrpSpPr>
                <p:cNvPr id="202" name="Group 67"/>
                <p:cNvGrpSpPr/>
                <p:nvPr/>
              </p:nvGrpSpPr>
              <p:grpSpPr>
                <a:xfrm>
                  <a:off x="762000" y="2133600"/>
                  <a:ext cx="1371600" cy="1371600"/>
                  <a:chOff x="2362200" y="2743200"/>
                  <a:chExt cx="1828800" cy="1828800"/>
                </a:xfrm>
                <a:solidFill>
                  <a:schemeClr val="accent5">
                    <a:lumMod val="20000"/>
                    <a:lumOff val="80000"/>
                  </a:schemeClr>
                </a:solidFill>
              </p:grpSpPr>
              <p:grpSp>
                <p:nvGrpSpPr>
                  <p:cNvPr id="212" name="Group 22"/>
                  <p:cNvGrpSpPr/>
                  <p:nvPr/>
                </p:nvGrpSpPr>
                <p:grpSpPr>
                  <a:xfrm>
                    <a:off x="2362200" y="2743200"/>
                    <a:ext cx="1828800" cy="457200"/>
                    <a:chOff x="762000" y="4191000"/>
                    <a:chExt cx="1828800" cy="457200"/>
                  </a:xfrm>
                  <a:grpFill/>
                </p:grpSpPr>
                <p:sp>
                  <p:nvSpPr>
                    <p:cNvPr id="228" name="Rectangle 4"/>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229" name="Rectangle 228"/>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230" name="Rectangle 229"/>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231" name="Rectangle 230"/>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213" name="Group 23"/>
                  <p:cNvGrpSpPr/>
                  <p:nvPr/>
                </p:nvGrpSpPr>
                <p:grpSpPr>
                  <a:xfrm>
                    <a:off x="2362200" y="4114800"/>
                    <a:ext cx="1828800" cy="457200"/>
                    <a:chOff x="762000" y="4191000"/>
                    <a:chExt cx="1828800" cy="457200"/>
                  </a:xfrm>
                  <a:grpFill/>
                </p:grpSpPr>
                <p:sp>
                  <p:nvSpPr>
                    <p:cNvPr id="224" name="Rectangle 223"/>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225" name="Rectangle 224"/>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226" name="Rectangle 225"/>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227" name="Rectangle 226"/>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214" name="Group 28"/>
                  <p:cNvGrpSpPr/>
                  <p:nvPr/>
                </p:nvGrpSpPr>
                <p:grpSpPr>
                  <a:xfrm>
                    <a:off x="2362200" y="3200400"/>
                    <a:ext cx="1828800" cy="457200"/>
                    <a:chOff x="762000" y="4191000"/>
                    <a:chExt cx="1828800" cy="457200"/>
                  </a:xfrm>
                  <a:grpFill/>
                </p:grpSpPr>
                <p:sp>
                  <p:nvSpPr>
                    <p:cNvPr id="220" name="Rectangle 219"/>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221" name="Rectangle 220"/>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222" name="Rectangle 221"/>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223" name="Rectangle 222"/>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215" name="Group 33"/>
                  <p:cNvGrpSpPr/>
                  <p:nvPr/>
                </p:nvGrpSpPr>
                <p:grpSpPr>
                  <a:xfrm>
                    <a:off x="2362200" y="3657600"/>
                    <a:ext cx="1828800" cy="457200"/>
                    <a:chOff x="762000" y="4191000"/>
                    <a:chExt cx="1828800" cy="457200"/>
                  </a:xfrm>
                  <a:grpFill/>
                </p:grpSpPr>
                <p:sp>
                  <p:nvSpPr>
                    <p:cNvPr id="216" name="Rectangle 215"/>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217" name="Rectangle 216"/>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218" name="Rectangle 217"/>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219" name="Rectangle 218"/>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grpSp>
              <p:nvGrpSpPr>
                <p:cNvPr id="203" name="Group 98"/>
                <p:cNvGrpSpPr/>
                <p:nvPr/>
              </p:nvGrpSpPr>
              <p:grpSpPr>
                <a:xfrm>
                  <a:off x="457200" y="2438400"/>
                  <a:ext cx="990600" cy="444044"/>
                  <a:chOff x="457200" y="2438400"/>
                  <a:chExt cx="990600" cy="444044"/>
                </a:xfrm>
              </p:grpSpPr>
              <p:sp>
                <p:nvSpPr>
                  <p:cNvPr id="211" name="TextBox 210"/>
                  <p:cNvSpPr txBox="1"/>
                  <p:nvPr/>
                </p:nvSpPr>
                <p:spPr>
                  <a:xfrm>
                    <a:off x="457200" y="2667000"/>
                    <a:ext cx="184731" cy="215444"/>
                  </a:xfrm>
                  <a:prstGeom prst="rect">
                    <a:avLst/>
                  </a:prstGeom>
                  <a:noFill/>
                </p:spPr>
                <p:txBody>
                  <a:bodyPr wrap="none" rtlCol="0">
                    <a:spAutoFit/>
                  </a:bodyPr>
                  <a:lstStyle/>
                  <a:p>
                    <a:endParaRPr lang="en-US" sz="800" b="1" dirty="0">
                      <a:solidFill>
                        <a:schemeClr val="accent1"/>
                      </a:solidFill>
                    </a:endParaRPr>
                  </a:p>
                </p:txBody>
              </p:sp>
              <p:sp>
                <p:nvSpPr>
                  <p:cNvPr id="205" name="Rectangle 204"/>
                  <p:cNvSpPr/>
                  <p:nvPr/>
                </p:nvSpPr>
                <p:spPr>
                  <a:xfrm>
                    <a:off x="762000" y="2438400"/>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grpSp>
            <p:nvGrpSpPr>
              <p:cNvPr id="177" name="Group 113"/>
              <p:cNvGrpSpPr/>
              <p:nvPr/>
            </p:nvGrpSpPr>
            <p:grpSpPr>
              <a:xfrm>
                <a:off x="2362200" y="1828800"/>
                <a:ext cx="1371600" cy="1676400"/>
                <a:chOff x="2362200" y="1828800"/>
                <a:chExt cx="1371600" cy="1676400"/>
              </a:xfrm>
            </p:grpSpPr>
            <p:grpSp>
              <p:nvGrpSpPr>
                <p:cNvPr id="178"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182" name="Group 22"/>
                  <p:cNvGrpSpPr/>
                  <p:nvPr/>
                </p:nvGrpSpPr>
                <p:grpSpPr>
                  <a:xfrm>
                    <a:off x="2362200" y="2743200"/>
                    <a:ext cx="1828800" cy="457200"/>
                    <a:chOff x="762000" y="4191000"/>
                    <a:chExt cx="1828800" cy="457200"/>
                  </a:xfrm>
                  <a:grpFill/>
                </p:grpSpPr>
                <p:sp>
                  <p:nvSpPr>
                    <p:cNvPr id="198"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199" name="Rectangle 198"/>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200" name="Rectangle 199"/>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201" name="Rectangle 200"/>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183" name="Group 23"/>
                  <p:cNvGrpSpPr/>
                  <p:nvPr/>
                </p:nvGrpSpPr>
                <p:grpSpPr>
                  <a:xfrm>
                    <a:off x="2362200" y="4114800"/>
                    <a:ext cx="1828800" cy="457200"/>
                    <a:chOff x="762000" y="4191000"/>
                    <a:chExt cx="1828800" cy="457200"/>
                  </a:xfrm>
                  <a:grpFill/>
                </p:grpSpPr>
                <p:sp>
                  <p:nvSpPr>
                    <p:cNvPr id="194" name="Rectangle 193"/>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195" name="Rectangle 194"/>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196" name="Rectangle 195"/>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197" name="Rectangle 196"/>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184" name="Group 28"/>
                  <p:cNvGrpSpPr/>
                  <p:nvPr/>
                </p:nvGrpSpPr>
                <p:grpSpPr>
                  <a:xfrm>
                    <a:off x="2362200" y="3200400"/>
                    <a:ext cx="1828800" cy="457200"/>
                    <a:chOff x="762000" y="4191000"/>
                    <a:chExt cx="1828800" cy="457200"/>
                  </a:xfrm>
                  <a:grpFill/>
                </p:grpSpPr>
                <p:sp>
                  <p:nvSpPr>
                    <p:cNvPr id="190" name="Rectangle 189"/>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191" name="Rectangle 190"/>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192" name="Rectangle 191"/>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193" name="Rectangle 192"/>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185" name="Group 33"/>
                  <p:cNvGrpSpPr/>
                  <p:nvPr/>
                </p:nvGrpSpPr>
                <p:grpSpPr>
                  <a:xfrm>
                    <a:off x="2362200" y="3657600"/>
                    <a:ext cx="1828800" cy="457200"/>
                    <a:chOff x="762000" y="4191000"/>
                    <a:chExt cx="1828800" cy="457200"/>
                  </a:xfrm>
                  <a:grpFill/>
                </p:grpSpPr>
                <p:sp>
                  <p:nvSpPr>
                    <p:cNvPr id="186" name="Rectangle 185"/>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187" name="Rectangle 186"/>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188" name="Rectangle 187"/>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189" name="Rectangle 188"/>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179" name="Rectangle 178"/>
                <p:cNvSpPr/>
                <p:nvPr/>
              </p:nvSpPr>
              <p:spPr>
                <a:xfrm>
                  <a:off x="3352800" y="2133600"/>
                  <a:ext cx="45719"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81" name="TextBox 180"/>
                <p:cNvSpPr txBox="1"/>
                <p:nvPr/>
              </p:nvSpPr>
              <p:spPr>
                <a:xfrm>
                  <a:off x="3352800" y="1828800"/>
                  <a:ext cx="381000" cy="215444"/>
                </a:xfrm>
                <a:prstGeom prst="rect">
                  <a:avLst/>
                </a:prstGeom>
                <a:noFill/>
              </p:spPr>
              <p:txBody>
                <a:bodyPr wrap="square" rtlCol="0">
                  <a:spAutoFit/>
                </a:bodyPr>
                <a:lstStyle/>
                <a:p>
                  <a:endParaRPr lang="en-US" sz="800" b="1" dirty="0">
                    <a:solidFill>
                      <a:schemeClr val="accent1"/>
                    </a:solidFill>
                  </a:endParaRPr>
                </a:p>
              </p:txBody>
            </p:sp>
          </p:grpSp>
        </p:grpSp>
        <p:sp>
          <p:nvSpPr>
            <p:cNvPr id="348" name="TextBox 347"/>
            <p:cNvSpPr txBox="1"/>
            <p:nvPr/>
          </p:nvSpPr>
          <p:spPr>
            <a:xfrm>
              <a:off x="273622" y="3810000"/>
              <a:ext cx="473206" cy="338554"/>
            </a:xfrm>
            <a:prstGeom prst="rect">
              <a:avLst/>
            </a:prstGeom>
            <a:noFill/>
          </p:spPr>
          <p:txBody>
            <a:bodyPr wrap="none" rtlCol="0">
              <a:spAutoFit/>
            </a:bodyPr>
            <a:lstStyle/>
            <a:p>
              <a:r>
                <a:rPr lang="en-US" sz="1600" b="1" dirty="0" smtClean="0"/>
                <a:t>B</a:t>
              </a:r>
              <a:r>
                <a:rPr lang="en-US" sz="1600" b="1" baseline="-25000" dirty="0" smtClean="0"/>
                <a:t>1</a:t>
              </a:r>
              <a:r>
                <a:rPr lang="sr-Latn-RS" sz="1600" b="1" baseline="-25000" dirty="0" smtClean="0"/>
                <a:t>,</a:t>
              </a:r>
              <a:r>
                <a:rPr lang="en-US" sz="1600" b="1" baseline="-25000" dirty="0" smtClean="0"/>
                <a:t>0</a:t>
              </a:r>
              <a:endParaRPr lang="en-US" sz="1600" b="1" dirty="0"/>
            </a:p>
          </p:txBody>
        </p:sp>
      </p:grpSp>
      <p:grpSp>
        <p:nvGrpSpPr>
          <p:cNvPr id="414" name="Group 413"/>
          <p:cNvGrpSpPr/>
          <p:nvPr/>
        </p:nvGrpSpPr>
        <p:grpSpPr>
          <a:xfrm>
            <a:off x="4572000" y="4150876"/>
            <a:ext cx="3505200" cy="1828800"/>
            <a:chOff x="4648200" y="3962400"/>
            <a:chExt cx="3505200" cy="1828800"/>
          </a:xfrm>
        </p:grpSpPr>
        <p:grpSp>
          <p:nvGrpSpPr>
            <p:cNvPr id="356" name="Group 355"/>
            <p:cNvGrpSpPr/>
            <p:nvPr/>
          </p:nvGrpSpPr>
          <p:grpSpPr>
            <a:xfrm>
              <a:off x="4648200" y="3962400"/>
              <a:ext cx="1905000" cy="1828800"/>
              <a:chOff x="4572000" y="1600200"/>
              <a:chExt cx="1905000" cy="1828800"/>
            </a:xfrm>
          </p:grpSpPr>
          <p:grpSp>
            <p:nvGrpSpPr>
              <p:cNvPr id="357" name="Group 353"/>
              <p:cNvGrpSpPr/>
              <p:nvPr/>
            </p:nvGrpSpPr>
            <p:grpSpPr>
              <a:xfrm>
                <a:off x="5105400" y="2057400"/>
                <a:ext cx="1371600" cy="1371600"/>
                <a:chOff x="5105400" y="2057400"/>
                <a:chExt cx="1371600" cy="1371600"/>
              </a:xfrm>
            </p:grpSpPr>
            <p:grpSp>
              <p:nvGrpSpPr>
                <p:cNvPr id="359" name="Group 67"/>
                <p:cNvGrpSpPr/>
                <p:nvPr/>
              </p:nvGrpSpPr>
              <p:grpSpPr>
                <a:xfrm>
                  <a:off x="5105400" y="2057400"/>
                  <a:ext cx="1371600" cy="1371600"/>
                  <a:chOff x="2362200" y="2743200"/>
                  <a:chExt cx="1828800" cy="1828800"/>
                </a:xfrm>
                <a:solidFill>
                  <a:schemeClr val="accent5">
                    <a:lumMod val="20000"/>
                    <a:lumOff val="80000"/>
                  </a:schemeClr>
                </a:solidFill>
              </p:grpSpPr>
              <p:grpSp>
                <p:nvGrpSpPr>
                  <p:cNvPr id="369" name="Group 22"/>
                  <p:cNvGrpSpPr/>
                  <p:nvPr/>
                </p:nvGrpSpPr>
                <p:grpSpPr>
                  <a:xfrm>
                    <a:off x="2362200" y="2743200"/>
                    <a:ext cx="1828800" cy="457200"/>
                    <a:chOff x="762000" y="4191000"/>
                    <a:chExt cx="1828800" cy="457200"/>
                  </a:xfrm>
                  <a:grpFill/>
                </p:grpSpPr>
                <p:sp>
                  <p:nvSpPr>
                    <p:cNvPr id="385"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386" name="Rectangle 38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387" name="Rectangle 38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388" name="Rectangle 387"/>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370" name="Group 23"/>
                  <p:cNvGrpSpPr/>
                  <p:nvPr/>
                </p:nvGrpSpPr>
                <p:grpSpPr>
                  <a:xfrm>
                    <a:off x="2362200" y="4114800"/>
                    <a:ext cx="1828800" cy="457200"/>
                    <a:chOff x="762000" y="4191000"/>
                    <a:chExt cx="1828800" cy="457200"/>
                  </a:xfrm>
                  <a:grpFill/>
                </p:grpSpPr>
                <p:sp>
                  <p:nvSpPr>
                    <p:cNvPr id="381" name="Rectangle 380"/>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382" name="Rectangle 38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383" name="Rectangle 38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384" name="Rectangle 383"/>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371" name="Group 28"/>
                  <p:cNvGrpSpPr/>
                  <p:nvPr/>
                </p:nvGrpSpPr>
                <p:grpSpPr>
                  <a:xfrm>
                    <a:off x="2362200" y="3200400"/>
                    <a:ext cx="1828800" cy="457200"/>
                    <a:chOff x="762000" y="4191000"/>
                    <a:chExt cx="1828800" cy="457200"/>
                  </a:xfrm>
                  <a:grpFill/>
                </p:grpSpPr>
                <p:sp>
                  <p:nvSpPr>
                    <p:cNvPr id="377" name="Rectangle 376"/>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378" name="Rectangle 377"/>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379" name="Rectangle 378"/>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380" name="Rectangle 379"/>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372" name="Group 33"/>
                  <p:cNvGrpSpPr/>
                  <p:nvPr/>
                </p:nvGrpSpPr>
                <p:grpSpPr>
                  <a:xfrm>
                    <a:off x="2362200" y="3657600"/>
                    <a:ext cx="1828800" cy="457200"/>
                    <a:chOff x="762000" y="4191000"/>
                    <a:chExt cx="1828800" cy="457200"/>
                  </a:xfrm>
                  <a:grpFill/>
                </p:grpSpPr>
                <p:sp>
                  <p:nvSpPr>
                    <p:cNvPr id="373" name="Rectangle 372"/>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374" name="Rectangle 37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375" name="Rectangle 37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376" name="Rectangle 375"/>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362" name="Rectangle 361"/>
                <p:cNvSpPr/>
                <p:nvPr/>
              </p:nvSpPr>
              <p:spPr>
                <a:xfrm>
                  <a:off x="5105400" y="3059668"/>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358" name="TextBox 357"/>
              <p:cNvSpPr txBox="1"/>
              <p:nvPr/>
            </p:nvSpPr>
            <p:spPr>
              <a:xfrm>
                <a:off x="4572000" y="1600200"/>
                <a:ext cx="473206" cy="338554"/>
              </a:xfrm>
              <a:prstGeom prst="rect">
                <a:avLst/>
              </a:prstGeom>
              <a:noFill/>
            </p:spPr>
            <p:txBody>
              <a:bodyPr wrap="none" rtlCol="0">
                <a:spAutoFit/>
              </a:bodyPr>
              <a:lstStyle/>
              <a:p>
                <a:r>
                  <a:rPr lang="en-US" sz="1600" b="1" dirty="0" smtClean="0"/>
                  <a:t>B</a:t>
                </a:r>
                <a:r>
                  <a:rPr lang="en-US" sz="1600" b="1" baseline="-25000" dirty="0" smtClean="0"/>
                  <a:t>1</a:t>
                </a:r>
                <a:r>
                  <a:rPr lang="sr-Latn-RS" sz="1600" b="1" baseline="-25000" dirty="0" smtClean="0"/>
                  <a:t>,</a:t>
                </a:r>
                <a:r>
                  <a:rPr lang="en-US" sz="1600" b="1" baseline="-25000" dirty="0" smtClean="0"/>
                  <a:t>1</a:t>
                </a:r>
                <a:endParaRPr lang="en-US" sz="1600" b="1" dirty="0"/>
              </a:p>
            </p:txBody>
          </p:sp>
        </p:grpSp>
        <p:grpSp>
          <p:nvGrpSpPr>
            <p:cNvPr id="389" name="Group 113"/>
            <p:cNvGrpSpPr/>
            <p:nvPr/>
          </p:nvGrpSpPr>
          <p:grpSpPr>
            <a:xfrm>
              <a:off x="6781800" y="4419600"/>
              <a:ext cx="1371600" cy="1371600"/>
              <a:chOff x="2362200" y="2133600"/>
              <a:chExt cx="1371600" cy="1371600"/>
            </a:xfrm>
          </p:grpSpPr>
          <p:grpSp>
            <p:nvGrpSpPr>
              <p:cNvPr id="390"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394" name="Group 22"/>
                <p:cNvGrpSpPr/>
                <p:nvPr/>
              </p:nvGrpSpPr>
              <p:grpSpPr>
                <a:xfrm>
                  <a:off x="2362200" y="2743200"/>
                  <a:ext cx="1828800" cy="457200"/>
                  <a:chOff x="762000" y="4191000"/>
                  <a:chExt cx="1828800" cy="457200"/>
                </a:xfrm>
                <a:grpFill/>
              </p:grpSpPr>
              <p:sp>
                <p:nvSpPr>
                  <p:cNvPr id="410"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411" name="Rectangle 410"/>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412" name="Rectangle 411"/>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413" name="Rectangle 412"/>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395" name="Group 23"/>
                <p:cNvGrpSpPr/>
                <p:nvPr/>
              </p:nvGrpSpPr>
              <p:grpSpPr>
                <a:xfrm>
                  <a:off x="2362200" y="4114800"/>
                  <a:ext cx="1828800" cy="457200"/>
                  <a:chOff x="762000" y="4191000"/>
                  <a:chExt cx="1828800" cy="457200"/>
                </a:xfrm>
                <a:grpFill/>
              </p:grpSpPr>
              <p:sp>
                <p:nvSpPr>
                  <p:cNvPr id="406" name="Rectangle 405"/>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407" name="Rectangle 406"/>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408" name="Rectangle 407"/>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409" name="Rectangle 408"/>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396" name="Group 28"/>
                <p:cNvGrpSpPr/>
                <p:nvPr/>
              </p:nvGrpSpPr>
              <p:grpSpPr>
                <a:xfrm>
                  <a:off x="2362200" y="3200400"/>
                  <a:ext cx="1828800" cy="457200"/>
                  <a:chOff x="762000" y="4191000"/>
                  <a:chExt cx="1828800" cy="457200"/>
                </a:xfrm>
                <a:grpFill/>
              </p:grpSpPr>
              <p:sp>
                <p:nvSpPr>
                  <p:cNvPr id="402" name="Rectangle 401"/>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403" name="Rectangle 402"/>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404" name="Rectangle 403"/>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405" name="Rectangle 404"/>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397" name="Group 33"/>
                <p:cNvGrpSpPr/>
                <p:nvPr/>
              </p:nvGrpSpPr>
              <p:grpSpPr>
                <a:xfrm>
                  <a:off x="2362200" y="3657600"/>
                  <a:ext cx="1828800" cy="457200"/>
                  <a:chOff x="762000" y="4191000"/>
                  <a:chExt cx="1828800" cy="457200"/>
                </a:xfrm>
                <a:grpFill/>
              </p:grpSpPr>
              <p:sp>
                <p:nvSpPr>
                  <p:cNvPr id="398" name="Rectangle 397"/>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399" name="Rectangle 398"/>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400" name="Rectangle 399"/>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401" name="Rectangle 400"/>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391" name="Rectangle 390"/>
              <p:cNvSpPr/>
              <p:nvPr/>
            </p:nvSpPr>
            <p:spPr>
              <a:xfrm>
                <a:off x="3352800" y="2133600"/>
                <a:ext cx="45719"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grpSp>
        <p:nvGrpSpPr>
          <p:cNvPr id="497" name="Group 496"/>
          <p:cNvGrpSpPr/>
          <p:nvPr/>
        </p:nvGrpSpPr>
        <p:grpSpPr>
          <a:xfrm>
            <a:off x="4527285" y="2074902"/>
            <a:ext cx="3505200" cy="1828800"/>
            <a:chOff x="4572000" y="1600200"/>
            <a:chExt cx="3505200" cy="1828800"/>
          </a:xfrm>
        </p:grpSpPr>
        <p:grpSp>
          <p:nvGrpSpPr>
            <p:cNvPr id="355" name="Group 354"/>
            <p:cNvGrpSpPr/>
            <p:nvPr/>
          </p:nvGrpSpPr>
          <p:grpSpPr>
            <a:xfrm>
              <a:off x="4572000" y="1600200"/>
              <a:ext cx="1905000" cy="1828800"/>
              <a:chOff x="4572000" y="1600200"/>
              <a:chExt cx="1905000" cy="1828800"/>
            </a:xfrm>
          </p:grpSpPr>
          <p:grpSp>
            <p:nvGrpSpPr>
              <p:cNvPr id="354" name="Group 353"/>
              <p:cNvGrpSpPr/>
              <p:nvPr/>
            </p:nvGrpSpPr>
            <p:grpSpPr>
              <a:xfrm>
                <a:off x="5105400" y="2057400"/>
                <a:ext cx="1371600" cy="1371600"/>
                <a:chOff x="5105400" y="2057400"/>
                <a:chExt cx="1371600" cy="1371600"/>
              </a:xfrm>
            </p:grpSpPr>
            <p:grpSp>
              <p:nvGrpSpPr>
                <p:cNvPr id="259" name="Group 67"/>
                <p:cNvGrpSpPr/>
                <p:nvPr/>
              </p:nvGrpSpPr>
              <p:grpSpPr>
                <a:xfrm>
                  <a:off x="5105400" y="2057400"/>
                  <a:ext cx="1371600" cy="1371600"/>
                  <a:chOff x="2362200" y="2743200"/>
                  <a:chExt cx="1828800" cy="1828800"/>
                </a:xfrm>
                <a:solidFill>
                  <a:schemeClr val="accent5">
                    <a:lumMod val="20000"/>
                    <a:lumOff val="80000"/>
                  </a:schemeClr>
                </a:solidFill>
              </p:grpSpPr>
              <p:grpSp>
                <p:nvGrpSpPr>
                  <p:cNvPr id="269" name="Group 22"/>
                  <p:cNvGrpSpPr/>
                  <p:nvPr/>
                </p:nvGrpSpPr>
                <p:grpSpPr>
                  <a:xfrm>
                    <a:off x="2362200" y="2743200"/>
                    <a:ext cx="1828800" cy="457200"/>
                    <a:chOff x="762000" y="4191000"/>
                    <a:chExt cx="1828800" cy="457200"/>
                  </a:xfrm>
                  <a:grpFill/>
                </p:grpSpPr>
                <p:sp>
                  <p:nvSpPr>
                    <p:cNvPr id="285"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286" name="Rectangle 28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287" name="Rectangle 28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288" name="Rectangle 287"/>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270" name="Group 23"/>
                  <p:cNvGrpSpPr/>
                  <p:nvPr/>
                </p:nvGrpSpPr>
                <p:grpSpPr>
                  <a:xfrm>
                    <a:off x="2362200" y="4114800"/>
                    <a:ext cx="1828800" cy="457200"/>
                    <a:chOff x="762000" y="4191000"/>
                    <a:chExt cx="1828800" cy="457200"/>
                  </a:xfrm>
                  <a:grpFill/>
                </p:grpSpPr>
                <p:sp>
                  <p:nvSpPr>
                    <p:cNvPr id="281" name="Rectangle 280"/>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282" name="Rectangle 28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283" name="Rectangle 28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284" name="Rectangle 283"/>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271" name="Group 28"/>
                  <p:cNvGrpSpPr/>
                  <p:nvPr/>
                </p:nvGrpSpPr>
                <p:grpSpPr>
                  <a:xfrm>
                    <a:off x="2362200" y="3200400"/>
                    <a:ext cx="1828800" cy="457200"/>
                    <a:chOff x="762000" y="4191000"/>
                    <a:chExt cx="1828800" cy="457200"/>
                  </a:xfrm>
                  <a:grpFill/>
                </p:grpSpPr>
                <p:sp>
                  <p:nvSpPr>
                    <p:cNvPr id="277" name="Rectangle 276"/>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278" name="Rectangle 277"/>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279" name="Rectangle 278"/>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280" name="Rectangle 279"/>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272" name="Group 33"/>
                  <p:cNvGrpSpPr/>
                  <p:nvPr/>
                </p:nvGrpSpPr>
                <p:grpSpPr>
                  <a:xfrm>
                    <a:off x="2362200" y="3657600"/>
                    <a:ext cx="1828800" cy="457200"/>
                    <a:chOff x="762000" y="4191000"/>
                    <a:chExt cx="1828800" cy="457200"/>
                  </a:xfrm>
                  <a:grpFill/>
                </p:grpSpPr>
                <p:sp>
                  <p:nvSpPr>
                    <p:cNvPr id="273" name="Rectangle 272"/>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274" name="Rectangle 27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275" name="Rectangle 27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276" name="Rectangle 275"/>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262" name="Rectangle 261"/>
                <p:cNvSpPr/>
                <p:nvPr/>
              </p:nvSpPr>
              <p:spPr>
                <a:xfrm>
                  <a:off x="5105400" y="3059668"/>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350" name="TextBox 349"/>
              <p:cNvSpPr txBox="1"/>
              <p:nvPr/>
            </p:nvSpPr>
            <p:spPr>
              <a:xfrm>
                <a:off x="4572000" y="1600200"/>
                <a:ext cx="473206" cy="338554"/>
              </a:xfrm>
              <a:prstGeom prst="rect">
                <a:avLst/>
              </a:prstGeom>
              <a:noFill/>
            </p:spPr>
            <p:txBody>
              <a:bodyPr wrap="none" rtlCol="0">
                <a:spAutoFit/>
              </a:bodyPr>
              <a:lstStyle/>
              <a:p>
                <a:r>
                  <a:rPr lang="en-US" sz="1600" b="1" dirty="0" smtClean="0"/>
                  <a:t>B</a:t>
                </a:r>
                <a:r>
                  <a:rPr lang="sr-Latn-RS" sz="1600" b="1" baseline="-25000" dirty="0" smtClean="0"/>
                  <a:t>0,</a:t>
                </a:r>
                <a:r>
                  <a:rPr lang="en-US" sz="1600" b="1" baseline="-25000" dirty="0" smtClean="0"/>
                  <a:t>1</a:t>
                </a:r>
                <a:endParaRPr lang="en-US" sz="1600" b="1" dirty="0"/>
              </a:p>
            </p:txBody>
          </p:sp>
        </p:grpSp>
        <p:grpSp>
          <p:nvGrpSpPr>
            <p:cNvPr id="471" name="Group 470"/>
            <p:cNvGrpSpPr/>
            <p:nvPr/>
          </p:nvGrpSpPr>
          <p:grpSpPr>
            <a:xfrm>
              <a:off x="6705600" y="1752600"/>
              <a:ext cx="1371600" cy="1676400"/>
              <a:chOff x="2362200" y="1828800"/>
              <a:chExt cx="1371600" cy="1676400"/>
            </a:xfrm>
          </p:grpSpPr>
          <p:grpSp>
            <p:nvGrpSpPr>
              <p:cNvPr id="472"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476" name="Group 22"/>
                <p:cNvGrpSpPr/>
                <p:nvPr/>
              </p:nvGrpSpPr>
              <p:grpSpPr>
                <a:xfrm>
                  <a:off x="2362200" y="2743200"/>
                  <a:ext cx="1828800" cy="457200"/>
                  <a:chOff x="762000" y="4191000"/>
                  <a:chExt cx="1828800" cy="457200"/>
                </a:xfrm>
                <a:grpFill/>
              </p:grpSpPr>
              <p:sp>
                <p:nvSpPr>
                  <p:cNvPr id="492" name="Rectangle 4"/>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493" name="Rectangle 492"/>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494" name="Rectangle 493"/>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495" name="Rectangle 494"/>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477" name="Group 23"/>
                <p:cNvGrpSpPr/>
                <p:nvPr/>
              </p:nvGrpSpPr>
              <p:grpSpPr>
                <a:xfrm>
                  <a:off x="2362200" y="4114800"/>
                  <a:ext cx="1828800" cy="457200"/>
                  <a:chOff x="762000" y="4191000"/>
                  <a:chExt cx="1828800" cy="457200"/>
                </a:xfrm>
                <a:grpFill/>
              </p:grpSpPr>
              <p:sp>
                <p:nvSpPr>
                  <p:cNvPr id="488" name="Rectangle 487"/>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489" name="Rectangle 488"/>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490" name="Rectangle 489"/>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491" name="Rectangle 490"/>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478" name="Group 28"/>
                <p:cNvGrpSpPr/>
                <p:nvPr/>
              </p:nvGrpSpPr>
              <p:grpSpPr>
                <a:xfrm>
                  <a:off x="2362200" y="3200400"/>
                  <a:ext cx="1828800" cy="457200"/>
                  <a:chOff x="762000" y="4191000"/>
                  <a:chExt cx="1828800" cy="457200"/>
                </a:xfrm>
                <a:grpFill/>
              </p:grpSpPr>
              <p:sp>
                <p:nvSpPr>
                  <p:cNvPr id="484" name="Rectangle 483"/>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485" name="Rectangle 484"/>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486" name="Rectangle 485"/>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487" name="Rectangle 486"/>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479" name="Group 33"/>
                <p:cNvGrpSpPr/>
                <p:nvPr/>
              </p:nvGrpSpPr>
              <p:grpSpPr>
                <a:xfrm>
                  <a:off x="2362200" y="3657600"/>
                  <a:ext cx="1828800" cy="457200"/>
                  <a:chOff x="762000" y="4191000"/>
                  <a:chExt cx="1828800" cy="457200"/>
                </a:xfrm>
                <a:grpFill/>
              </p:grpSpPr>
              <p:sp>
                <p:nvSpPr>
                  <p:cNvPr id="480" name="Rectangle 479"/>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481" name="Rectangle 480"/>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482" name="Rectangle 481"/>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483" name="Rectangle 482"/>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473" name="Rectangle 472"/>
              <p:cNvSpPr/>
              <p:nvPr/>
            </p:nvSpPr>
            <p:spPr>
              <a:xfrm>
                <a:off x="2667000" y="2133600"/>
                <a:ext cx="45719"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75" name="TextBox 474"/>
              <p:cNvSpPr txBox="1"/>
              <p:nvPr/>
            </p:nvSpPr>
            <p:spPr>
              <a:xfrm>
                <a:off x="2667000" y="1828800"/>
                <a:ext cx="381000" cy="215444"/>
              </a:xfrm>
              <a:prstGeom prst="rect">
                <a:avLst/>
              </a:prstGeom>
              <a:noFill/>
            </p:spPr>
            <p:txBody>
              <a:bodyPr wrap="square" rtlCol="0">
                <a:spAutoFit/>
              </a:bodyPr>
              <a:lstStyle/>
              <a:p>
                <a:endParaRPr lang="en-US" sz="800" b="1" dirty="0">
                  <a:solidFill>
                    <a:schemeClr val="accent1"/>
                  </a:solidFill>
                </a:endParaRPr>
              </a:p>
            </p:txBody>
          </p:sp>
        </p:grpSp>
      </p:grpSp>
      <p:sp>
        <p:nvSpPr>
          <p:cNvPr id="5" name="TextBox 4"/>
          <p:cNvSpPr txBox="1"/>
          <p:nvPr/>
        </p:nvSpPr>
        <p:spPr>
          <a:xfrm>
            <a:off x="528929" y="1447800"/>
            <a:ext cx="3078728" cy="369332"/>
          </a:xfrm>
          <a:prstGeom prst="rect">
            <a:avLst/>
          </a:prstGeom>
          <a:noFill/>
        </p:spPr>
        <p:txBody>
          <a:bodyPr wrap="none" rtlCol="0">
            <a:spAutoFit/>
          </a:bodyPr>
          <a:lstStyle/>
          <a:p>
            <a:r>
              <a:rPr lang="en-US" b="1" dirty="0" smtClean="0">
                <a:solidFill>
                  <a:srgbClr val="C00000"/>
                </a:solidFill>
              </a:rPr>
              <a:t>PRVA FAZA, SVI BLOKOVI</a:t>
            </a:r>
            <a:endParaRPr lang="sr-Latn-RS" b="1" dirty="0">
              <a:solidFill>
                <a:srgbClr val="C00000"/>
              </a:solidFill>
            </a:endParaRPr>
          </a:p>
        </p:txBody>
      </p:sp>
      <p:sp>
        <p:nvSpPr>
          <p:cNvPr id="3" name="Slide Number Placeholder 2"/>
          <p:cNvSpPr>
            <a:spLocks noGrp="1"/>
          </p:cNvSpPr>
          <p:nvPr>
            <p:ph type="sldNum" sz="quarter" idx="12"/>
          </p:nvPr>
        </p:nvSpPr>
        <p:spPr/>
        <p:txBody>
          <a:bodyPr/>
          <a:lstStyle/>
          <a:p>
            <a:fld id="{036081D1-8380-407A-ABF3-D12854566F9D}" type="slidenum">
              <a:rPr lang="en-US" smtClean="0"/>
              <a:pPr/>
              <a:t>41</a:t>
            </a:fld>
            <a:endParaRPr lang="en-US" dirty="0"/>
          </a:p>
        </p:txBody>
      </p:sp>
    </p:spTree>
    <p:extLst>
      <p:ext uri="{BB962C8B-B14F-4D97-AF65-F5344CB8AC3E}">
        <p14:creationId xmlns:p14="http://schemas.microsoft.com/office/powerpoint/2010/main" val="39616072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a:t>
            </a:r>
            <a:r>
              <a:rPr lang="sr-Latn-RS" dirty="0" smtClean="0"/>
              <a:t>memorija (6)</a:t>
            </a:r>
            <a:endParaRPr lang="en-US" dirty="0">
              <a:solidFill>
                <a:srgbClr val="FF0000"/>
              </a:solidFill>
            </a:endParaRPr>
          </a:p>
        </p:txBody>
      </p:sp>
      <p:grpSp>
        <p:nvGrpSpPr>
          <p:cNvPr id="3" name="Group 495"/>
          <p:cNvGrpSpPr/>
          <p:nvPr/>
        </p:nvGrpSpPr>
        <p:grpSpPr>
          <a:xfrm>
            <a:off x="381000" y="2013466"/>
            <a:ext cx="3429000" cy="1828800"/>
            <a:chOff x="304800" y="1524000"/>
            <a:chExt cx="3429000" cy="1828800"/>
          </a:xfrm>
        </p:grpSpPr>
        <p:grpSp>
          <p:nvGrpSpPr>
            <p:cNvPr id="5" name="Group 115"/>
            <p:cNvGrpSpPr/>
            <p:nvPr/>
          </p:nvGrpSpPr>
          <p:grpSpPr>
            <a:xfrm>
              <a:off x="762000" y="1981200"/>
              <a:ext cx="1371600" cy="1371600"/>
              <a:chOff x="762000" y="2133600"/>
              <a:chExt cx="1371600" cy="1371600"/>
            </a:xfrm>
          </p:grpSpPr>
          <p:grpSp>
            <p:nvGrpSpPr>
              <p:cNvPr id="6" name="Group 67"/>
              <p:cNvGrpSpPr/>
              <p:nvPr/>
            </p:nvGrpSpPr>
            <p:grpSpPr>
              <a:xfrm>
                <a:off x="762000" y="2133600"/>
                <a:ext cx="1371600" cy="1371600"/>
                <a:chOff x="2362200" y="2743200"/>
                <a:chExt cx="1828800" cy="1828800"/>
              </a:xfrm>
              <a:solidFill>
                <a:schemeClr val="accent5">
                  <a:lumMod val="20000"/>
                  <a:lumOff val="80000"/>
                </a:schemeClr>
              </a:solidFill>
            </p:grpSpPr>
            <p:grpSp>
              <p:nvGrpSpPr>
                <p:cNvPr id="7" name="Group 22"/>
                <p:cNvGrpSpPr/>
                <p:nvPr/>
              </p:nvGrpSpPr>
              <p:grpSpPr>
                <a:xfrm>
                  <a:off x="2362200" y="2743200"/>
                  <a:ext cx="1828800" cy="457200"/>
                  <a:chOff x="762000" y="4191000"/>
                  <a:chExt cx="1828800" cy="457200"/>
                </a:xfrm>
                <a:grpFill/>
              </p:grpSpPr>
              <p:sp>
                <p:nvSpPr>
                  <p:cNvPr id="85"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86" name="Rectangle 85"/>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87" name="Rectangle 86"/>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88" name="Rectangle 87"/>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8" name="Group 23"/>
                <p:cNvGrpSpPr/>
                <p:nvPr/>
              </p:nvGrpSpPr>
              <p:grpSpPr>
                <a:xfrm>
                  <a:off x="2362200" y="4114800"/>
                  <a:ext cx="1828800" cy="457200"/>
                  <a:chOff x="762000" y="4191000"/>
                  <a:chExt cx="1828800" cy="457200"/>
                </a:xfrm>
                <a:grpFill/>
              </p:grpSpPr>
              <p:sp>
                <p:nvSpPr>
                  <p:cNvPr id="81" name="Rectangle 80"/>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82" name="Rectangle 8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83" name="Rectangle 8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84" name="Rectangle 83"/>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9" name="Group 28"/>
                <p:cNvGrpSpPr/>
                <p:nvPr/>
              </p:nvGrpSpPr>
              <p:grpSpPr>
                <a:xfrm>
                  <a:off x="2362200" y="3200400"/>
                  <a:ext cx="1828800" cy="457200"/>
                  <a:chOff x="762000" y="4191000"/>
                  <a:chExt cx="1828800" cy="457200"/>
                </a:xfrm>
                <a:grpFill/>
              </p:grpSpPr>
              <p:sp>
                <p:nvSpPr>
                  <p:cNvPr id="77" name="Rectangle 76"/>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78" name="Rectangle 77"/>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79" name="Rectangle 78"/>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80" name="Rectangle 79"/>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10" name="Group 33"/>
                <p:cNvGrpSpPr/>
                <p:nvPr/>
              </p:nvGrpSpPr>
              <p:grpSpPr>
                <a:xfrm>
                  <a:off x="2362200" y="3657600"/>
                  <a:ext cx="1828800" cy="457200"/>
                  <a:chOff x="762000" y="4191000"/>
                  <a:chExt cx="1828800" cy="457200"/>
                </a:xfrm>
                <a:grpFill/>
              </p:grpSpPr>
              <p:sp>
                <p:nvSpPr>
                  <p:cNvPr id="73" name="Rectangle 72"/>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74" name="Rectangle 7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75" name="Rectangle 7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76" name="Rectangle 75"/>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95" name="Rectangle 94"/>
              <p:cNvSpPr/>
              <p:nvPr/>
            </p:nvSpPr>
            <p:spPr>
              <a:xfrm>
                <a:off x="1447800" y="2438400"/>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15" name="Group 113"/>
            <p:cNvGrpSpPr/>
            <p:nvPr/>
          </p:nvGrpSpPr>
          <p:grpSpPr>
            <a:xfrm>
              <a:off x="2362200" y="1981200"/>
              <a:ext cx="1371600" cy="1371600"/>
              <a:chOff x="2362200" y="2133600"/>
              <a:chExt cx="1371600" cy="1371600"/>
            </a:xfrm>
          </p:grpSpPr>
          <p:grpSp>
            <p:nvGrpSpPr>
              <p:cNvPr id="16"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17" name="Group 22"/>
                <p:cNvGrpSpPr/>
                <p:nvPr/>
              </p:nvGrpSpPr>
              <p:grpSpPr>
                <a:xfrm>
                  <a:off x="2362200" y="2743200"/>
                  <a:ext cx="1828800" cy="457200"/>
                  <a:chOff x="762000" y="4191000"/>
                  <a:chExt cx="1828800" cy="457200"/>
                </a:xfrm>
                <a:grpFill/>
              </p:grpSpPr>
              <p:sp>
                <p:nvSpPr>
                  <p:cNvPr id="43"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44" name="Rectangle 43"/>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45" name="Rectangle 44"/>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46" name="Rectangle 45"/>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18" name="Group 23"/>
                <p:cNvGrpSpPr/>
                <p:nvPr/>
              </p:nvGrpSpPr>
              <p:grpSpPr>
                <a:xfrm>
                  <a:off x="2362200" y="4114800"/>
                  <a:ext cx="1828800" cy="457200"/>
                  <a:chOff x="762000" y="4191000"/>
                  <a:chExt cx="1828800" cy="457200"/>
                </a:xfrm>
                <a:grpFill/>
              </p:grpSpPr>
              <p:sp>
                <p:nvSpPr>
                  <p:cNvPr id="39" name="Rectangle 38"/>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40" name="Rectangle 39"/>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41" name="Rectangle 40"/>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42" name="Rectangle 41"/>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19" name="Group 28"/>
                <p:cNvGrpSpPr/>
                <p:nvPr/>
              </p:nvGrpSpPr>
              <p:grpSpPr>
                <a:xfrm>
                  <a:off x="2362200" y="3200400"/>
                  <a:ext cx="1828800" cy="457200"/>
                  <a:chOff x="762000" y="4191000"/>
                  <a:chExt cx="1828800" cy="457200"/>
                </a:xfrm>
                <a:grpFill/>
              </p:grpSpPr>
              <p:sp>
                <p:nvSpPr>
                  <p:cNvPr id="35" name="Rectangle 3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36" name="Rectangle 3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37" name="Rectangle 3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38" name="Rectangle 37"/>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20" name="Group 33"/>
                <p:cNvGrpSpPr/>
                <p:nvPr/>
              </p:nvGrpSpPr>
              <p:grpSpPr>
                <a:xfrm>
                  <a:off x="2362200" y="3657600"/>
                  <a:ext cx="1828800" cy="457200"/>
                  <a:chOff x="762000" y="4191000"/>
                  <a:chExt cx="1828800" cy="457200"/>
                </a:xfrm>
                <a:grpFill/>
              </p:grpSpPr>
              <p:sp>
                <p:nvSpPr>
                  <p:cNvPr id="31" name="Rectangle 30"/>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32" name="Rectangle 31"/>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33" name="Rectangle 32"/>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34" name="Rectangle 33"/>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111" name="Rectangle 110"/>
              <p:cNvSpPr/>
              <p:nvPr/>
            </p:nvSpPr>
            <p:spPr>
              <a:xfrm>
                <a:off x="2667000" y="2819400"/>
                <a:ext cx="7620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346" name="TextBox 345"/>
            <p:cNvSpPr txBox="1"/>
            <p:nvPr/>
          </p:nvSpPr>
          <p:spPr>
            <a:xfrm>
              <a:off x="304800" y="1524000"/>
              <a:ext cx="473206" cy="338554"/>
            </a:xfrm>
            <a:prstGeom prst="rect">
              <a:avLst/>
            </a:prstGeom>
            <a:noFill/>
          </p:spPr>
          <p:txBody>
            <a:bodyPr wrap="none" rtlCol="0">
              <a:spAutoFit/>
            </a:bodyPr>
            <a:lstStyle/>
            <a:p>
              <a:r>
                <a:rPr lang="en-US" sz="1600" b="1" dirty="0" smtClean="0"/>
                <a:t>B</a:t>
              </a:r>
              <a:r>
                <a:rPr lang="sr-Latn-RS" sz="1600" b="1" baseline="-25000" dirty="0" smtClean="0"/>
                <a:t>0,</a:t>
              </a:r>
              <a:r>
                <a:rPr lang="en-US" sz="1600" b="1" baseline="-25000" dirty="0" smtClean="0"/>
                <a:t>0</a:t>
              </a:r>
              <a:endParaRPr lang="en-US" sz="1600" b="1" dirty="0"/>
            </a:p>
          </p:txBody>
        </p:sp>
      </p:grpSp>
      <p:grpSp>
        <p:nvGrpSpPr>
          <p:cNvPr id="239" name="Group 495"/>
          <p:cNvGrpSpPr/>
          <p:nvPr/>
        </p:nvGrpSpPr>
        <p:grpSpPr>
          <a:xfrm>
            <a:off x="360114" y="4026932"/>
            <a:ext cx="3429000" cy="1828800"/>
            <a:chOff x="304800" y="1524000"/>
            <a:chExt cx="3429000" cy="1828800"/>
          </a:xfrm>
        </p:grpSpPr>
        <p:grpSp>
          <p:nvGrpSpPr>
            <p:cNvPr id="240" name="Group 115"/>
            <p:cNvGrpSpPr/>
            <p:nvPr/>
          </p:nvGrpSpPr>
          <p:grpSpPr>
            <a:xfrm>
              <a:off x="762000" y="1981200"/>
              <a:ext cx="1371600" cy="1371600"/>
              <a:chOff x="762000" y="2133600"/>
              <a:chExt cx="1371600" cy="1371600"/>
            </a:xfrm>
          </p:grpSpPr>
          <p:grpSp>
            <p:nvGrpSpPr>
              <p:cNvPr id="272" name="Group 67"/>
              <p:cNvGrpSpPr/>
              <p:nvPr/>
            </p:nvGrpSpPr>
            <p:grpSpPr>
              <a:xfrm>
                <a:off x="762000" y="2133600"/>
                <a:ext cx="1371600" cy="1371600"/>
                <a:chOff x="2362200" y="2743200"/>
                <a:chExt cx="1828800" cy="1828800"/>
              </a:xfrm>
              <a:solidFill>
                <a:schemeClr val="accent5">
                  <a:lumMod val="20000"/>
                  <a:lumOff val="80000"/>
                </a:schemeClr>
              </a:solidFill>
            </p:grpSpPr>
            <p:grpSp>
              <p:nvGrpSpPr>
                <p:cNvPr id="290" name="Group 22"/>
                <p:cNvGrpSpPr/>
                <p:nvPr/>
              </p:nvGrpSpPr>
              <p:grpSpPr>
                <a:xfrm>
                  <a:off x="2362200" y="2743200"/>
                  <a:ext cx="1828800" cy="457200"/>
                  <a:chOff x="762000" y="4191000"/>
                  <a:chExt cx="1828800" cy="457200"/>
                </a:xfrm>
                <a:grpFill/>
              </p:grpSpPr>
              <p:sp>
                <p:nvSpPr>
                  <p:cNvPr id="306"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307" name="Rectangle 306"/>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308" name="Rectangle 307"/>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309" name="Rectangle 308"/>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291" name="Group 23"/>
                <p:cNvGrpSpPr/>
                <p:nvPr/>
              </p:nvGrpSpPr>
              <p:grpSpPr>
                <a:xfrm>
                  <a:off x="2362200" y="4114800"/>
                  <a:ext cx="1828800" cy="457200"/>
                  <a:chOff x="762000" y="4191000"/>
                  <a:chExt cx="1828800" cy="457200"/>
                </a:xfrm>
                <a:grpFill/>
              </p:grpSpPr>
              <p:sp>
                <p:nvSpPr>
                  <p:cNvPr id="302" name="Rectangle 301"/>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303" name="Rectangle 302"/>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304" name="Rectangle 303"/>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305" name="Rectangle 304"/>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292" name="Group 28"/>
                <p:cNvGrpSpPr/>
                <p:nvPr/>
              </p:nvGrpSpPr>
              <p:grpSpPr>
                <a:xfrm>
                  <a:off x="2362200" y="3200400"/>
                  <a:ext cx="1828800" cy="457200"/>
                  <a:chOff x="762000" y="4191000"/>
                  <a:chExt cx="1828800" cy="457200"/>
                </a:xfrm>
                <a:grpFill/>
              </p:grpSpPr>
              <p:sp>
                <p:nvSpPr>
                  <p:cNvPr id="298" name="Rectangle 297"/>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299" name="Rectangle 298"/>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300" name="Rectangle 299"/>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301" name="Rectangle 300"/>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293" name="Group 33"/>
                <p:cNvGrpSpPr/>
                <p:nvPr/>
              </p:nvGrpSpPr>
              <p:grpSpPr>
                <a:xfrm>
                  <a:off x="2362200" y="3657600"/>
                  <a:ext cx="1828800" cy="457200"/>
                  <a:chOff x="762000" y="4191000"/>
                  <a:chExt cx="1828800" cy="457200"/>
                </a:xfrm>
                <a:grpFill/>
              </p:grpSpPr>
              <p:sp>
                <p:nvSpPr>
                  <p:cNvPr id="294" name="Rectangle 293"/>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295" name="Rectangle 294"/>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296" name="Rectangle 295"/>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297" name="Rectangle 296"/>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289" name="Rectangle 288"/>
              <p:cNvSpPr/>
              <p:nvPr/>
            </p:nvSpPr>
            <p:spPr>
              <a:xfrm>
                <a:off x="1447800" y="2438400"/>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241" name="Group 113"/>
            <p:cNvGrpSpPr/>
            <p:nvPr/>
          </p:nvGrpSpPr>
          <p:grpSpPr>
            <a:xfrm>
              <a:off x="2362200" y="1981200"/>
              <a:ext cx="1371600" cy="1371600"/>
              <a:chOff x="2362200" y="2133600"/>
              <a:chExt cx="1371600" cy="1371600"/>
            </a:xfrm>
          </p:grpSpPr>
          <p:grpSp>
            <p:nvGrpSpPr>
              <p:cNvPr id="243"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247" name="Group 22"/>
                <p:cNvGrpSpPr/>
                <p:nvPr/>
              </p:nvGrpSpPr>
              <p:grpSpPr>
                <a:xfrm>
                  <a:off x="2362200" y="2743200"/>
                  <a:ext cx="1828800" cy="457200"/>
                  <a:chOff x="762000" y="4191000"/>
                  <a:chExt cx="1828800" cy="457200"/>
                </a:xfrm>
                <a:grpFill/>
              </p:grpSpPr>
              <p:sp>
                <p:nvSpPr>
                  <p:cNvPr id="264"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269" name="Rectangle 268"/>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270" name="Rectangle 269"/>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271" name="Rectangle 270"/>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248" name="Group 23"/>
                <p:cNvGrpSpPr/>
                <p:nvPr/>
              </p:nvGrpSpPr>
              <p:grpSpPr>
                <a:xfrm>
                  <a:off x="2362200" y="4114800"/>
                  <a:ext cx="1828800" cy="457200"/>
                  <a:chOff x="762000" y="4191000"/>
                  <a:chExt cx="1828800" cy="457200"/>
                </a:xfrm>
                <a:grpFill/>
              </p:grpSpPr>
              <p:sp>
                <p:nvSpPr>
                  <p:cNvPr id="259" name="Rectangle 258"/>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260" name="Rectangle 259"/>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261" name="Rectangle 260"/>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263" name="Rectangle 262"/>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249" name="Group 28"/>
                <p:cNvGrpSpPr/>
                <p:nvPr/>
              </p:nvGrpSpPr>
              <p:grpSpPr>
                <a:xfrm>
                  <a:off x="2362200" y="3200400"/>
                  <a:ext cx="1828800" cy="457200"/>
                  <a:chOff x="762000" y="4191000"/>
                  <a:chExt cx="1828800" cy="457200"/>
                </a:xfrm>
                <a:grpFill/>
              </p:grpSpPr>
              <p:sp>
                <p:nvSpPr>
                  <p:cNvPr id="255" name="Rectangle 25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256" name="Rectangle 255"/>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257" name="Rectangle 256"/>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258" name="Rectangle 257"/>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250" name="Group 33"/>
                <p:cNvGrpSpPr/>
                <p:nvPr/>
              </p:nvGrpSpPr>
              <p:grpSpPr>
                <a:xfrm>
                  <a:off x="2362200" y="3657600"/>
                  <a:ext cx="1828800" cy="457200"/>
                  <a:chOff x="762000" y="4191000"/>
                  <a:chExt cx="1828800" cy="457200"/>
                </a:xfrm>
                <a:grpFill/>
              </p:grpSpPr>
              <p:sp>
                <p:nvSpPr>
                  <p:cNvPr id="251" name="Rectangle 250"/>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252" name="Rectangle 251"/>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253" name="Rectangle 252"/>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254" name="Rectangle 253"/>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244" name="Rectangle 243"/>
              <p:cNvSpPr/>
              <p:nvPr/>
            </p:nvSpPr>
            <p:spPr>
              <a:xfrm>
                <a:off x="3352800" y="2819400"/>
                <a:ext cx="7620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242" name="TextBox 241"/>
            <p:cNvSpPr txBox="1"/>
            <p:nvPr/>
          </p:nvSpPr>
          <p:spPr>
            <a:xfrm>
              <a:off x="304800" y="1524000"/>
              <a:ext cx="473206" cy="338554"/>
            </a:xfrm>
            <a:prstGeom prst="rect">
              <a:avLst/>
            </a:prstGeom>
            <a:noFill/>
          </p:spPr>
          <p:txBody>
            <a:bodyPr wrap="none" rtlCol="0">
              <a:spAutoFit/>
            </a:bodyPr>
            <a:lstStyle/>
            <a:p>
              <a:r>
                <a:rPr lang="en-US" sz="1600" b="1" dirty="0" smtClean="0"/>
                <a:t>B</a:t>
              </a:r>
              <a:r>
                <a:rPr lang="en-US" sz="1600" b="1" baseline="-25000" dirty="0" smtClean="0"/>
                <a:t>1</a:t>
              </a:r>
              <a:r>
                <a:rPr lang="sr-Latn-RS" sz="1600" b="1" baseline="-25000" dirty="0" smtClean="0"/>
                <a:t>,</a:t>
              </a:r>
              <a:r>
                <a:rPr lang="en-US" sz="1600" b="1" baseline="-25000" dirty="0" smtClean="0"/>
                <a:t>0</a:t>
              </a:r>
              <a:endParaRPr lang="en-US" sz="1600" b="1" dirty="0"/>
            </a:p>
          </p:txBody>
        </p:sp>
      </p:grpSp>
      <p:grpSp>
        <p:nvGrpSpPr>
          <p:cNvPr id="369" name="Group 495"/>
          <p:cNvGrpSpPr/>
          <p:nvPr/>
        </p:nvGrpSpPr>
        <p:grpSpPr>
          <a:xfrm>
            <a:off x="4485132" y="2070616"/>
            <a:ext cx="3429000" cy="1828800"/>
            <a:chOff x="304800" y="1524000"/>
            <a:chExt cx="3429000" cy="1828800"/>
          </a:xfrm>
        </p:grpSpPr>
        <p:grpSp>
          <p:nvGrpSpPr>
            <p:cNvPr id="370" name="Group 115"/>
            <p:cNvGrpSpPr/>
            <p:nvPr/>
          </p:nvGrpSpPr>
          <p:grpSpPr>
            <a:xfrm>
              <a:off x="762000" y="1981200"/>
              <a:ext cx="1371600" cy="1371600"/>
              <a:chOff x="762000" y="2133600"/>
              <a:chExt cx="1371600" cy="1371600"/>
            </a:xfrm>
          </p:grpSpPr>
          <p:grpSp>
            <p:nvGrpSpPr>
              <p:cNvPr id="432" name="Group 67"/>
              <p:cNvGrpSpPr/>
              <p:nvPr/>
            </p:nvGrpSpPr>
            <p:grpSpPr>
              <a:xfrm>
                <a:off x="762000" y="2133600"/>
                <a:ext cx="1371600" cy="1371600"/>
                <a:chOff x="2362200" y="2743200"/>
                <a:chExt cx="1828800" cy="1828800"/>
              </a:xfrm>
              <a:solidFill>
                <a:schemeClr val="accent5">
                  <a:lumMod val="20000"/>
                  <a:lumOff val="80000"/>
                </a:schemeClr>
              </a:solidFill>
            </p:grpSpPr>
            <p:grpSp>
              <p:nvGrpSpPr>
                <p:cNvPr id="434" name="Group 22"/>
                <p:cNvGrpSpPr/>
                <p:nvPr/>
              </p:nvGrpSpPr>
              <p:grpSpPr>
                <a:xfrm>
                  <a:off x="2362200" y="2743200"/>
                  <a:ext cx="1828800" cy="457200"/>
                  <a:chOff x="762000" y="4191000"/>
                  <a:chExt cx="1828800" cy="457200"/>
                </a:xfrm>
                <a:grpFill/>
              </p:grpSpPr>
              <p:sp>
                <p:nvSpPr>
                  <p:cNvPr id="450"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451" name="Rectangle 450"/>
                  <p:cNvSpPr/>
                  <p:nvPr/>
                </p:nvSpPr>
                <p:spPr>
                  <a:xfrm>
                    <a:off x="21336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452" name="Rectangle 451"/>
                  <p:cNvSpPr/>
                  <p:nvPr/>
                </p:nvSpPr>
                <p:spPr>
                  <a:xfrm>
                    <a:off x="16764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453" name="Rectangle 452"/>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435" name="Group 23"/>
                <p:cNvGrpSpPr/>
                <p:nvPr/>
              </p:nvGrpSpPr>
              <p:grpSpPr>
                <a:xfrm>
                  <a:off x="2362200" y="4114800"/>
                  <a:ext cx="1828800" cy="457200"/>
                  <a:chOff x="762000" y="4191000"/>
                  <a:chExt cx="1828800" cy="457200"/>
                </a:xfrm>
                <a:grpFill/>
              </p:grpSpPr>
              <p:sp>
                <p:nvSpPr>
                  <p:cNvPr id="446" name="Rectangle 445"/>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447" name="Rectangle 446"/>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448" name="Rectangle 447"/>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449" name="Rectangle 448"/>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436" name="Group 28"/>
                <p:cNvGrpSpPr/>
                <p:nvPr/>
              </p:nvGrpSpPr>
              <p:grpSpPr>
                <a:xfrm>
                  <a:off x="2362200" y="3200400"/>
                  <a:ext cx="1828800" cy="457200"/>
                  <a:chOff x="762000" y="4191000"/>
                  <a:chExt cx="1828800" cy="457200"/>
                </a:xfrm>
                <a:grpFill/>
              </p:grpSpPr>
              <p:sp>
                <p:nvSpPr>
                  <p:cNvPr id="442" name="Rectangle 441"/>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443" name="Rectangle 442"/>
                  <p:cNvSpPr/>
                  <p:nvPr/>
                </p:nvSpPr>
                <p:spPr>
                  <a:xfrm>
                    <a:off x="21336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444" name="Rectangle 443"/>
                  <p:cNvSpPr/>
                  <p:nvPr/>
                </p:nvSpPr>
                <p:spPr>
                  <a:xfrm>
                    <a:off x="16764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445" name="Rectangle 444"/>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437" name="Group 33"/>
                <p:cNvGrpSpPr/>
                <p:nvPr/>
              </p:nvGrpSpPr>
              <p:grpSpPr>
                <a:xfrm>
                  <a:off x="2362200" y="3657600"/>
                  <a:ext cx="1828800" cy="457200"/>
                  <a:chOff x="762000" y="4191000"/>
                  <a:chExt cx="1828800" cy="457200"/>
                </a:xfrm>
                <a:grpFill/>
              </p:grpSpPr>
              <p:sp>
                <p:nvSpPr>
                  <p:cNvPr id="438" name="Rectangle 437"/>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439" name="Rectangle 438"/>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440" name="Rectangle 439"/>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441" name="Rectangle 440"/>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433" name="Rectangle 432"/>
              <p:cNvSpPr/>
              <p:nvPr/>
            </p:nvSpPr>
            <p:spPr>
              <a:xfrm>
                <a:off x="1447800" y="3124200"/>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371" name="Group 113"/>
            <p:cNvGrpSpPr/>
            <p:nvPr/>
          </p:nvGrpSpPr>
          <p:grpSpPr>
            <a:xfrm>
              <a:off x="2362200" y="1981200"/>
              <a:ext cx="1371600" cy="1371600"/>
              <a:chOff x="2362200" y="2133600"/>
              <a:chExt cx="1371600" cy="1371600"/>
            </a:xfrm>
          </p:grpSpPr>
          <p:grpSp>
            <p:nvGrpSpPr>
              <p:cNvPr id="389"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396" name="Group 22"/>
                <p:cNvGrpSpPr/>
                <p:nvPr/>
              </p:nvGrpSpPr>
              <p:grpSpPr>
                <a:xfrm>
                  <a:off x="2362200" y="2743200"/>
                  <a:ext cx="1828800" cy="457200"/>
                  <a:chOff x="762000" y="4191000"/>
                  <a:chExt cx="1828800" cy="457200"/>
                </a:xfrm>
                <a:grpFill/>
              </p:grpSpPr>
              <p:sp>
                <p:nvSpPr>
                  <p:cNvPr id="428"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429" name="Rectangle 428"/>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430" name="Rectangle 429"/>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431" name="Rectangle 430"/>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397" name="Group 23"/>
                <p:cNvGrpSpPr/>
                <p:nvPr/>
              </p:nvGrpSpPr>
              <p:grpSpPr>
                <a:xfrm>
                  <a:off x="2362200" y="4114800"/>
                  <a:ext cx="1828800" cy="457200"/>
                  <a:chOff x="762000" y="4191000"/>
                  <a:chExt cx="1828800" cy="457200"/>
                </a:xfrm>
                <a:grpFill/>
              </p:grpSpPr>
              <p:sp>
                <p:nvSpPr>
                  <p:cNvPr id="424" name="Rectangle 423"/>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425" name="Rectangle 424"/>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426" name="Rectangle 425"/>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427" name="Rectangle 426"/>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414" name="Group 28"/>
                <p:cNvGrpSpPr/>
                <p:nvPr/>
              </p:nvGrpSpPr>
              <p:grpSpPr>
                <a:xfrm>
                  <a:off x="2362200" y="3200400"/>
                  <a:ext cx="1828800" cy="457200"/>
                  <a:chOff x="762000" y="4191000"/>
                  <a:chExt cx="1828800" cy="457200"/>
                </a:xfrm>
                <a:grpFill/>
              </p:grpSpPr>
              <p:sp>
                <p:nvSpPr>
                  <p:cNvPr id="420" name="Rectangle 419"/>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421" name="Rectangle 420"/>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422" name="Rectangle 421"/>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423" name="Rectangle 422"/>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415" name="Group 33"/>
                <p:cNvGrpSpPr/>
                <p:nvPr/>
              </p:nvGrpSpPr>
              <p:grpSpPr>
                <a:xfrm>
                  <a:off x="2362200" y="3657600"/>
                  <a:ext cx="1828800" cy="457200"/>
                  <a:chOff x="762000" y="4191000"/>
                  <a:chExt cx="1828800" cy="457200"/>
                </a:xfrm>
                <a:grpFill/>
              </p:grpSpPr>
              <p:sp>
                <p:nvSpPr>
                  <p:cNvPr id="416" name="Rectangle 415"/>
                  <p:cNvSpPr/>
                  <p:nvPr/>
                </p:nvSpPr>
                <p:spPr>
                  <a:xfrm>
                    <a:off x="7620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417" name="Rectangle 416"/>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418" name="Rectangle 417"/>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419" name="Rectangle 418"/>
                  <p:cNvSpPr/>
                  <p:nvPr/>
                </p:nvSpPr>
                <p:spPr>
                  <a:xfrm>
                    <a:off x="12192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390" name="Rectangle 389"/>
              <p:cNvSpPr/>
              <p:nvPr/>
            </p:nvSpPr>
            <p:spPr>
              <a:xfrm>
                <a:off x="2667000" y="2819400"/>
                <a:ext cx="7620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372" name="TextBox 371"/>
            <p:cNvSpPr txBox="1"/>
            <p:nvPr/>
          </p:nvSpPr>
          <p:spPr>
            <a:xfrm>
              <a:off x="304800" y="1524000"/>
              <a:ext cx="473206" cy="338554"/>
            </a:xfrm>
            <a:prstGeom prst="rect">
              <a:avLst/>
            </a:prstGeom>
            <a:noFill/>
          </p:spPr>
          <p:txBody>
            <a:bodyPr wrap="none" rtlCol="0">
              <a:spAutoFit/>
            </a:bodyPr>
            <a:lstStyle/>
            <a:p>
              <a:r>
                <a:rPr lang="en-US" sz="1600" b="1" dirty="0" smtClean="0"/>
                <a:t>B</a:t>
              </a:r>
              <a:r>
                <a:rPr lang="sr-Latn-RS" sz="1600" b="1" baseline="-25000" dirty="0" smtClean="0"/>
                <a:t>0,</a:t>
              </a:r>
              <a:r>
                <a:rPr lang="en-US" sz="1600" b="1" baseline="-25000" dirty="0" smtClean="0"/>
                <a:t>1</a:t>
              </a:r>
              <a:endParaRPr lang="en-US" sz="1600" b="1" dirty="0"/>
            </a:p>
          </p:txBody>
        </p:sp>
      </p:grpSp>
      <p:grpSp>
        <p:nvGrpSpPr>
          <p:cNvPr id="454" name="Group 495"/>
          <p:cNvGrpSpPr/>
          <p:nvPr/>
        </p:nvGrpSpPr>
        <p:grpSpPr>
          <a:xfrm>
            <a:off x="4572000" y="4114800"/>
            <a:ext cx="3429000" cy="1828800"/>
            <a:chOff x="304800" y="1524000"/>
            <a:chExt cx="3429000" cy="1828800"/>
          </a:xfrm>
        </p:grpSpPr>
        <p:grpSp>
          <p:nvGrpSpPr>
            <p:cNvPr id="455" name="Group 115"/>
            <p:cNvGrpSpPr/>
            <p:nvPr/>
          </p:nvGrpSpPr>
          <p:grpSpPr>
            <a:xfrm>
              <a:off x="762000" y="1981200"/>
              <a:ext cx="1371600" cy="1371600"/>
              <a:chOff x="762000" y="2133600"/>
              <a:chExt cx="1371600" cy="1371600"/>
            </a:xfrm>
          </p:grpSpPr>
          <p:grpSp>
            <p:nvGrpSpPr>
              <p:cNvPr id="501" name="Group 67"/>
              <p:cNvGrpSpPr/>
              <p:nvPr/>
            </p:nvGrpSpPr>
            <p:grpSpPr>
              <a:xfrm>
                <a:off x="762000" y="2133600"/>
                <a:ext cx="1371600" cy="1371600"/>
                <a:chOff x="2362200" y="2743200"/>
                <a:chExt cx="1828800" cy="1828800"/>
              </a:xfrm>
              <a:solidFill>
                <a:schemeClr val="accent5">
                  <a:lumMod val="20000"/>
                  <a:lumOff val="80000"/>
                </a:schemeClr>
              </a:solidFill>
            </p:grpSpPr>
            <p:grpSp>
              <p:nvGrpSpPr>
                <p:cNvPr id="503" name="Group 22"/>
                <p:cNvGrpSpPr/>
                <p:nvPr/>
              </p:nvGrpSpPr>
              <p:grpSpPr>
                <a:xfrm>
                  <a:off x="2362200" y="2743200"/>
                  <a:ext cx="1828800" cy="457200"/>
                  <a:chOff x="762000" y="4191000"/>
                  <a:chExt cx="1828800" cy="457200"/>
                </a:xfrm>
                <a:grpFill/>
              </p:grpSpPr>
              <p:sp>
                <p:nvSpPr>
                  <p:cNvPr id="519"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0,0</a:t>
                    </a:r>
                    <a:endParaRPr lang="en-US" sz="800" baseline="-25000" dirty="0" smtClean="0">
                      <a:solidFill>
                        <a:schemeClr val="tx1"/>
                      </a:solidFill>
                    </a:endParaRPr>
                  </a:p>
                </p:txBody>
              </p:sp>
              <p:sp>
                <p:nvSpPr>
                  <p:cNvPr id="520" name="Rectangle 519"/>
                  <p:cNvSpPr/>
                  <p:nvPr/>
                </p:nvSpPr>
                <p:spPr>
                  <a:xfrm>
                    <a:off x="21336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3,0</a:t>
                    </a:r>
                    <a:endParaRPr lang="en-US" sz="800" baseline="-25000" dirty="0" smtClean="0">
                      <a:solidFill>
                        <a:schemeClr val="tx1"/>
                      </a:solidFill>
                    </a:endParaRPr>
                  </a:p>
                </p:txBody>
              </p:sp>
              <p:sp>
                <p:nvSpPr>
                  <p:cNvPr id="521" name="Rectangle 520"/>
                  <p:cNvSpPr/>
                  <p:nvPr/>
                </p:nvSpPr>
                <p:spPr>
                  <a:xfrm>
                    <a:off x="16764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2,0</a:t>
                    </a:r>
                    <a:endParaRPr lang="en-US" sz="800" baseline="-25000" dirty="0" smtClean="0">
                      <a:solidFill>
                        <a:schemeClr val="tx1"/>
                      </a:solidFill>
                    </a:endParaRPr>
                  </a:p>
                </p:txBody>
              </p:sp>
              <p:sp>
                <p:nvSpPr>
                  <p:cNvPr id="522" name="Rectangle 521"/>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1,0</a:t>
                    </a:r>
                    <a:endParaRPr lang="en-US" sz="800" baseline="-25000" dirty="0" smtClean="0">
                      <a:solidFill>
                        <a:schemeClr val="tx1"/>
                      </a:solidFill>
                    </a:endParaRPr>
                  </a:p>
                </p:txBody>
              </p:sp>
            </p:grpSp>
            <p:grpSp>
              <p:nvGrpSpPr>
                <p:cNvPr id="504" name="Group 23"/>
                <p:cNvGrpSpPr/>
                <p:nvPr/>
              </p:nvGrpSpPr>
              <p:grpSpPr>
                <a:xfrm>
                  <a:off x="2362200" y="4114800"/>
                  <a:ext cx="1828800" cy="457200"/>
                  <a:chOff x="762000" y="4191000"/>
                  <a:chExt cx="1828800" cy="457200"/>
                </a:xfrm>
                <a:grpFill/>
              </p:grpSpPr>
              <p:sp>
                <p:nvSpPr>
                  <p:cNvPr id="515" name="Rectangle 514"/>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0,3</a:t>
                    </a:r>
                    <a:endParaRPr lang="en-US" sz="800" baseline="-25000" dirty="0" smtClean="0">
                      <a:solidFill>
                        <a:schemeClr val="tx1"/>
                      </a:solidFill>
                    </a:endParaRPr>
                  </a:p>
                </p:txBody>
              </p:sp>
              <p:sp>
                <p:nvSpPr>
                  <p:cNvPr id="516" name="Rectangle 515"/>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3,3</a:t>
                    </a:r>
                    <a:endParaRPr lang="en-US" sz="800" baseline="-25000" dirty="0" smtClean="0">
                      <a:solidFill>
                        <a:schemeClr val="tx1"/>
                      </a:solidFill>
                    </a:endParaRPr>
                  </a:p>
                </p:txBody>
              </p:sp>
              <p:sp>
                <p:nvSpPr>
                  <p:cNvPr id="517" name="Rectangle 516"/>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2,3</a:t>
                    </a:r>
                    <a:endParaRPr lang="en-US" sz="800" baseline="-25000" dirty="0" smtClean="0">
                      <a:solidFill>
                        <a:schemeClr val="tx1"/>
                      </a:solidFill>
                    </a:endParaRPr>
                  </a:p>
                </p:txBody>
              </p:sp>
              <p:sp>
                <p:nvSpPr>
                  <p:cNvPr id="518" name="Rectangle 517"/>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1,3</a:t>
                    </a:r>
                    <a:endParaRPr lang="en-US" sz="800" baseline="-25000" dirty="0" smtClean="0">
                      <a:solidFill>
                        <a:schemeClr val="tx1"/>
                      </a:solidFill>
                    </a:endParaRPr>
                  </a:p>
                </p:txBody>
              </p:sp>
            </p:grpSp>
            <p:grpSp>
              <p:nvGrpSpPr>
                <p:cNvPr id="505" name="Group 28"/>
                <p:cNvGrpSpPr/>
                <p:nvPr/>
              </p:nvGrpSpPr>
              <p:grpSpPr>
                <a:xfrm>
                  <a:off x="2362200" y="3200400"/>
                  <a:ext cx="1828800" cy="457200"/>
                  <a:chOff x="762000" y="4191000"/>
                  <a:chExt cx="1828800" cy="457200"/>
                </a:xfrm>
                <a:grpFill/>
              </p:grpSpPr>
              <p:sp>
                <p:nvSpPr>
                  <p:cNvPr id="511" name="Rectangle 510"/>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0,1</a:t>
                    </a:r>
                    <a:endParaRPr lang="en-US" sz="800" baseline="-25000" dirty="0" smtClean="0">
                      <a:solidFill>
                        <a:schemeClr val="tx1"/>
                      </a:solidFill>
                    </a:endParaRPr>
                  </a:p>
                </p:txBody>
              </p:sp>
              <p:sp>
                <p:nvSpPr>
                  <p:cNvPr id="512" name="Rectangle 511"/>
                  <p:cNvSpPr/>
                  <p:nvPr/>
                </p:nvSpPr>
                <p:spPr>
                  <a:xfrm>
                    <a:off x="21336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3,1</a:t>
                    </a:r>
                    <a:endParaRPr lang="en-US" sz="800" baseline="-25000" dirty="0" smtClean="0">
                      <a:solidFill>
                        <a:schemeClr val="tx1"/>
                      </a:solidFill>
                    </a:endParaRPr>
                  </a:p>
                </p:txBody>
              </p:sp>
              <p:sp>
                <p:nvSpPr>
                  <p:cNvPr id="513" name="Rectangle 512"/>
                  <p:cNvSpPr/>
                  <p:nvPr/>
                </p:nvSpPr>
                <p:spPr>
                  <a:xfrm>
                    <a:off x="16764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2,1</a:t>
                    </a:r>
                    <a:endParaRPr lang="en-US" sz="800" baseline="-25000" dirty="0" smtClean="0">
                      <a:solidFill>
                        <a:schemeClr val="tx1"/>
                      </a:solidFill>
                    </a:endParaRPr>
                  </a:p>
                </p:txBody>
              </p:sp>
              <p:sp>
                <p:nvSpPr>
                  <p:cNvPr id="514" name="Rectangle 513"/>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1,1</a:t>
                    </a:r>
                    <a:endParaRPr lang="en-US" sz="800" baseline="-25000" dirty="0" smtClean="0">
                      <a:solidFill>
                        <a:schemeClr val="tx1"/>
                      </a:solidFill>
                    </a:endParaRPr>
                  </a:p>
                </p:txBody>
              </p:sp>
            </p:grpSp>
            <p:grpSp>
              <p:nvGrpSpPr>
                <p:cNvPr id="506" name="Group 33"/>
                <p:cNvGrpSpPr/>
                <p:nvPr/>
              </p:nvGrpSpPr>
              <p:grpSpPr>
                <a:xfrm>
                  <a:off x="2362200" y="3657600"/>
                  <a:ext cx="1828800" cy="457200"/>
                  <a:chOff x="762000" y="4191000"/>
                  <a:chExt cx="1828800" cy="457200"/>
                </a:xfrm>
                <a:grpFill/>
              </p:grpSpPr>
              <p:sp>
                <p:nvSpPr>
                  <p:cNvPr id="507" name="Rectangle 506"/>
                  <p:cNvSpPr/>
                  <p:nvPr/>
                </p:nvSpPr>
                <p:spPr>
                  <a:xfrm>
                    <a:off x="7620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0,2</a:t>
                    </a:r>
                    <a:endParaRPr lang="en-US" sz="800" baseline="-25000" dirty="0" smtClean="0">
                      <a:solidFill>
                        <a:schemeClr val="tx1"/>
                      </a:solidFill>
                    </a:endParaRPr>
                  </a:p>
                </p:txBody>
              </p:sp>
              <p:sp>
                <p:nvSpPr>
                  <p:cNvPr id="508" name="Rectangle 507"/>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3,2</a:t>
                    </a:r>
                    <a:endParaRPr lang="en-US" sz="800" baseline="-25000" dirty="0" smtClean="0">
                      <a:solidFill>
                        <a:schemeClr val="tx1"/>
                      </a:solidFill>
                    </a:endParaRPr>
                  </a:p>
                </p:txBody>
              </p:sp>
              <p:sp>
                <p:nvSpPr>
                  <p:cNvPr id="509" name="Rectangle 508"/>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2,2</a:t>
                    </a:r>
                    <a:endParaRPr lang="en-US" sz="800" baseline="-25000" dirty="0" smtClean="0">
                      <a:solidFill>
                        <a:schemeClr val="tx1"/>
                      </a:solidFill>
                    </a:endParaRPr>
                  </a:p>
                </p:txBody>
              </p:sp>
              <p:sp>
                <p:nvSpPr>
                  <p:cNvPr id="510" name="Rectangle 509"/>
                  <p:cNvSpPr/>
                  <p:nvPr/>
                </p:nvSpPr>
                <p:spPr>
                  <a:xfrm>
                    <a:off x="12192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sz="800" dirty="0" smtClean="0">
                        <a:solidFill>
                          <a:schemeClr val="tx1"/>
                        </a:solidFill>
                      </a:rPr>
                      <a:t>Md 1,2</a:t>
                    </a:r>
                    <a:endParaRPr lang="en-US" sz="800" baseline="-25000" dirty="0" smtClean="0">
                      <a:solidFill>
                        <a:schemeClr val="tx1"/>
                      </a:solidFill>
                    </a:endParaRPr>
                  </a:p>
                </p:txBody>
              </p:sp>
            </p:grpSp>
          </p:grpSp>
          <p:sp>
            <p:nvSpPr>
              <p:cNvPr id="502" name="Rectangle 501"/>
              <p:cNvSpPr/>
              <p:nvPr/>
            </p:nvSpPr>
            <p:spPr>
              <a:xfrm>
                <a:off x="1447800" y="3124200"/>
                <a:ext cx="685800" cy="7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grpSp>
          <p:nvGrpSpPr>
            <p:cNvPr id="456" name="Group 113"/>
            <p:cNvGrpSpPr/>
            <p:nvPr/>
          </p:nvGrpSpPr>
          <p:grpSpPr>
            <a:xfrm>
              <a:off x="2362200" y="1981200"/>
              <a:ext cx="1371600" cy="1371600"/>
              <a:chOff x="2362200" y="2133600"/>
              <a:chExt cx="1371600" cy="1371600"/>
            </a:xfrm>
          </p:grpSpPr>
          <p:grpSp>
            <p:nvGrpSpPr>
              <p:cNvPr id="458" name="Group 25"/>
              <p:cNvGrpSpPr/>
              <p:nvPr/>
            </p:nvGrpSpPr>
            <p:grpSpPr>
              <a:xfrm>
                <a:off x="2362200" y="2133600"/>
                <a:ext cx="1371600" cy="1371600"/>
                <a:chOff x="2362200" y="2743200"/>
                <a:chExt cx="1828800" cy="1828800"/>
              </a:xfrm>
              <a:solidFill>
                <a:schemeClr val="accent5">
                  <a:lumMod val="20000"/>
                  <a:lumOff val="80000"/>
                </a:schemeClr>
              </a:solidFill>
            </p:grpSpPr>
            <p:grpSp>
              <p:nvGrpSpPr>
                <p:cNvPr id="462" name="Group 22"/>
                <p:cNvGrpSpPr/>
                <p:nvPr/>
              </p:nvGrpSpPr>
              <p:grpSpPr>
                <a:xfrm>
                  <a:off x="2362200" y="2743200"/>
                  <a:ext cx="1828800" cy="457200"/>
                  <a:chOff x="762000" y="4191000"/>
                  <a:chExt cx="1828800" cy="457200"/>
                </a:xfrm>
                <a:grpFill/>
              </p:grpSpPr>
              <p:sp>
                <p:nvSpPr>
                  <p:cNvPr id="497" name="Rectangle 4"/>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0,0</a:t>
                    </a:r>
                    <a:endParaRPr lang="en-US" sz="800" baseline="-25000" dirty="0" smtClean="0">
                      <a:solidFill>
                        <a:schemeClr val="tx1"/>
                      </a:solidFill>
                    </a:endParaRPr>
                  </a:p>
                </p:txBody>
              </p:sp>
              <p:sp>
                <p:nvSpPr>
                  <p:cNvPr id="498" name="Rectangle 497"/>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3,0</a:t>
                    </a:r>
                    <a:endParaRPr lang="en-US" sz="800" baseline="-25000" dirty="0" smtClean="0">
                      <a:solidFill>
                        <a:schemeClr val="tx1"/>
                      </a:solidFill>
                    </a:endParaRPr>
                  </a:p>
                </p:txBody>
              </p:sp>
              <p:sp>
                <p:nvSpPr>
                  <p:cNvPr id="499" name="Rectangle 498"/>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2,0</a:t>
                    </a:r>
                    <a:endParaRPr lang="en-US" sz="800" baseline="-25000" dirty="0" smtClean="0">
                      <a:solidFill>
                        <a:schemeClr val="tx1"/>
                      </a:solidFill>
                    </a:endParaRPr>
                  </a:p>
                </p:txBody>
              </p:sp>
              <p:sp>
                <p:nvSpPr>
                  <p:cNvPr id="500" name="Rectangle 499"/>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1,0</a:t>
                    </a:r>
                    <a:endParaRPr lang="en-US" sz="800" baseline="-25000" dirty="0" smtClean="0">
                      <a:solidFill>
                        <a:schemeClr val="tx1"/>
                      </a:solidFill>
                    </a:endParaRPr>
                  </a:p>
                </p:txBody>
              </p:sp>
            </p:grpSp>
            <p:grpSp>
              <p:nvGrpSpPr>
                <p:cNvPr id="463" name="Group 23"/>
                <p:cNvGrpSpPr/>
                <p:nvPr/>
              </p:nvGrpSpPr>
              <p:grpSpPr>
                <a:xfrm>
                  <a:off x="2362200" y="4114800"/>
                  <a:ext cx="1828800" cy="457200"/>
                  <a:chOff x="762000" y="4191000"/>
                  <a:chExt cx="1828800" cy="457200"/>
                </a:xfrm>
                <a:grpFill/>
              </p:grpSpPr>
              <p:sp>
                <p:nvSpPr>
                  <p:cNvPr id="477" name="Rectangle 476"/>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0,3</a:t>
                    </a:r>
                    <a:endParaRPr lang="en-US" sz="800" baseline="-25000" dirty="0" smtClean="0">
                      <a:solidFill>
                        <a:schemeClr val="tx1"/>
                      </a:solidFill>
                    </a:endParaRPr>
                  </a:p>
                </p:txBody>
              </p:sp>
              <p:sp>
                <p:nvSpPr>
                  <p:cNvPr id="478" name="Rectangle 477"/>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3,3</a:t>
                    </a:r>
                    <a:endParaRPr lang="en-US" sz="800" baseline="-25000" dirty="0" smtClean="0">
                      <a:solidFill>
                        <a:schemeClr val="tx1"/>
                      </a:solidFill>
                    </a:endParaRPr>
                  </a:p>
                </p:txBody>
              </p:sp>
              <p:sp>
                <p:nvSpPr>
                  <p:cNvPr id="479" name="Rectangle 478"/>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2,3</a:t>
                    </a:r>
                    <a:endParaRPr lang="en-US" sz="800" baseline="-25000" dirty="0" smtClean="0">
                      <a:solidFill>
                        <a:schemeClr val="tx1"/>
                      </a:solidFill>
                    </a:endParaRPr>
                  </a:p>
                </p:txBody>
              </p:sp>
              <p:sp>
                <p:nvSpPr>
                  <p:cNvPr id="496" name="Rectangle 495"/>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1,3</a:t>
                    </a:r>
                    <a:endParaRPr lang="en-US" sz="800" baseline="-25000" dirty="0" smtClean="0">
                      <a:solidFill>
                        <a:schemeClr val="tx1"/>
                      </a:solidFill>
                    </a:endParaRPr>
                  </a:p>
                </p:txBody>
              </p:sp>
            </p:grpSp>
            <p:grpSp>
              <p:nvGrpSpPr>
                <p:cNvPr id="464" name="Group 28"/>
                <p:cNvGrpSpPr/>
                <p:nvPr/>
              </p:nvGrpSpPr>
              <p:grpSpPr>
                <a:xfrm>
                  <a:off x="2362200" y="3200400"/>
                  <a:ext cx="1828800" cy="457200"/>
                  <a:chOff x="762000" y="4191000"/>
                  <a:chExt cx="1828800" cy="457200"/>
                </a:xfrm>
                <a:grpFill/>
              </p:grpSpPr>
              <p:sp>
                <p:nvSpPr>
                  <p:cNvPr id="470" name="Rectangle 469"/>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0,1</a:t>
                    </a:r>
                    <a:endParaRPr lang="en-US" sz="800" baseline="-25000" dirty="0" smtClean="0">
                      <a:solidFill>
                        <a:schemeClr val="tx1"/>
                      </a:solidFill>
                    </a:endParaRPr>
                  </a:p>
                </p:txBody>
              </p:sp>
              <p:sp>
                <p:nvSpPr>
                  <p:cNvPr id="471" name="Rectangle 470"/>
                  <p:cNvSpPr/>
                  <p:nvPr/>
                </p:nvSpPr>
                <p:spPr>
                  <a:xfrm>
                    <a:off x="21336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3,1</a:t>
                    </a:r>
                    <a:endParaRPr lang="en-US" sz="800" baseline="-25000" dirty="0" smtClean="0">
                      <a:solidFill>
                        <a:schemeClr val="tx1"/>
                      </a:solidFill>
                    </a:endParaRPr>
                  </a:p>
                </p:txBody>
              </p:sp>
              <p:sp>
                <p:nvSpPr>
                  <p:cNvPr id="472" name="Rectangle 471"/>
                  <p:cNvSpPr/>
                  <p:nvPr/>
                </p:nvSpPr>
                <p:spPr>
                  <a:xfrm>
                    <a:off x="1676400" y="4191000"/>
                    <a:ext cx="457200" cy="457200"/>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2,1</a:t>
                    </a:r>
                    <a:endParaRPr lang="en-US" sz="800" baseline="-25000" dirty="0" smtClean="0">
                      <a:solidFill>
                        <a:schemeClr val="tx1"/>
                      </a:solidFill>
                    </a:endParaRPr>
                  </a:p>
                </p:txBody>
              </p:sp>
              <p:sp>
                <p:nvSpPr>
                  <p:cNvPr id="476" name="Rectangle 475"/>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1,1</a:t>
                    </a:r>
                    <a:endParaRPr lang="en-US" sz="800" baseline="-25000" dirty="0" smtClean="0">
                      <a:solidFill>
                        <a:schemeClr val="tx1"/>
                      </a:solidFill>
                    </a:endParaRPr>
                  </a:p>
                </p:txBody>
              </p:sp>
            </p:grpSp>
            <p:grpSp>
              <p:nvGrpSpPr>
                <p:cNvPr id="465" name="Group 33"/>
                <p:cNvGrpSpPr/>
                <p:nvPr/>
              </p:nvGrpSpPr>
              <p:grpSpPr>
                <a:xfrm>
                  <a:off x="2362200" y="3657600"/>
                  <a:ext cx="1828800" cy="457200"/>
                  <a:chOff x="762000" y="4191000"/>
                  <a:chExt cx="1828800" cy="457200"/>
                </a:xfrm>
                <a:grpFill/>
              </p:grpSpPr>
              <p:sp>
                <p:nvSpPr>
                  <p:cNvPr id="466" name="Rectangle 465"/>
                  <p:cNvSpPr/>
                  <p:nvPr/>
                </p:nvSpPr>
                <p:spPr>
                  <a:xfrm>
                    <a:off x="7620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0,2</a:t>
                    </a:r>
                    <a:endParaRPr lang="en-US" sz="800" baseline="-25000" dirty="0" smtClean="0">
                      <a:solidFill>
                        <a:schemeClr val="tx1"/>
                      </a:solidFill>
                    </a:endParaRPr>
                  </a:p>
                </p:txBody>
              </p:sp>
              <p:sp>
                <p:nvSpPr>
                  <p:cNvPr id="467" name="Rectangle 466"/>
                  <p:cNvSpPr/>
                  <p:nvPr/>
                </p:nvSpPr>
                <p:spPr>
                  <a:xfrm>
                    <a:off x="21336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3,2</a:t>
                    </a:r>
                    <a:endParaRPr lang="en-US" sz="800" baseline="-25000" dirty="0" smtClean="0">
                      <a:solidFill>
                        <a:schemeClr val="tx1"/>
                      </a:solidFill>
                    </a:endParaRPr>
                  </a:p>
                </p:txBody>
              </p:sp>
              <p:sp>
                <p:nvSpPr>
                  <p:cNvPr id="468" name="Rectangle 467"/>
                  <p:cNvSpPr/>
                  <p:nvPr/>
                </p:nvSpPr>
                <p:spPr>
                  <a:xfrm>
                    <a:off x="1676400" y="4191000"/>
                    <a:ext cx="457200" cy="457200"/>
                  </a:xfrm>
                  <a:prstGeom prst="rect">
                    <a:avLst/>
                  </a:prstGeom>
                  <a:solidFill>
                    <a:schemeClr val="accent1">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2,2</a:t>
                    </a:r>
                    <a:endParaRPr lang="en-US" sz="800" baseline="-25000" dirty="0" smtClean="0">
                      <a:solidFill>
                        <a:schemeClr val="tx1"/>
                      </a:solidFill>
                    </a:endParaRPr>
                  </a:p>
                </p:txBody>
              </p:sp>
              <p:sp>
                <p:nvSpPr>
                  <p:cNvPr id="469" name="Rectangle 468"/>
                  <p:cNvSpPr/>
                  <p:nvPr/>
                </p:nvSpPr>
                <p:spPr>
                  <a:xfrm>
                    <a:off x="1219200" y="4191000"/>
                    <a:ext cx="457200" cy="457200"/>
                  </a:xfrm>
                  <a:prstGeom prst="rect">
                    <a:avLst/>
                  </a:prstGeom>
                  <a:solidFill>
                    <a:schemeClr val="accent5">
                      <a:lumMod val="20000"/>
                      <a:lumOff val="8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smtClean="0">
                        <a:solidFill>
                          <a:schemeClr val="tx1"/>
                        </a:solidFill>
                      </a:rPr>
                      <a:t>Nd</a:t>
                    </a:r>
                    <a:r>
                      <a:rPr lang="en-US" sz="800" dirty="0" smtClean="0">
                        <a:solidFill>
                          <a:schemeClr val="tx1"/>
                        </a:solidFill>
                      </a:rPr>
                      <a:t> 1,2</a:t>
                    </a:r>
                    <a:endParaRPr lang="en-US" sz="800" baseline="-25000" dirty="0" smtClean="0">
                      <a:solidFill>
                        <a:schemeClr val="tx1"/>
                      </a:solidFill>
                    </a:endParaRPr>
                  </a:p>
                </p:txBody>
              </p:sp>
            </p:grpSp>
          </p:grpSp>
          <p:sp>
            <p:nvSpPr>
              <p:cNvPr id="459" name="Rectangle 458"/>
              <p:cNvSpPr/>
              <p:nvPr/>
            </p:nvSpPr>
            <p:spPr>
              <a:xfrm>
                <a:off x="3352800" y="2819400"/>
                <a:ext cx="76200" cy="685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sp>
          <p:nvSpPr>
            <p:cNvPr id="457" name="TextBox 456"/>
            <p:cNvSpPr txBox="1"/>
            <p:nvPr/>
          </p:nvSpPr>
          <p:spPr>
            <a:xfrm>
              <a:off x="304800" y="1524000"/>
              <a:ext cx="473206" cy="338554"/>
            </a:xfrm>
            <a:prstGeom prst="rect">
              <a:avLst/>
            </a:prstGeom>
            <a:noFill/>
          </p:spPr>
          <p:txBody>
            <a:bodyPr wrap="none" rtlCol="0">
              <a:spAutoFit/>
            </a:bodyPr>
            <a:lstStyle/>
            <a:p>
              <a:r>
                <a:rPr lang="en-US" sz="1600" b="1" dirty="0" smtClean="0"/>
                <a:t>B</a:t>
              </a:r>
              <a:r>
                <a:rPr lang="en-US" sz="1600" b="1" baseline="-25000" dirty="0" smtClean="0"/>
                <a:t>1</a:t>
              </a:r>
              <a:r>
                <a:rPr lang="sr-Latn-RS" sz="1600" b="1" baseline="-25000" dirty="0" smtClean="0"/>
                <a:t>,</a:t>
              </a:r>
              <a:r>
                <a:rPr lang="en-US" sz="1600" b="1" baseline="-25000" dirty="0" smtClean="0"/>
                <a:t>1</a:t>
              </a:r>
              <a:endParaRPr lang="en-US" sz="1600" b="1" dirty="0"/>
            </a:p>
          </p:txBody>
        </p:sp>
      </p:grpSp>
      <p:sp>
        <p:nvSpPr>
          <p:cNvPr id="196" name="TextBox 195"/>
          <p:cNvSpPr txBox="1"/>
          <p:nvPr/>
        </p:nvSpPr>
        <p:spPr>
          <a:xfrm>
            <a:off x="528929" y="1447800"/>
            <a:ext cx="3305200" cy="369332"/>
          </a:xfrm>
          <a:prstGeom prst="rect">
            <a:avLst/>
          </a:prstGeom>
          <a:noFill/>
        </p:spPr>
        <p:txBody>
          <a:bodyPr wrap="none" rtlCol="0">
            <a:spAutoFit/>
          </a:bodyPr>
          <a:lstStyle/>
          <a:p>
            <a:r>
              <a:rPr lang="en-US" b="1" dirty="0" smtClean="0">
                <a:solidFill>
                  <a:srgbClr val="C00000"/>
                </a:solidFill>
              </a:rPr>
              <a:t>DRUGA FAZA, SVI BLOKOVI</a:t>
            </a:r>
            <a:endParaRPr lang="sr-Latn-RS" b="1" dirty="0">
              <a:solidFill>
                <a:srgbClr val="C00000"/>
              </a:solidFill>
            </a:endParaRPr>
          </a:p>
        </p:txBody>
      </p:sp>
      <p:sp>
        <p:nvSpPr>
          <p:cNvPr id="11" name="Slide Number Placeholder 10"/>
          <p:cNvSpPr>
            <a:spLocks noGrp="1"/>
          </p:cNvSpPr>
          <p:nvPr>
            <p:ph type="sldNum" sz="quarter" idx="12"/>
          </p:nvPr>
        </p:nvSpPr>
        <p:spPr/>
        <p:txBody>
          <a:bodyPr/>
          <a:lstStyle/>
          <a:p>
            <a:fld id="{036081D1-8380-407A-ABF3-D12854566F9D}" type="slidenum">
              <a:rPr lang="en-US" smtClean="0"/>
              <a:pPr/>
              <a:t>42</a:t>
            </a:fld>
            <a:endParaRPr lang="en-US" dirty="0"/>
          </a:p>
        </p:txBody>
      </p:sp>
    </p:spTree>
    <p:extLst>
      <p:ext uri="{BB962C8B-B14F-4D97-AF65-F5344CB8AC3E}">
        <p14:creationId xmlns:p14="http://schemas.microsoft.com/office/powerpoint/2010/main" val="266075958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sr-Latn-RS" dirty="0" smtClean="0"/>
              <a:t>(7)</a:t>
            </a:r>
            <a:endParaRPr lang="sr-Latn-RS" dirty="0"/>
          </a:p>
        </p:txBody>
      </p:sp>
      <p:sp>
        <p:nvSpPr>
          <p:cNvPr id="3" name="Content Placeholder 2"/>
          <p:cNvSpPr>
            <a:spLocks noGrp="1"/>
          </p:cNvSpPr>
          <p:nvPr>
            <p:ph idx="1"/>
          </p:nvPr>
        </p:nvSpPr>
        <p:spPr/>
        <p:txBody>
          <a:bodyPr/>
          <a:lstStyle/>
          <a:p>
            <a:r>
              <a:rPr lang="en-US" b="1" dirty="0" smtClean="0">
                <a:solidFill>
                  <a:srgbClr val="C00000"/>
                </a:solidFill>
              </a:rPr>
              <a:t>BLOK (0,0) </a:t>
            </a:r>
          </a:p>
          <a:p>
            <a:endParaRPr lang="sr-Latn-RS" b="1" dirty="0">
              <a:solidFill>
                <a:srgbClr val="C00000"/>
              </a:solidFill>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328" y="2057400"/>
            <a:ext cx="8077200" cy="461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036081D1-8380-407A-ABF3-D12854566F9D}" type="slidenum">
              <a:rPr lang="en-US" smtClean="0"/>
              <a:pPr/>
              <a:t>43</a:t>
            </a:fld>
            <a:endParaRPr lang="en-US" dirty="0"/>
          </a:p>
        </p:txBody>
      </p:sp>
    </p:spTree>
    <p:extLst>
      <p:ext uri="{BB962C8B-B14F-4D97-AF65-F5344CB8AC3E}">
        <p14:creationId xmlns:p14="http://schemas.microsoft.com/office/powerpoint/2010/main" val="218828131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sr-Latn-RS" dirty="0" smtClean="0"/>
              <a:t>(8)</a:t>
            </a:r>
            <a:endParaRPr lang="en-US" dirty="0"/>
          </a:p>
        </p:txBody>
      </p:sp>
      <p:sp>
        <p:nvSpPr>
          <p:cNvPr id="3" name="Content Placeholder 2"/>
          <p:cNvSpPr>
            <a:spLocks noGrp="1"/>
          </p:cNvSpPr>
          <p:nvPr>
            <p:ph idx="1"/>
          </p:nvPr>
        </p:nvSpPr>
        <p:spPr/>
        <p:txBody>
          <a:bodyPr>
            <a:normAutofit/>
          </a:bodyPr>
          <a:lstStyle/>
          <a:p>
            <a:r>
              <a:rPr lang="sr-Latn-RS" dirty="0" smtClean="0"/>
              <a:t>Mds čuva elemente Md koji su u S</a:t>
            </a:r>
            <a:r>
              <a:rPr lang="en-US" dirty="0" smtClean="0"/>
              <a:t>H</a:t>
            </a:r>
            <a:r>
              <a:rPr lang="sr-Latn-RS" dirty="0" smtClean="0"/>
              <a:t>M, Nds čuva elemente Nd koji su u SM</a:t>
            </a:r>
          </a:p>
          <a:p>
            <a:r>
              <a:rPr lang="sr-Latn-RS" dirty="0" smtClean="0"/>
              <a:t>Na početku faze 1, 4 niti bloka B</a:t>
            </a:r>
            <a:r>
              <a:rPr lang="sr-Latn-RS" sz="2000" dirty="0" smtClean="0"/>
              <a:t>00</a:t>
            </a:r>
            <a:r>
              <a:rPr lang="sr-Latn-RS" dirty="0" smtClean="0"/>
              <a:t> učitavaju elemente u Mds </a:t>
            </a:r>
          </a:p>
          <a:p>
            <a:r>
              <a:rPr lang="sr-Latn-RS" dirty="0" smtClean="0"/>
              <a:t>T</a:t>
            </a:r>
            <a:r>
              <a:rPr lang="sr-Latn-RS" sz="2000" dirty="0" smtClean="0"/>
              <a:t>00</a:t>
            </a:r>
            <a:r>
              <a:rPr lang="en-US" dirty="0" smtClean="0"/>
              <a:t>: Mds</a:t>
            </a:r>
            <a:r>
              <a:rPr lang="en-US" sz="2000" dirty="0" smtClean="0"/>
              <a:t>00 &lt;- </a:t>
            </a:r>
            <a:r>
              <a:rPr lang="en-US" dirty="0" smtClean="0"/>
              <a:t>Md</a:t>
            </a:r>
            <a:r>
              <a:rPr lang="en-US" sz="2000" dirty="0" smtClean="0"/>
              <a:t>00</a:t>
            </a:r>
          </a:p>
          <a:p>
            <a:r>
              <a:rPr lang="en-US" dirty="0" smtClean="0"/>
              <a:t>T</a:t>
            </a:r>
            <a:r>
              <a:rPr lang="en-US" sz="2000" dirty="0" smtClean="0"/>
              <a:t>10</a:t>
            </a:r>
            <a:r>
              <a:rPr lang="en-US" dirty="0" smtClean="0"/>
              <a:t>: Mds</a:t>
            </a:r>
            <a:r>
              <a:rPr lang="en-US" sz="2000" dirty="0" smtClean="0"/>
              <a:t>10 &lt;- </a:t>
            </a:r>
            <a:r>
              <a:rPr lang="en-US" dirty="0" smtClean="0"/>
              <a:t>Md</a:t>
            </a:r>
            <a:r>
              <a:rPr lang="en-US" sz="2000" dirty="0" smtClean="0"/>
              <a:t>10</a:t>
            </a:r>
            <a:endParaRPr lang="sr-Latn-RS" sz="2000" dirty="0" smtClean="0"/>
          </a:p>
          <a:p>
            <a:r>
              <a:rPr lang="en-US" dirty="0" smtClean="0"/>
              <a:t>T</a:t>
            </a:r>
            <a:r>
              <a:rPr lang="en-US" sz="2000" dirty="0" smtClean="0"/>
              <a:t>01</a:t>
            </a:r>
            <a:r>
              <a:rPr lang="en-US" dirty="0" smtClean="0"/>
              <a:t>: Mds</a:t>
            </a:r>
            <a:r>
              <a:rPr lang="en-US" sz="2000" dirty="0" smtClean="0"/>
              <a:t>01 &lt;- </a:t>
            </a:r>
            <a:r>
              <a:rPr lang="en-US" dirty="0" smtClean="0"/>
              <a:t>Md</a:t>
            </a:r>
            <a:r>
              <a:rPr lang="en-US" sz="2000" dirty="0" smtClean="0"/>
              <a:t>01</a:t>
            </a:r>
          </a:p>
          <a:p>
            <a:r>
              <a:rPr lang="en-US" dirty="0" smtClean="0"/>
              <a:t>T</a:t>
            </a:r>
            <a:r>
              <a:rPr lang="en-US" sz="2000" dirty="0" smtClean="0"/>
              <a:t>11</a:t>
            </a:r>
            <a:r>
              <a:rPr lang="en-US" dirty="0" smtClean="0"/>
              <a:t>: Mds</a:t>
            </a:r>
            <a:r>
              <a:rPr lang="en-US" sz="2000" dirty="0" smtClean="0"/>
              <a:t>11 &lt;</a:t>
            </a:r>
            <a:r>
              <a:rPr lang="en-US" dirty="0" smtClean="0"/>
              <a:t>- Md</a:t>
            </a:r>
            <a:r>
              <a:rPr lang="en-US" sz="2000" dirty="0" smtClean="0"/>
              <a:t>11</a:t>
            </a:r>
          </a:p>
          <a:p>
            <a:r>
              <a:rPr lang="en-US" dirty="0" smtClean="0"/>
              <a:t>Na </a:t>
            </a:r>
            <a:r>
              <a:rPr lang="en-US" dirty="0" err="1" smtClean="0"/>
              <a:t>sli</a:t>
            </a:r>
            <a:r>
              <a:rPr lang="sr-Latn-RS" dirty="0" smtClean="0"/>
              <a:t>č</a:t>
            </a:r>
            <a:r>
              <a:rPr lang="en-US" dirty="0" smtClean="0"/>
              <a:t>an </a:t>
            </a:r>
            <a:r>
              <a:rPr lang="en-US" dirty="0" err="1" smtClean="0"/>
              <a:t>na</a:t>
            </a:r>
            <a:r>
              <a:rPr lang="sr-Latn-RS" dirty="0" smtClean="0"/>
              <a:t>č</a:t>
            </a:r>
            <a:r>
              <a:rPr lang="en-US" dirty="0" smtClean="0"/>
              <a:t>in se u</a:t>
            </a:r>
            <a:r>
              <a:rPr lang="sr-Latn-RS" dirty="0" smtClean="0"/>
              <a:t>č</a:t>
            </a:r>
            <a:r>
              <a:rPr lang="en-US" dirty="0" err="1" smtClean="0"/>
              <a:t>itavaju</a:t>
            </a:r>
            <a:r>
              <a:rPr lang="en-US" dirty="0" smtClean="0"/>
              <a:t> </a:t>
            </a:r>
            <a:r>
              <a:rPr lang="en-US" dirty="0" err="1" smtClean="0"/>
              <a:t>elementi</a:t>
            </a:r>
            <a:r>
              <a:rPr lang="en-US" dirty="0" smtClean="0"/>
              <a:t> </a:t>
            </a:r>
            <a:r>
              <a:rPr lang="sr-Latn-RS" dirty="0" smtClean="0"/>
              <a:t>matrice Nd u Nds</a:t>
            </a:r>
          </a:p>
          <a:p>
            <a:r>
              <a:rPr lang="sr-Latn-RS" dirty="0" smtClean="0"/>
              <a:t>Zatim se izračunavaju odgovarajući </a:t>
            </a:r>
            <a:r>
              <a:rPr lang="en-US" dirty="0" err="1" smtClean="0"/>
              <a:t>skalarni</a:t>
            </a:r>
            <a:r>
              <a:rPr lang="en-US" dirty="0" smtClean="0"/>
              <a:t> </a:t>
            </a:r>
            <a:r>
              <a:rPr lang="sr-Latn-RS" dirty="0" smtClean="0"/>
              <a:t>proizvodi</a:t>
            </a:r>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sr-Latn-RS" dirty="0" smtClean="0"/>
              <a:t>(9)</a:t>
            </a:r>
            <a:endParaRPr lang="en-US" dirty="0"/>
          </a:p>
        </p:txBody>
      </p:sp>
      <p:sp>
        <p:nvSpPr>
          <p:cNvPr id="3" name="Content Placeholder 2"/>
          <p:cNvSpPr>
            <a:spLocks noGrp="1"/>
          </p:cNvSpPr>
          <p:nvPr>
            <p:ph idx="1"/>
          </p:nvPr>
        </p:nvSpPr>
        <p:spPr/>
        <p:txBody>
          <a:bodyPr>
            <a:normAutofit/>
          </a:bodyPr>
          <a:lstStyle/>
          <a:p>
            <a:r>
              <a:rPr lang="sr-Latn-RS" dirty="0" smtClean="0"/>
              <a:t>Svaka vrednost u S</a:t>
            </a:r>
            <a:r>
              <a:rPr lang="en-US" dirty="0" smtClean="0"/>
              <a:t>H</a:t>
            </a:r>
            <a:r>
              <a:rPr lang="sr-Latn-RS" dirty="0" smtClean="0"/>
              <a:t>M se koristi 2 puta</a:t>
            </a:r>
          </a:p>
          <a:p>
            <a:pPr lvl="1"/>
            <a:r>
              <a:rPr lang="sr-Latn-RS" dirty="0" smtClean="0"/>
              <a:t>Npr. i T</a:t>
            </a:r>
            <a:r>
              <a:rPr lang="sr-Latn-RS" sz="1800" dirty="0" smtClean="0"/>
              <a:t>01</a:t>
            </a:r>
            <a:r>
              <a:rPr lang="sr-Latn-RS" dirty="0" smtClean="0"/>
              <a:t> i T11 koriste vrednost Mds11</a:t>
            </a:r>
          </a:p>
          <a:p>
            <a:r>
              <a:rPr lang="sr-Latn-RS" dirty="0" smtClean="0"/>
              <a:t>Na taj način smanjuje se pristup memoriji dva puta</a:t>
            </a:r>
          </a:p>
          <a:p>
            <a:r>
              <a:rPr lang="sr-Latn-RS" dirty="0" smtClean="0"/>
              <a:t>Izračunavanje svakog vektorskog proizvoda se za ovaj primer odvija u 2 faze. </a:t>
            </a:r>
          </a:p>
          <a:p>
            <a:r>
              <a:rPr lang="sr-Latn-RS" dirty="0" smtClean="0"/>
              <a:t>U opštem slučaju</a:t>
            </a:r>
            <a:r>
              <a:rPr lang="en-US" dirty="0" smtClean="0"/>
              <a:t>,</a:t>
            </a:r>
            <a:r>
              <a:rPr lang="sr-Latn-RS" dirty="0" smtClean="0"/>
              <a:t> za matrice reda N i veličinu t</a:t>
            </a:r>
            <a:r>
              <a:rPr lang="en-US" dirty="0" err="1" smtClean="0"/>
              <a:t>ajla</a:t>
            </a:r>
            <a:r>
              <a:rPr lang="sr-Latn-RS" dirty="0" smtClean="0"/>
              <a:t> TILE</a:t>
            </a:r>
            <a:r>
              <a:rPr lang="en-US" dirty="0" smtClean="0"/>
              <a:t>_WIDTH, </a:t>
            </a:r>
            <a:r>
              <a:rPr lang="en-US" dirty="0" err="1" smtClean="0"/>
              <a:t>potrebno</a:t>
            </a:r>
            <a:r>
              <a:rPr lang="en-US" dirty="0" smtClean="0"/>
              <a:t> je </a:t>
            </a:r>
            <a:r>
              <a:rPr lang="sr-Latn-RS" b="1" dirty="0" smtClean="0">
                <a:solidFill>
                  <a:srgbClr val="C00000"/>
                </a:solidFill>
              </a:rPr>
              <a:t>N</a:t>
            </a:r>
            <a:r>
              <a:rPr lang="en-US" b="1" dirty="0" smtClean="0">
                <a:solidFill>
                  <a:srgbClr val="C00000"/>
                </a:solidFill>
              </a:rPr>
              <a:t>/</a:t>
            </a:r>
            <a:r>
              <a:rPr lang="sr-Latn-RS" b="1" dirty="0" smtClean="0">
                <a:solidFill>
                  <a:srgbClr val="C00000"/>
                </a:solidFill>
              </a:rPr>
              <a:t>TILE</a:t>
            </a:r>
            <a:r>
              <a:rPr lang="en-US" b="1" dirty="0" smtClean="0">
                <a:solidFill>
                  <a:srgbClr val="C00000"/>
                </a:solidFill>
              </a:rPr>
              <a:t>_WIDTH </a:t>
            </a:r>
            <a:r>
              <a:rPr lang="en-US" dirty="0" err="1" smtClean="0"/>
              <a:t>faza</a:t>
            </a:r>
            <a:r>
              <a:rPr lang="en-US" dirty="0" smtClean="0"/>
              <a:t> </a:t>
            </a:r>
          </a:p>
          <a:p>
            <a:r>
              <a:rPr lang="en-US" dirty="0" smtClean="0"/>
              <a:t>U </a:t>
            </a:r>
            <a:r>
              <a:rPr lang="en-US" dirty="0" err="1" smtClean="0"/>
              <a:t>svakoj</a:t>
            </a:r>
            <a:r>
              <a:rPr lang="en-US" dirty="0" smtClean="0"/>
              <a:t> </a:t>
            </a:r>
            <a:r>
              <a:rPr lang="en-US" dirty="0" err="1" smtClean="0"/>
              <a:t>fazi</a:t>
            </a:r>
            <a:r>
              <a:rPr lang="en-US" dirty="0" smtClean="0"/>
              <a:t>, </a:t>
            </a:r>
            <a:r>
              <a:rPr lang="en-US" b="1" dirty="0" err="1" smtClean="0"/>
              <a:t>isti</a:t>
            </a:r>
            <a:r>
              <a:rPr lang="en-US" dirty="0" smtClean="0"/>
              <a:t> </a:t>
            </a:r>
            <a:r>
              <a:rPr lang="en-US" dirty="0" err="1" smtClean="0"/>
              <a:t>Mds</a:t>
            </a:r>
            <a:r>
              <a:rPr lang="en-US" dirty="0" smtClean="0"/>
              <a:t> </a:t>
            </a:r>
            <a:r>
              <a:rPr lang="en-US" dirty="0" err="1" smtClean="0"/>
              <a:t>i</a:t>
            </a:r>
            <a:r>
              <a:rPr lang="en-US" dirty="0" smtClean="0"/>
              <a:t> </a:t>
            </a:r>
            <a:r>
              <a:rPr lang="en-US" dirty="0" err="1" smtClean="0"/>
              <a:t>Nds</a:t>
            </a:r>
            <a:r>
              <a:rPr lang="en-US" dirty="0" smtClean="0"/>
              <a:t> se </a:t>
            </a:r>
            <a:r>
              <a:rPr lang="en-US" dirty="0" err="1" smtClean="0"/>
              <a:t>koriste</a:t>
            </a:r>
            <a:r>
              <a:rPr lang="en-US" dirty="0" smtClean="0"/>
              <a:t> </a:t>
            </a:r>
            <a:r>
              <a:rPr lang="sr-Latn-RS" dirty="0" smtClean="0"/>
              <a:t>da čuvaju delove Md i Nd matrica korišćenih u toj fazi</a:t>
            </a:r>
          </a:p>
          <a:p>
            <a:r>
              <a:rPr lang="sr-Latn-RS" dirty="0" smtClean="0"/>
              <a:t>Ovo omogućava da mala S</a:t>
            </a:r>
            <a:r>
              <a:rPr lang="en-US" dirty="0" smtClean="0"/>
              <a:t>H</a:t>
            </a:r>
            <a:r>
              <a:rPr lang="sr-Latn-RS" dirty="0" smtClean="0"/>
              <a:t>M služi za većinu pristupa za koje </a:t>
            </a:r>
            <a:r>
              <a:rPr lang="en-US" dirty="0" smtClean="0"/>
              <a:t>je </a:t>
            </a:r>
            <a:r>
              <a:rPr lang="sr-Latn-RS" dirty="0" smtClean="0"/>
              <a:t>korišćena GM </a:t>
            </a:r>
            <a:r>
              <a:rPr lang="en-US" dirty="0" smtClean="0"/>
              <a:t> </a:t>
            </a:r>
          </a:p>
          <a:p>
            <a:endParaRPr lang="en-US" dirty="0" smtClean="0"/>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en-US" dirty="0" smtClean="0"/>
              <a:t>1</a:t>
            </a:r>
            <a:r>
              <a:rPr lang="sr-Latn-RS" dirty="0" smtClean="0"/>
              <a:t>0)</a:t>
            </a:r>
            <a:endParaRPr lang="en-US" dirty="0"/>
          </a:p>
        </p:txBody>
      </p:sp>
      <p:sp>
        <p:nvSpPr>
          <p:cNvPr id="3" name="Content Placeholder 2"/>
          <p:cNvSpPr>
            <a:spLocks noGrp="1"/>
          </p:cNvSpPr>
          <p:nvPr>
            <p:ph idx="1"/>
          </p:nvPr>
        </p:nvSpPr>
        <p:spPr/>
        <p:txBody>
          <a:bodyPr>
            <a:normAutofit/>
          </a:bodyPr>
          <a:lstStyle/>
          <a:p>
            <a:r>
              <a:rPr lang="sr-Latn-RS" dirty="0" smtClean="0"/>
              <a:t>To je zato što svaka faza fokusirana na mali podskup elemenata ulazne matrice, što predstavlja lokalnost pri pristupu</a:t>
            </a:r>
          </a:p>
          <a:p>
            <a:r>
              <a:rPr lang="sr-Latn-RS" dirty="0" smtClean="0"/>
              <a:t>Lokalnost pristupa omogućava korišćenje malih brzih memorija koje opslužuju većinu pristupa i smanjuju pris</a:t>
            </a:r>
            <a:r>
              <a:rPr lang="en-US" dirty="0" smtClean="0"/>
              <a:t>t</a:t>
            </a:r>
            <a:r>
              <a:rPr lang="sr-Latn-RS" dirty="0" smtClean="0"/>
              <a:t>up sporoj GM</a:t>
            </a:r>
          </a:p>
          <a:p>
            <a:r>
              <a:rPr lang="sr-Latn-RS" dirty="0" smtClean="0"/>
              <a:t>Lokalnost je važna za postizanje visokih performansi</a:t>
            </a:r>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46</a:t>
            </a:fld>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en-US" dirty="0" smtClean="0"/>
              <a:t>1</a:t>
            </a:r>
            <a:r>
              <a:rPr lang="sr-Latn-RS" dirty="0" smtClean="0"/>
              <a:t>1)</a:t>
            </a:r>
            <a:endParaRPr lang="en-US" dirty="0"/>
          </a:p>
        </p:txBody>
      </p:sp>
      <p:sp>
        <p:nvSpPr>
          <p:cNvPr id="5" name="Content Placeholder 4"/>
          <p:cNvSpPr>
            <a:spLocks noGrp="1"/>
          </p:cNvSpPr>
          <p:nvPr>
            <p:ph idx="1"/>
          </p:nvPr>
        </p:nvSpPr>
        <p:spPr/>
        <p:txBody>
          <a:bodyPr/>
          <a:lstStyle/>
          <a:p>
            <a:pPr marL="0" indent="0">
              <a:buNone/>
            </a:pPr>
            <a:r>
              <a:rPr lang="en-US" b="1" dirty="0" smtClean="0">
                <a:solidFill>
                  <a:srgbClr val="C00000"/>
                </a:solidFill>
              </a:rPr>
              <a:t>POZIV KERNELA</a:t>
            </a:r>
            <a:endParaRPr lang="en-US" b="1" dirty="0">
              <a:solidFill>
                <a:srgbClr val="C00000"/>
              </a:solidFill>
            </a:endParaRPr>
          </a:p>
        </p:txBody>
      </p:sp>
      <p:pic>
        <p:nvPicPr>
          <p:cNvPr id="3074" name="Picture 2"/>
          <p:cNvPicPr>
            <a:picLocks noChangeAspect="1" noChangeArrowheads="1"/>
          </p:cNvPicPr>
          <p:nvPr/>
        </p:nvPicPr>
        <p:blipFill>
          <a:blip r:embed="rId3"/>
          <a:srcRect/>
          <a:stretch>
            <a:fillRect/>
          </a:stretch>
        </p:blipFill>
        <p:spPr bwMode="auto">
          <a:xfrm>
            <a:off x="457200" y="2117817"/>
            <a:ext cx="8550420" cy="2554964"/>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036081D1-8380-407A-ABF3-D12854566F9D}" type="slidenum">
              <a:rPr lang="en-US" smtClean="0"/>
              <a:pPr/>
              <a:t>47</a:t>
            </a:fld>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en-US" dirty="0" smtClean="0"/>
              <a:t>1</a:t>
            </a:r>
            <a:r>
              <a:rPr lang="sr-Latn-RS" dirty="0" smtClean="0"/>
              <a:t>2)</a:t>
            </a:r>
            <a:endParaRPr lang="en-US" dirty="0"/>
          </a:p>
        </p:txBody>
      </p:sp>
      <p:pic>
        <p:nvPicPr>
          <p:cNvPr id="1027" name="Picture 3"/>
          <p:cNvPicPr>
            <a:picLocks noChangeAspect="1" noChangeArrowheads="1"/>
          </p:cNvPicPr>
          <p:nvPr/>
        </p:nvPicPr>
        <p:blipFill>
          <a:blip r:embed="rId3"/>
          <a:srcRect/>
          <a:stretch>
            <a:fillRect/>
          </a:stretch>
        </p:blipFill>
        <p:spPr bwMode="auto">
          <a:xfrm>
            <a:off x="694944" y="2057400"/>
            <a:ext cx="7716960" cy="4388341"/>
          </a:xfrm>
          <a:prstGeom prst="rect">
            <a:avLst/>
          </a:prstGeom>
          <a:noFill/>
          <a:ln w="9525">
            <a:noFill/>
            <a:miter lim="800000"/>
            <a:headEnd/>
            <a:tailEnd/>
          </a:ln>
          <a:effectLst/>
        </p:spPr>
      </p:pic>
      <p:sp>
        <p:nvSpPr>
          <p:cNvPr id="3" name="TextBox 2"/>
          <p:cNvSpPr txBox="1"/>
          <p:nvPr/>
        </p:nvSpPr>
        <p:spPr>
          <a:xfrm>
            <a:off x="694944" y="1600200"/>
            <a:ext cx="1475725" cy="369332"/>
          </a:xfrm>
          <a:prstGeom prst="rect">
            <a:avLst/>
          </a:prstGeom>
          <a:noFill/>
        </p:spPr>
        <p:txBody>
          <a:bodyPr wrap="none" rtlCol="0">
            <a:spAutoFit/>
          </a:bodyPr>
          <a:lstStyle/>
          <a:p>
            <a:r>
              <a:rPr lang="en-US" b="1" dirty="0" smtClean="0">
                <a:solidFill>
                  <a:srgbClr val="C00000"/>
                </a:solidFill>
              </a:rPr>
              <a:t>KERNEL (1)</a:t>
            </a:r>
            <a:endParaRPr lang="sr-Latn-RS" b="1" dirty="0">
              <a:solidFill>
                <a:srgbClr val="C00000"/>
              </a:solidFill>
            </a:endParaRPr>
          </a:p>
        </p:txBody>
      </p:sp>
      <p:sp>
        <p:nvSpPr>
          <p:cNvPr id="5" name="Slide Number Placeholder 4"/>
          <p:cNvSpPr>
            <a:spLocks noGrp="1"/>
          </p:cNvSpPr>
          <p:nvPr>
            <p:ph type="sldNum" sz="quarter" idx="12"/>
          </p:nvPr>
        </p:nvSpPr>
        <p:spPr/>
        <p:txBody>
          <a:bodyPr/>
          <a:lstStyle/>
          <a:p>
            <a:fld id="{036081D1-8380-407A-ABF3-D12854566F9D}" type="slidenum">
              <a:rPr lang="en-US" smtClean="0"/>
              <a:pPr/>
              <a:t>48</a:t>
            </a:fld>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en-US" dirty="0" smtClean="0"/>
              <a:t>1</a:t>
            </a:r>
            <a:r>
              <a:rPr lang="sr-Latn-RS" dirty="0" smtClean="0"/>
              <a:t>3)</a:t>
            </a:r>
            <a:endParaRPr lang="en-US" dirty="0"/>
          </a:p>
        </p:txBody>
      </p:sp>
      <p:pic>
        <p:nvPicPr>
          <p:cNvPr id="2050" name="Picture 2"/>
          <p:cNvPicPr>
            <a:picLocks noChangeAspect="1" noChangeArrowheads="1"/>
          </p:cNvPicPr>
          <p:nvPr/>
        </p:nvPicPr>
        <p:blipFill>
          <a:blip r:embed="rId3"/>
          <a:srcRect/>
          <a:stretch>
            <a:fillRect/>
          </a:stretch>
        </p:blipFill>
        <p:spPr bwMode="auto">
          <a:xfrm>
            <a:off x="304800" y="2057400"/>
            <a:ext cx="8495540" cy="4600575"/>
          </a:xfrm>
          <a:prstGeom prst="rect">
            <a:avLst/>
          </a:prstGeom>
          <a:noFill/>
          <a:ln w="9525">
            <a:noFill/>
            <a:miter lim="800000"/>
            <a:headEnd/>
            <a:tailEnd/>
          </a:ln>
          <a:effectLst/>
        </p:spPr>
      </p:pic>
      <p:sp>
        <p:nvSpPr>
          <p:cNvPr id="5" name="TextBox 4"/>
          <p:cNvSpPr txBox="1"/>
          <p:nvPr/>
        </p:nvSpPr>
        <p:spPr>
          <a:xfrm>
            <a:off x="533400" y="1447800"/>
            <a:ext cx="1475725" cy="369332"/>
          </a:xfrm>
          <a:prstGeom prst="rect">
            <a:avLst/>
          </a:prstGeom>
          <a:noFill/>
        </p:spPr>
        <p:txBody>
          <a:bodyPr wrap="none" rtlCol="0">
            <a:spAutoFit/>
          </a:bodyPr>
          <a:lstStyle/>
          <a:p>
            <a:r>
              <a:rPr lang="en-US" b="1" dirty="0" smtClean="0">
                <a:solidFill>
                  <a:srgbClr val="C00000"/>
                </a:solidFill>
              </a:rPr>
              <a:t>KERNEL (2)</a:t>
            </a:r>
            <a:endParaRPr lang="sr-Latn-RS" b="1" dirty="0">
              <a:solidFill>
                <a:srgbClr val="C00000"/>
              </a:solidFill>
            </a:endParaRPr>
          </a:p>
        </p:txBody>
      </p:sp>
      <p:sp>
        <p:nvSpPr>
          <p:cNvPr id="3" name="Slide Number Placeholder 2"/>
          <p:cNvSpPr>
            <a:spLocks noGrp="1"/>
          </p:cNvSpPr>
          <p:nvPr>
            <p:ph type="sldNum" sz="quarter" idx="12"/>
          </p:nvPr>
        </p:nvSpPr>
        <p:spPr/>
        <p:txBody>
          <a:bodyPr/>
          <a:lstStyle/>
          <a:p>
            <a:fld id="{036081D1-8380-407A-ABF3-D12854566F9D}" type="slidenum">
              <a:rPr lang="en-US" smtClean="0"/>
              <a:pPr/>
              <a:t>49</a:t>
            </a:fld>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en-US" dirty="0" smtClean="0"/>
              <a:t>1</a:t>
            </a:r>
            <a:r>
              <a:rPr lang="sr-Latn-RS" dirty="0" smtClean="0"/>
              <a:t>4)</a:t>
            </a:r>
            <a:endParaRPr lang="en-US" dirty="0"/>
          </a:p>
        </p:txBody>
      </p:sp>
      <p:sp>
        <p:nvSpPr>
          <p:cNvPr id="3" name="Content Placeholder 2"/>
          <p:cNvSpPr>
            <a:spLocks noGrp="1"/>
          </p:cNvSpPr>
          <p:nvPr>
            <p:ph idx="1"/>
          </p:nvPr>
        </p:nvSpPr>
        <p:spPr/>
        <p:txBody>
          <a:bodyPr>
            <a:normAutofit/>
          </a:bodyPr>
          <a:lstStyle/>
          <a:p>
            <a:r>
              <a:rPr lang="sr-Latn-RS" i="1" dirty="0" smtClean="0"/>
              <a:t>Mds</a:t>
            </a:r>
            <a:r>
              <a:rPr lang="sr-Latn-RS" dirty="0" smtClean="0"/>
              <a:t> i </a:t>
            </a:r>
            <a:r>
              <a:rPr lang="sr-Latn-RS" i="1" dirty="0" smtClean="0"/>
              <a:t>Nds</a:t>
            </a:r>
            <a:r>
              <a:rPr lang="sr-Latn-RS" dirty="0" smtClean="0"/>
              <a:t> su promenljive </a:t>
            </a:r>
            <a:r>
              <a:rPr lang="en-US" dirty="0" smtClean="0"/>
              <a:t>u </a:t>
            </a:r>
            <a:r>
              <a:rPr lang="sr-Latn-RS" dirty="0" smtClean="0"/>
              <a:t>S</a:t>
            </a:r>
            <a:r>
              <a:rPr lang="en-US" dirty="0" smtClean="0"/>
              <a:t>H</a:t>
            </a:r>
            <a:r>
              <a:rPr lang="sr-Latn-RS" dirty="0" smtClean="0"/>
              <a:t>M i njihova oblast važenja su niti u okviru bloka</a:t>
            </a:r>
          </a:p>
          <a:p>
            <a:r>
              <a:rPr lang="sr-Latn-RS" dirty="0" smtClean="0"/>
              <a:t>Promenljive </a:t>
            </a:r>
            <a:r>
              <a:rPr lang="sr-Latn-RS" i="1" dirty="0" smtClean="0"/>
              <a:t>bx</a:t>
            </a:r>
            <a:r>
              <a:rPr lang="sr-Latn-RS" dirty="0" smtClean="0"/>
              <a:t>, </a:t>
            </a:r>
            <a:r>
              <a:rPr lang="sr-Latn-RS" i="1" dirty="0" smtClean="0"/>
              <a:t>by</a:t>
            </a:r>
            <a:r>
              <a:rPr lang="sr-Latn-RS" dirty="0" smtClean="0"/>
              <a:t>, </a:t>
            </a:r>
            <a:r>
              <a:rPr lang="sr-Latn-RS" i="1" dirty="0" smtClean="0"/>
              <a:t>tx</a:t>
            </a:r>
            <a:r>
              <a:rPr lang="sr-Latn-RS" dirty="0" smtClean="0"/>
              <a:t> i </a:t>
            </a:r>
            <a:r>
              <a:rPr lang="sr-Latn-RS" i="1" dirty="0" smtClean="0"/>
              <a:t>ty</a:t>
            </a:r>
            <a:r>
              <a:rPr lang="sr-Latn-RS" dirty="0" smtClean="0"/>
              <a:t> su automatske skalarne promenljive i smeštene su u registrima. </a:t>
            </a:r>
          </a:p>
          <a:p>
            <a:pPr lvl="1"/>
            <a:r>
              <a:rPr lang="sr-Latn-RS" dirty="0" smtClean="0"/>
              <a:t>Njihova oblast važenja je nit i postoji privatna kopija za svaku nit</a:t>
            </a:r>
          </a:p>
          <a:p>
            <a:r>
              <a:rPr lang="sr-Latn-RS" dirty="0" smtClean="0"/>
              <a:t>Promenljive </a:t>
            </a:r>
            <a:r>
              <a:rPr lang="sr-Latn-RS" i="1" dirty="0" smtClean="0"/>
              <a:t>Row</a:t>
            </a:r>
            <a:r>
              <a:rPr lang="sr-Latn-RS" dirty="0" smtClean="0"/>
              <a:t> i </a:t>
            </a:r>
            <a:r>
              <a:rPr lang="sr-Latn-RS" i="1" dirty="0" smtClean="0"/>
              <a:t>Col</a:t>
            </a:r>
            <a:r>
              <a:rPr lang="sr-Latn-RS" dirty="0" smtClean="0"/>
              <a:t> s</a:t>
            </a:r>
            <a:r>
              <a:rPr lang="en-US" dirty="0" smtClean="0"/>
              <a:t>u</a:t>
            </a:r>
            <a:r>
              <a:rPr lang="sr-Latn-RS" dirty="0" smtClean="0"/>
              <a:t> indeksi vrste i kolone rezultujućeg Pd elementa</a:t>
            </a:r>
          </a:p>
          <a:p>
            <a:r>
              <a:rPr lang="sr-Latn-RS" i="1" dirty="0" smtClean="0"/>
              <a:t>Pvalue</a:t>
            </a:r>
            <a:r>
              <a:rPr lang="sr-Latn-RS" dirty="0" smtClean="0"/>
              <a:t> je promenljiva u kojoj se čuvaju privremene vrednosti rezultujućeg elementa P</a:t>
            </a:r>
            <a:r>
              <a:rPr lang="en-US" dirty="0" smtClean="0"/>
              <a:t>D</a:t>
            </a:r>
            <a:endParaRPr lang="sr-Latn-RS" dirty="0" smtClean="0"/>
          </a:p>
          <a:p>
            <a:endParaRPr lang="sr-Latn-RS" dirty="0" smtClean="0"/>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50</a:t>
            </a:fld>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en-US" dirty="0" smtClean="0"/>
              <a:t>1</a:t>
            </a:r>
            <a:r>
              <a:rPr lang="sr-Latn-RS" dirty="0" smtClean="0"/>
              <a:t>5)</a:t>
            </a:r>
            <a:endParaRPr lang="en-US" dirty="0"/>
          </a:p>
        </p:txBody>
      </p:sp>
      <p:sp>
        <p:nvSpPr>
          <p:cNvPr id="3" name="Content Placeholder 2"/>
          <p:cNvSpPr>
            <a:spLocks noGrp="1"/>
          </p:cNvSpPr>
          <p:nvPr>
            <p:ph idx="1"/>
          </p:nvPr>
        </p:nvSpPr>
        <p:spPr/>
        <p:txBody>
          <a:bodyPr>
            <a:normAutofit/>
          </a:bodyPr>
          <a:lstStyle/>
          <a:p>
            <a:r>
              <a:rPr lang="sr-Latn-RS" dirty="0" smtClean="0"/>
              <a:t>U svakoj fazi izračunavanja, svaka nit u nekom bloku učitava po jedan element matrice Md u S</a:t>
            </a:r>
            <a:r>
              <a:rPr lang="en-US" dirty="0" smtClean="0"/>
              <a:t>H</a:t>
            </a:r>
            <a:r>
              <a:rPr lang="sr-Latn-RS" dirty="0" smtClean="0"/>
              <a:t>M</a:t>
            </a:r>
          </a:p>
          <a:p>
            <a:r>
              <a:rPr lang="sr-Latn-RS" dirty="0" smtClean="0"/>
              <a:t>TILE</a:t>
            </a:r>
            <a:r>
              <a:rPr lang="en-US" dirty="0" smtClean="0"/>
              <a:t>_WIDTH</a:t>
            </a:r>
            <a:r>
              <a:rPr lang="en-US" baseline="30000" dirty="0" smtClean="0"/>
              <a:t>2  </a:t>
            </a:r>
            <a:r>
              <a:rPr lang="en-US" dirty="0" err="1" smtClean="0"/>
              <a:t>niti</a:t>
            </a:r>
            <a:r>
              <a:rPr lang="en-US" dirty="0" smtClean="0"/>
              <a:t> </a:t>
            </a:r>
            <a:r>
              <a:rPr lang="en-US" dirty="0" err="1" smtClean="0"/>
              <a:t>sara</a:t>
            </a:r>
            <a:r>
              <a:rPr lang="sr-Latn-RS" dirty="0" smtClean="0"/>
              <a:t>đuju u učitavanju TILE</a:t>
            </a:r>
            <a:r>
              <a:rPr lang="en-US" dirty="0" smtClean="0"/>
              <a:t>_WIDTH</a:t>
            </a:r>
            <a:r>
              <a:rPr lang="en-US" baseline="30000" dirty="0" smtClean="0"/>
              <a:t>2 </a:t>
            </a:r>
            <a:r>
              <a:rPr lang="sr-Latn-RS" dirty="0" smtClean="0"/>
              <a:t>različitih vrednosti matrice Md u SM</a:t>
            </a:r>
          </a:p>
          <a:p>
            <a:r>
              <a:rPr lang="sr-Latn-RS" dirty="0" smtClean="0"/>
              <a:t>Slično važi i za elemente matrice Nd</a:t>
            </a:r>
          </a:p>
          <a:p>
            <a:r>
              <a:rPr lang="sr-Latn-RS" dirty="0" smtClean="0"/>
              <a:t>Da bi se obezbedilo da sve niti u okviru istog bloka matrice kompletiraju učitavanje vrednosti u Mds i Nds pre izvođenja izračunavanja dela </a:t>
            </a:r>
            <a:r>
              <a:rPr lang="en-US" dirty="0" err="1" smtClean="0"/>
              <a:t>skalarnog</a:t>
            </a:r>
            <a:r>
              <a:rPr lang="en-US" dirty="0" smtClean="0"/>
              <a:t> </a:t>
            </a:r>
            <a:r>
              <a:rPr lang="sr-Latn-RS" dirty="0" smtClean="0"/>
              <a:t>proizvoda koristi se poziv </a:t>
            </a:r>
            <a:r>
              <a:rPr lang="sr-Latn-RS" b="1" i="1" dirty="0" smtClean="0">
                <a:solidFill>
                  <a:srgbClr val="C00000"/>
                </a:solidFill>
              </a:rPr>
              <a:t>syncthreads()</a:t>
            </a:r>
            <a:endParaRPr lang="sr-Latn-RS" dirty="0" smtClean="0"/>
          </a:p>
          <a:p>
            <a:endParaRPr lang="sr-Latn-RS" dirty="0" smtClean="0"/>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51</a:t>
            </a:fld>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sr-Latn-RS" dirty="0"/>
              <a:t>Množenje matrica - deljiva memorija </a:t>
            </a:r>
            <a:r>
              <a:rPr lang="sr-Latn-RS" dirty="0" smtClean="0"/>
              <a:t>(</a:t>
            </a:r>
            <a:r>
              <a:rPr lang="en-US" dirty="0" smtClean="0"/>
              <a:t>20</a:t>
            </a:r>
            <a:r>
              <a:rPr lang="sr-Latn-RS" dirty="0" smtClean="0"/>
              <a:t>)</a:t>
            </a:r>
            <a:endParaRPr lang="en-US" dirty="0"/>
          </a:p>
        </p:txBody>
      </p:sp>
      <p:sp>
        <p:nvSpPr>
          <p:cNvPr id="3" name="Content Placeholder 2"/>
          <p:cNvSpPr>
            <a:spLocks noGrp="1"/>
          </p:cNvSpPr>
          <p:nvPr>
            <p:ph idx="1"/>
          </p:nvPr>
        </p:nvSpPr>
        <p:spPr/>
        <p:txBody>
          <a:bodyPr>
            <a:normAutofit/>
          </a:bodyPr>
          <a:lstStyle/>
          <a:p>
            <a:r>
              <a:rPr lang="sr-Latn-RS" dirty="0" smtClean="0"/>
              <a:t>Nakon toga, moguće je otpočeti izračunavanje gde svaka nit u K petlji izvodi izračunavanje jednog dela svog </a:t>
            </a:r>
            <a:r>
              <a:rPr lang="en-US" dirty="0" err="1" smtClean="0"/>
              <a:t>skalarnog</a:t>
            </a:r>
            <a:r>
              <a:rPr lang="en-US" dirty="0" smtClean="0"/>
              <a:t> </a:t>
            </a:r>
            <a:r>
              <a:rPr lang="sr-Latn-RS" dirty="0" smtClean="0"/>
              <a:t>proizvoda</a:t>
            </a:r>
          </a:p>
          <a:p>
            <a:r>
              <a:rPr lang="sr-Latn-RS" dirty="0" smtClean="0"/>
              <a:t>Nakon izvršenja </a:t>
            </a:r>
            <a:r>
              <a:rPr lang="en-US" dirty="0" smtClean="0"/>
              <a:t>K</a:t>
            </a:r>
            <a:r>
              <a:rPr lang="sr-Latn-RS" dirty="0" smtClean="0"/>
              <a:t> petlje, neophodan je još jedan poziv </a:t>
            </a:r>
            <a:r>
              <a:rPr lang="sr-Latn-RS" b="1" i="1" dirty="0" smtClean="0">
                <a:solidFill>
                  <a:srgbClr val="C00000"/>
                </a:solidFill>
              </a:rPr>
              <a:t>syncthreads()  </a:t>
            </a:r>
            <a:r>
              <a:rPr lang="sr-Latn-RS" dirty="0" smtClean="0"/>
              <a:t>funkcije koja sad obezbeđuje da su sve niti u okviru nekog bloka završile sa korišćenjem sadržaja Mds i Nds pre nego što započne sledeća faza i učitaju se novi elementi u Mds i Nds</a:t>
            </a:r>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52</a:t>
            </a:fld>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Množenje matrica-</a:t>
            </a:r>
            <a:r>
              <a:rPr lang="en-US" dirty="0" err="1" smtClean="0"/>
              <a:t>performanse</a:t>
            </a:r>
            <a:endParaRPr lang="en-US" dirty="0"/>
          </a:p>
        </p:txBody>
      </p:sp>
      <p:sp>
        <p:nvSpPr>
          <p:cNvPr id="3" name="Content Placeholder 2"/>
          <p:cNvSpPr>
            <a:spLocks noGrp="1"/>
          </p:cNvSpPr>
          <p:nvPr>
            <p:ph idx="1"/>
          </p:nvPr>
        </p:nvSpPr>
        <p:spPr/>
        <p:txBody>
          <a:bodyPr>
            <a:normAutofit/>
          </a:bodyPr>
          <a:lstStyle/>
          <a:p>
            <a:r>
              <a:rPr lang="sr-Latn-RS" dirty="0" smtClean="0"/>
              <a:t>Prilikom opisanog množenja matrica, pristip GM je smanjen TILE</a:t>
            </a:r>
            <a:r>
              <a:rPr lang="en-US" dirty="0" smtClean="0"/>
              <a:t>_WIDTH </a:t>
            </a:r>
            <a:r>
              <a:rPr lang="en-US" dirty="0" err="1" smtClean="0"/>
              <a:t>puta</a:t>
            </a:r>
            <a:endParaRPr lang="en-US" dirty="0" smtClean="0"/>
          </a:p>
          <a:p>
            <a:pPr lvl="1"/>
            <a:r>
              <a:rPr lang="en-US" dirty="0" err="1" smtClean="0"/>
              <a:t>Ako</a:t>
            </a:r>
            <a:r>
              <a:rPr lang="en-US" dirty="0" smtClean="0"/>
              <a:t> se </a:t>
            </a:r>
            <a:r>
              <a:rPr lang="en-US" dirty="0" err="1" smtClean="0"/>
              <a:t>koriste</a:t>
            </a:r>
            <a:r>
              <a:rPr lang="en-US" dirty="0" smtClean="0"/>
              <a:t> 16x16 </a:t>
            </a:r>
            <a:r>
              <a:rPr lang="en-US" dirty="0" err="1" smtClean="0"/>
              <a:t>blokovi</a:t>
            </a:r>
            <a:r>
              <a:rPr lang="en-US" dirty="0" smtClean="0"/>
              <a:t>, </a:t>
            </a:r>
            <a:r>
              <a:rPr lang="en-US" dirty="0" err="1" smtClean="0"/>
              <a:t>pristup</a:t>
            </a:r>
            <a:r>
              <a:rPr lang="en-US" dirty="0" smtClean="0"/>
              <a:t> se </a:t>
            </a:r>
            <a:r>
              <a:rPr lang="en-US" dirty="0" err="1" smtClean="0"/>
              <a:t>smanjuje</a:t>
            </a:r>
            <a:r>
              <a:rPr lang="en-US" dirty="0" smtClean="0"/>
              <a:t> 16 </a:t>
            </a:r>
            <a:r>
              <a:rPr lang="en-US" dirty="0" err="1" smtClean="0"/>
              <a:t>puta</a:t>
            </a:r>
            <a:r>
              <a:rPr lang="en-US" dirty="0" smtClean="0"/>
              <a:t> </a:t>
            </a:r>
            <a:r>
              <a:rPr lang="sr-Latn-RS" dirty="0" smtClean="0"/>
              <a:t> </a:t>
            </a:r>
            <a:endParaRPr lang="en-US" dirty="0" smtClean="0"/>
          </a:p>
          <a:p>
            <a:r>
              <a:rPr lang="en-US" dirty="0" err="1" smtClean="0"/>
              <a:t>Prednosti</a:t>
            </a:r>
            <a:r>
              <a:rPr lang="en-US" dirty="0" smtClean="0"/>
              <a:t> </a:t>
            </a:r>
            <a:r>
              <a:rPr lang="en-US" dirty="0" err="1" smtClean="0"/>
              <a:t>korišćenja</a:t>
            </a:r>
            <a:r>
              <a:rPr lang="en-US" dirty="0" smtClean="0"/>
              <a:t> </a:t>
            </a:r>
            <a:r>
              <a:rPr lang="en-US" dirty="0" err="1" smtClean="0"/>
              <a:t>deljene</a:t>
            </a:r>
            <a:r>
              <a:rPr lang="en-US" dirty="0" smtClean="0"/>
              <a:t> </a:t>
            </a:r>
            <a:r>
              <a:rPr lang="en-US" dirty="0" err="1" smtClean="0"/>
              <a:t>memorije</a:t>
            </a:r>
            <a:r>
              <a:rPr lang="en-US" dirty="0" smtClean="0"/>
              <a:t>:</a:t>
            </a:r>
          </a:p>
          <a:p>
            <a:pPr lvl="1"/>
            <a:r>
              <a:rPr lang="en-US" dirty="0" err="1" smtClean="0"/>
              <a:t>Svaki</a:t>
            </a:r>
            <a:r>
              <a:rPr lang="en-US" dirty="0" smtClean="0"/>
              <a:t> </a:t>
            </a:r>
            <a:r>
              <a:rPr lang="en-US" dirty="0" err="1" smtClean="0"/>
              <a:t>blok</a:t>
            </a:r>
            <a:r>
              <a:rPr lang="en-US" dirty="0" smtClean="0"/>
              <a:t> </a:t>
            </a:r>
            <a:r>
              <a:rPr lang="en-US" dirty="0" err="1" smtClean="0"/>
              <a:t>niti</a:t>
            </a:r>
            <a:r>
              <a:rPr lang="en-US" dirty="0" smtClean="0"/>
              <a:t> </a:t>
            </a:r>
            <a:r>
              <a:rPr lang="en-US" dirty="0" err="1" smtClean="0"/>
              <a:t>treba</a:t>
            </a:r>
            <a:r>
              <a:rPr lang="en-US" dirty="0" smtClean="0"/>
              <a:t> </a:t>
            </a:r>
            <a:r>
              <a:rPr lang="en-US" dirty="0" err="1" smtClean="0"/>
              <a:t>da</a:t>
            </a:r>
            <a:r>
              <a:rPr lang="en-US" dirty="0" smtClean="0"/>
              <a:t> </a:t>
            </a:r>
            <a:r>
              <a:rPr lang="en-US" dirty="0" err="1" smtClean="0"/>
              <a:t>ima</a:t>
            </a:r>
            <a:r>
              <a:rPr lang="en-US" dirty="0" smtClean="0"/>
              <a:t> </a:t>
            </a:r>
            <a:r>
              <a:rPr lang="en-US" dirty="0" err="1" smtClean="0"/>
              <a:t>veliki</a:t>
            </a:r>
            <a:r>
              <a:rPr lang="en-US" dirty="0" smtClean="0"/>
              <a:t> </a:t>
            </a:r>
            <a:r>
              <a:rPr lang="en-US" dirty="0" err="1" smtClean="0"/>
              <a:t>broj</a:t>
            </a:r>
            <a:r>
              <a:rPr lang="en-US" dirty="0" smtClean="0"/>
              <a:t> </a:t>
            </a:r>
            <a:r>
              <a:rPr lang="en-US" dirty="0" err="1" smtClean="0"/>
              <a:t>niti</a:t>
            </a:r>
            <a:endParaRPr lang="en-US" dirty="0" smtClean="0"/>
          </a:p>
          <a:p>
            <a:pPr lvl="1"/>
            <a:r>
              <a:rPr lang="en-US" dirty="0" smtClean="0"/>
              <a:t>TILE_WIDTH ne bi </a:t>
            </a:r>
            <a:r>
              <a:rPr lang="en-US" dirty="0" err="1" smtClean="0"/>
              <a:t>trebalo</a:t>
            </a:r>
            <a:r>
              <a:rPr lang="en-US" dirty="0" smtClean="0"/>
              <a:t> </a:t>
            </a:r>
            <a:r>
              <a:rPr lang="en-US" dirty="0" err="1" smtClean="0"/>
              <a:t>da</a:t>
            </a:r>
            <a:r>
              <a:rPr lang="en-US" dirty="0" smtClean="0"/>
              <a:t> </a:t>
            </a:r>
            <a:r>
              <a:rPr lang="en-US" dirty="0" err="1" smtClean="0"/>
              <a:t>bude</a:t>
            </a:r>
            <a:r>
              <a:rPr lang="en-US" dirty="0" smtClean="0"/>
              <a:t> </a:t>
            </a:r>
            <a:r>
              <a:rPr lang="en-US" dirty="0" err="1" smtClean="0"/>
              <a:t>manje</a:t>
            </a:r>
            <a:r>
              <a:rPr lang="en-US" dirty="0" smtClean="0"/>
              <a:t> </a:t>
            </a:r>
            <a:r>
              <a:rPr lang="en-US" dirty="0" err="1" smtClean="0"/>
              <a:t>od</a:t>
            </a:r>
            <a:r>
              <a:rPr lang="en-US" dirty="0" smtClean="0"/>
              <a:t> 16</a:t>
            </a:r>
          </a:p>
          <a:p>
            <a:pPr lvl="2"/>
            <a:r>
              <a:rPr lang="pl-PL" dirty="0" smtClean="0"/>
              <a:t>16 x 16 = 256 niti po bloku</a:t>
            </a:r>
          </a:p>
          <a:p>
            <a:pPr lvl="1"/>
            <a:r>
              <a:rPr lang="en-US" dirty="0" err="1" smtClean="0"/>
              <a:t>Treba</a:t>
            </a:r>
            <a:r>
              <a:rPr lang="en-US" dirty="0" smtClean="0"/>
              <a:t> </a:t>
            </a:r>
            <a:r>
              <a:rPr lang="en-US" dirty="0" err="1" smtClean="0"/>
              <a:t>da</a:t>
            </a:r>
            <a:r>
              <a:rPr lang="en-US" dirty="0" smtClean="0"/>
              <a:t> </a:t>
            </a:r>
            <a:r>
              <a:rPr lang="en-US" dirty="0" err="1" smtClean="0"/>
              <a:t>bude</a:t>
            </a:r>
            <a:r>
              <a:rPr lang="en-US" dirty="0" smtClean="0"/>
              <a:t> </a:t>
            </a:r>
            <a:r>
              <a:rPr lang="en-US" dirty="0" err="1" smtClean="0"/>
              <a:t>veliki</a:t>
            </a:r>
            <a:r>
              <a:rPr lang="en-US" dirty="0" smtClean="0"/>
              <a:t> </a:t>
            </a:r>
            <a:r>
              <a:rPr lang="en-US" dirty="0" err="1" smtClean="0"/>
              <a:t>broj</a:t>
            </a:r>
            <a:r>
              <a:rPr lang="en-US" dirty="0" smtClean="0"/>
              <a:t> </a:t>
            </a:r>
            <a:r>
              <a:rPr lang="en-US" dirty="0" err="1" smtClean="0"/>
              <a:t>blokova</a:t>
            </a:r>
            <a:r>
              <a:rPr lang="en-US" dirty="0" smtClean="0"/>
              <a:t> </a:t>
            </a:r>
            <a:r>
              <a:rPr lang="en-US" dirty="0" err="1" smtClean="0"/>
              <a:t>niti</a:t>
            </a:r>
            <a:endParaRPr lang="en-US" dirty="0" smtClean="0"/>
          </a:p>
          <a:p>
            <a:pPr lvl="2"/>
            <a:r>
              <a:rPr lang="en-US" dirty="0" err="1" smtClean="0"/>
              <a:t>Rezultujuća</a:t>
            </a:r>
            <a:r>
              <a:rPr lang="en-US" dirty="0" smtClean="0"/>
              <a:t> </a:t>
            </a:r>
            <a:r>
              <a:rPr lang="en-US" dirty="0" err="1" smtClean="0"/>
              <a:t>matrica</a:t>
            </a:r>
            <a:r>
              <a:rPr lang="en-US" dirty="0" smtClean="0"/>
              <a:t> </a:t>
            </a:r>
            <a:r>
              <a:rPr lang="en-US" dirty="0" err="1" smtClean="0"/>
              <a:t>veličine</a:t>
            </a:r>
            <a:r>
              <a:rPr lang="en-US" dirty="0" smtClean="0"/>
              <a:t> 1024 x 1024 </a:t>
            </a:r>
            <a:r>
              <a:rPr lang="en-US" dirty="0" err="1" smtClean="0"/>
              <a:t>daje</a:t>
            </a:r>
            <a:r>
              <a:rPr lang="en-US" dirty="0" smtClean="0"/>
              <a:t> 64 x 64 = 4096 </a:t>
            </a:r>
            <a:r>
              <a:rPr lang="en-US" dirty="0" err="1" smtClean="0"/>
              <a:t>blokova</a:t>
            </a:r>
            <a:r>
              <a:rPr lang="en-US" dirty="0" smtClean="0"/>
              <a:t> </a:t>
            </a:r>
            <a:r>
              <a:rPr lang="en-US" dirty="0" err="1" smtClean="0"/>
              <a:t>niti</a:t>
            </a:r>
            <a:endParaRPr lang="en-US" dirty="0" smtClean="0"/>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53</a:t>
            </a:fld>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Množenje matrica-</a:t>
            </a:r>
            <a:r>
              <a:rPr lang="en-US" dirty="0" err="1" smtClean="0"/>
              <a:t>performanse</a:t>
            </a:r>
            <a:endParaRPr lang="en-US" dirty="0"/>
          </a:p>
        </p:txBody>
      </p:sp>
      <p:sp>
        <p:nvSpPr>
          <p:cNvPr id="3" name="Content Placeholder 2"/>
          <p:cNvSpPr>
            <a:spLocks noGrp="1"/>
          </p:cNvSpPr>
          <p:nvPr>
            <p:ph idx="1"/>
          </p:nvPr>
        </p:nvSpPr>
        <p:spPr/>
        <p:txBody>
          <a:bodyPr>
            <a:normAutofit/>
          </a:bodyPr>
          <a:lstStyle/>
          <a:p>
            <a:r>
              <a:rPr lang="en-US" dirty="0" smtClean="0"/>
              <a:t>U </a:t>
            </a:r>
            <a:r>
              <a:rPr lang="en-US" dirty="0" err="1" smtClean="0"/>
              <a:t>takvom</a:t>
            </a:r>
            <a:r>
              <a:rPr lang="en-US" dirty="0" smtClean="0"/>
              <a:t> </a:t>
            </a:r>
            <a:r>
              <a:rPr lang="en-US" dirty="0" err="1" smtClean="0"/>
              <a:t>slučaju</a:t>
            </a:r>
            <a:r>
              <a:rPr lang="en-US" dirty="0" smtClean="0"/>
              <a:t>, </a:t>
            </a:r>
            <a:r>
              <a:rPr lang="en-US" dirty="0" err="1" smtClean="0"/>
              <a:t>svaki</a:t>
            </a:r>
            <a:r>
              <a:rPr lang="en-US" dirty="0" smtClean="0"/>
              <a:t> </a:t>
            </a:r>
            <a:r>
              <a:rPr lang="en-US" dirty="0" err="1" smtClean="0"/>
              <a:t>blok</a:t>
            </a:r>
            <a:r>
              <a:rPr lang="en-US" dirty="0" smtClean="0"/>
              <a:t> </a:t>
            </a:r>
            <a:r>
              <a:rPr lang="en-US" dirty="0" err="1" smtClean="0"/>
              <a:t>niti</a:t>
            </a:r>
            <a:r>
              <a:rPr lang="en-US" dirty="0" smtClean="0"/>
              <a:t> </a:t>
            </a:r>
            <a:r>
              <a:rPr lang="en-US" dirty="0" err="1" smtClean="0"/>
              <a:t>ima</a:t>
            </a:r>
            <a:r>
              <a:rPr lang="en-US" dirty="0" smtClean="0"/>
              <a:t> 2 x 256 = 512 </a:t>
            </a:r>
            <a:r>
              <a:rPr lang="en-US" dirty="0" err="1" smtClean="0"/>
              <a:t>pristupa</a:t>
            </a:r>
            <a:r>
              <a:rPr lang="en-US" dirty="0" smtClean="0"/>
              <a:t> (</a:t>
            </a:r>
            <a:r>
              <a:rPr lang="en-US" dirty="0" err="1" smtClean="0"/>
              <a:t>čitanja</a:t>
            </a:r>
            <a:r>
              <a:rPr lang="en-US" dirty="0" smtClean="0"/>
              <a:t>) </a:t>
            </a:r>
            <a:r>
              <a:rPr lang="en-US" dirty="0" err="1" smtClean="0"/>
              <a:t>iz</a:t>
            </a:r>
            <a:r>
              <a:rPr lang="en-US" dirty="0" smtClean="0"/>
              <a:t> </a:t>
            </a:r>
            <a:r>
              <a:rPr lang="en-US" dirty="0" err="1" smtClean="0"/>
              <a:t>globalne</a:t>
            </a:r>
            <a:r>
              <a:rPr lang="en-US" dirty="0" smtClean="0"/>
              <a:t> </a:t>
            </a:r>
            <a:r>
              <a:rPr lang="en-US" dirty="0" err="1" smtClean="0"/>
              <a:t>memorije</a:t>
            </a:r>
            <a:endParaRPr lang="en-US" dirty="0" smtClean="0"/>
          </a:p>
          <a:p>
            <a:r>
              <a:rPr lang="en-US" dirty="0" err="1" smtClean="0"/>
              <a:t>Zatim</a:t>
            </a:r>
            <a:r>
              <a:rPr lang="en-US" dirty="0" smtClean="0"/>
              <a:t> se </a:t>
            </a:r>
            <a:r>
              <a:rPr lang="en-US" dirty="0" err="1" smtClean="0"/>
              <a:t>vrši</a:t>
            </a:r>
            <a:r>
              <a:rPr lang="en-US" dirty="0" smtClean="0"/>
              <a:t> 256 x (2 x 16) = 8192 </a:t>
            </a:r>
            <a:r>
              <a:rPr lang="en-US" dirty="0" err="1" smtClean="0"/>
              <a:t>operacija</a:t>
            </a:r>
            <a:r>
              <a:rPr lang="en-US" dirty="0" smtClean="0"/>
              <a:t> </a:t>
            </a:r>
            <a:r>
              <a:rPr lang="en-US" dirty="0" err="1" smtClean="0"/>
              <a:t>množenja</a:t>
            </a:r>
            <a:r>
              <a:rPr lang="en-US" dirty="0" smtClean="0"/>
              <a:t> </a:t>
            </a:r>
            <a:r>
              <a:rPr lang="en-US" dirty="0" err="1" smtClean="0"/>
              <a:t>i</a:t>
            </a:r>
            <a:r>
              <a:rPr lang="en-US" dirty="0" smtClean="0"/>
              <a:t> </a:t>
            </a:r>
            <a:r>
              <a:rPr lang="en-US" dirty="0" err="1" smtClean="0"/>
              <a:t>sabiranja</a:t>
            </a:r>
            <a:endParaRPr lang="en-US" dirty="0" smtClean="0"/>
          </a:p>
          <a:p>
            <a:r>
              <a:rPr lang="en-US" dirty="0" smtClean="0"/>
              <a:t>U </a:t>
            </a:r>
            <a:r>
              <a:rPr lang="en-US" dirty="0" err="1" smtClean="0"/>
              <a:t>takvom</a:t>
            </a:r>
            <a:r>
              <a:rPr lang="en-US" dirty="0" smtClean="0"/>
              <a:t> </a:t>
            </a:r>
            <a:r>
              <a:rPr lang="en-US" dirty="0" err="1" smtClean="0"/>
              <a:t>slučaju</a:t>
            </a:r>
            <a:r>
              <a:rPr lang="en-US" dirty="0" smtClean="0"/>
              <a:t> </a:t>
            </a:r>
            <a:r>
              <a:rPr lang="en-US" dirty="0" err="1" smtClean="0"/>
              <a:t>memorijski</a:t>
            </a:r>
            <a:r>
              <a:rPr lang="en-US" dirty="0" smtClean="0"/>
              <a:t> </a:t>
            </a:r>
            <a:r>
              <a:rPr lang="en-US" dirty="0" err="1" smtClean="0"/>
              <a:t>propusni</a:t>
            </a:r>
            <a:r>
              <a:rPr lang="en-US" dirty="0" smtClean="0"/>
              <a:t> </a:t>
            </a:r>
            <a:r>
              <a:rPr lang="en-US" dirty="0" err="1" smtClean="0"/>
              <a:t>opseg</a:t>
            </a:r>
            <a:r>
              <a:rPr lang="en-US" dirty="0" smtClean="0"/>
              <a:t> </a:t>
            </a:r>
            <a:r>
              <a:rPr lang="en-US" dirty="0" err="1" smtClean="0"/>
              <a:t>više</a:t>
            </a:r>
            <a:r>
              <a:rPr lang="en-US" dirty="0" smtClean="0"/>
              <a:t> </a:t>
            </a:r>
            <a:r>
              <a:rPr lang="en-US" dirty="0" err="1" smtClean="0"/>
              <a:t>nije</a:t>
            </a:r>
            <a:r>
              <a:rPr lang="en-US" dirty="0" smtClean="0"/>
              <a:t> </a:t>
            </a:r>
            <a:r>
              <a:rPr lang="en-US" dirty="0" err="1" smtClean="0"/>
              <a:t>limitirajući</a:t>
            </a:r>
            <a:r>
              <a:rPr lang="en-US" dirty="0" smtClean="0"/>
              <a:t> </a:t>
            </a:r>
            <a:r>
              <a:rPr lang="en-US" dirty="0" err="1" smtClean="0"/>
              <a:t>faktor</a:t>
            </a:r>
            <a:endParaRPr lang="en-US" dirty="0" smtClean="0"/>
          </a:p>
          <a:p>
            <a:r>
              <a:rPr lang="en-US" b="1" dirty="0" err="1" smtClean="0">
                <a:solidFill>
                  <a:srgbClr val="C00000"/>
                </a:solidFill>
              </a:rPr>
              <a:t>Broj</a:t>
            </a:r>
            <a:r>
              <a:rPr lang="en-US" b="1" dirty="0" smtClean="0">
                <a:solidFill>
                  <a:srgbClr val="C00000"/>
                </a:solidFill>
              </a:rPr>
              <a:t> </a:t>
            </a:r>
            <a:r>
              <a:rPr lang="en-US" b="1" dirty="0" err="1" smtClean="0">
                <a:solidFill>
                  <a:srgbClr val="C00000"/>
                </a:solidFill>
              </a:rPr>
              <a:t>računskih</a:t>
            </a:r>
            <a:r>
              <a:rPr lang="en-US" b="1" dirty="0" smtClean="0">
                <a:solidFill>
                  <a:srgbClr val="C00000"/>
                </a:solidFill>
              </a:rPr>
              <a:t> </a:t>
            </a:r>
            <a:r>
              <a:rPr lang="en-US" b="1" dirty="0" err="1" smtClean="0">
                <a:solidFill>
                  <a:srgbClr val="C00000"/>
                </a:solidFill>
              </a:rPr>
              <a:t>operacija</a:t>
            </a:r>
            <a:r>
              <a:rPr lang="en-US" b="1" dirty="0" smtClean="0">
                <a:solidFill>
                  <a:srgbClr val="C00000"/>
                </a:solidFill>
              </a:rPr>
              <a:t> </a:t>
            </a:r>
            <a:r>
              <a:rPr lang="en-US" b="1" dirty="0" err="1" smtClean="0">
                <a:solidFill>
                  <a:srgbClr val="C00000"/>
                </a:solidFill>
              </a:rPr>
              <a:t>mnogo</a:t>
            </a:r>
            <a:r>
              <a:rPr lang="en-US" b="1" dirty="0" smtClean="0">
                <a:solidFill>
                  <a:srgbClr val="C00000"/>
                </a:solidFill>
              </a:rPr>
              <a:t> </a:t>
            </a:r>
            <a:r>
              <a:rPr lang="en-US" b="1" dirty="0" err="1" smtClean="0">
                <a:solidFill>
                  <a:srgbClr val="C00000"/>
                </a:solidFill>
              </a:rPr>
              <a:t>veći</a:t>
            </a:r>
            <a:r>
              <a:rPr lang="en-US" b="1" dirty="0" smtClean="0">
                <a:solidFill>
                  <a:srgbClr val="C00000"/>
                </a:solidFill>
              </a:rPr>
              <a:t> od </a:t>
            </a:r>
            <a:r>
              <a:rPr lang="en-US" b="1" dirty="0" err="1" smtClean="0">
                <a:solidFill>
                  <a:srgbClr val="C00000"/>
                </a:solidFill>
              </a:rPr>
              <a:t>broja</a:t>
            </a:r>
            <a:r>
              <a:rPr lang="en-US" b="1" dirty="0" smtClean="0">
                <a:solidFill>
                  <a:srgbClr val="C00000"/>
                </a:solidFill>
              </a:rPr>
              <a:t> </a:t>
            </a:r>
            <a:r>
              <a:rPr lang="en-US" b="1" dirty="0" err="1" smtClean="0">
                <a:solidFill>
                  <a:srgbClr val="C00000"/>
                </a:solidFill>
              </a:rPr>
              <a:t>pristupa</a:t>
            </a:r>
            <a:r>
              <a:rPr lang="en-US" b="1" dirty="0" smtClean="0">
                <a:solidFill>
                  <a:srgbClr val="C00000"/>
                </a:solidFill>
              </a:rPr>
              <a:t> </a:t>
            </a:r>
            <a:r>
              <a:rPr lang="en-US" b="1" dirty="0" err="1" smtClean="0">
                <a:solidFill>
                  <a:srgbClr val="C00000"/>
                </a:solidFill>
              </a:rPr>
              <a:t>memoriji</a:t>
            </a:r>
            <a:endParaRPr lang="en-US" b="1" dirty="0" smtClean="0">
              <a:solidFill>
                <a:srgbClr val="C00000"/>
              </a:solidFill>
            </a:endParaRPr>
          </a:p>
          <a:p>
            <a:pPr lvl="1"/>
            <a:r>
              <a:rPr lang="en-US" dirty="0" smtClean="0"/>
              <a:t>8192 &gt;&gt; 512 </a:t>
            </a:r>
          </a:p>
          <a:p>
            <a:endParaRPr lang="sr-Latn-RS" dirty="0" smtClean="0"/>
          </a:p>
          <a:p>
            <a:endParaRPr lang="sr-Latn-RS" dirty="0" smtClean="0"/>
          </a:p>
        </p:txBody>
      </p:sp>
      <p:sp>
        <p:nvSpPr>
          <p:cNvPr id="5" name="Slide Number Placeholder 4"/>
          <p:cNvSpPr>
            <a:spLocks noGrp="1"/>
          </p:cNvSpPr>
          <p:nvPr>
            <p:ph type="sldNum" sz="quarter" idx="12"/>
          </p:nvPr>
        </p:nvSpPr>
        <p:spPr/>
        <p:txBody>
          <a:bodyPr/>
          <a:lstStyle/>
          <a:p>
            <a:fld id="{036081D1-8380-407A-ABF3-D12854566F9D}" type="slidenum">
              <a:rPr lang="en-US" smtClean="0"/>
              <a:pPr/>
              <a:t>54</a:t>
            </a:fld>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4648200"/>
            <a:ext cx="8229600" cy="990600"/>
          </a:xfrm>
        </p:spPr>
        <p:txBody>
          <a:bodyPr/>
          <a:lstStyle/>
          <a:p>
            <a:r>
              <a:rPr lang="sr-Latn-RS" b="1" dirty="0" smtClean="0">
                <a:solidFill>
                  <a:srgbClr val="C00000"/>
                </a:solidFill>
              </a:rPr>
              <a:t>Atomične operacije</a:t>
            </a:r>
            <a:endParaRPr lang="sr-Latn-RS" b="1" dirty="0">
              <a:solidFill>
                <a:srgbClr val="C00000"/>
              </a:solidFill>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55</a:t>
            </a:fld>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dirty="0" smtClean="0"/>
              <a:t>Atomične operacije</a:t>
            </a:r>
            <a:endParaRPr lang="en-US" dirty="0"/>
          </a:p>
        </p:txBody>
      </p:sp>
      <p:sp>
        <p:nvSpPr>
          <p:cNvPr id="4" name="Content Placeholder 3"/>
          <p:cNvSpPr>
            <a:spLocks noGrp="1"/>
          </p:cNvSpPr>
          <p:nvPr>
            <p:ph idx="1"/>
          </p:nvPr>
        </p:nvSpPr>
        <p:spPr/>
        <p:txBody>
          <a:bodyPr/>
          <a:lstStyle/>
          <a:p>
            <a:r>
              <a:rPr lang="en-US" dirty="0" smtClean="0"/>
              <a:t>x</a:t>
            </a:r>
            <a:r>
              <a:rPr lang="sr-Latn-RS" dirty="0" smtClean="0"/>
              <a:t>++</a:t>
            </a:r>
          </a:p>
          <a:p>
            <a:endParaRPr lang="sr-Latn-RS" dirty="0" smtClean="0"/>
          </a:p>
          <a:p>
            <a:r>
              <a:rPr lang="sr-Latn-RS" dirty="0" smtClean="0"/>
              <a:t>Čitanje vrednosti x</a:t>
            </a:r>
          </a:p>
          <a:p>
            <a:r>
              <a:rPr lang="en-US" dirty="0" smtClean="0"/>
              <a:t>I</a:t>
            </a:r>
            <a:r>
              <a:rPr lang="sr-Latn-RS" dirty="0" smtClean="0"/>
              <a:t>nkrementiranje pročitane vrednosti</a:t>
            </a:r>
          </a:p>
          <a:p>
            <a:r>
              <a:rPr lang="sr-Latn-RS" dirty="0" smtClean="0"/>
              <a:t>Upis rezultata u x</a:t>
            </a:r>
          </a:p>
          <a:p>
            <a:endParaRPr lang="sr-Latn-RS" dirty="0" smtClean="0"/>
          </a:p>
          <a:p>
            <a:pPr>
              <a:buNone/>
            </a:pPr>
            <a:r>
              <a:rPr lang="sr-Latn-RS" i="1" dirty="0" smtClean="0">
                <a:solidFill>
                  <a:srgbClr val="159B1B"/>
                </a:solidFill>
              </a:rPr>
              <a:t>read-modify-write</a:t>
            </a:r>
            <a:r>
              <a:rPr lang="sr-Latn-RS" dirty="0" smtClean="0">
                <a:solidFill>
                  <a:srgbClr val="159B1B"/>
                </a:solidFill>
              </a:rPr>
              <a:t> operacija</a:t>
            </a:r>
            <a:endParaRPr lang="en-US" dirty="0">
              <a:solidFill>
                <a:srgbClr val="159B1B"/>
              </a:solidFill>
            </a:endParaRPr>
          </a:p>
        </p:txBody>
      </p:sp>
      <p:sp>
        <p:nvSpPr>
          <p:cNvPr id="5" name="Slide Number Placeholder 4"/>
          <p:cNvSpPr>
            <a:spLocks noGrp="1"/>
          </p:cNvSpPr>
          <p:nvPr>
            <p:ph type="sldNum" sz="quarter" idx="12"/>
          </p:nvPr>
        </p:nvSpPr>
        <p:spPr/>
        <p:txBody>
          <a:bodyPr/>
          <a:lstStyle/>
          <a:p>
            <a:fld id="{036081D1-8380-407A-ABF3-D12854566F9D}" type="slidenum">
              <a:rPr lang="en-US" smtClean="0"/>
              <a:pPr/>
              <a:t>56</a:t>
            </a:fld>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sr-Latn-RS" dirty="0" smtClean="0"/>
              <a:t>Atomične operacije – dve niti</a:t>
            </a:r>
            <a:endParaRPr lang="en-US" dirty="0"/>
          </a:p>
        </p:txBody>
      </p:sp>
      <p:sp>
        <p:nvSpPr>
          <p:cNvPr id="14" name="Text Placeholder 13"/>
          <p:cNvSpPr>
            <a:spLocks noGrp="1"/>
          </p:cNvSpPr>
          <p:nvPr>
            <p:ph type="body" idx="1"/>
          </p:nvPr>
        </p:nvSpPr>
        <p:spPr>
          <a:xfrm>
            <a:off x="228600" y="1295400"/>
            <a:ext cx="3931920" cy="639762"/>
          </a:xfrm>
        </p:spPr>
        <p:txBody>
          <a:bodyPr/>
          <a:lstStyle/>
          <a:p>
            <a:r>
              <a:rPr lang="en-US" dirty="0" smtClean="0"/>
              <a:t>X</a:t>
            </a:r>
            <a:r>
              <a:rPr lang="sr-Latn-RS" dirty="0" smtClean="0"/>
              <a:t> = 7, Niti A i B inkremetiraju X</a:t>
            </a:r>
            <a:endParaRPr lang="en-US" dirty="0"/>
          </a:p>
        </p:txBody>
      </p:sp>
      <p:graphicFrame>
        <p:nvGraphicFramePr>
          <p:cNvPr id="12" name="Content Placeholder 11"/>
          <p:cNvGraphicFramePr>
            <a:graphicFrameLocks noGrp="1"/>
          </p:cNvGraphicFramePr>
          <p:nvPr>
            <p:ph sz="half" idx="2"/>
          </p:nvPr>
        </p:nvGraphicFramePr>
        <p:xfrm>
          <a:off x="304800" y="2087880"/>
          <a:ext cx="3932237" cy="4770120"/>
        </p:xfrm>
        <a:graphic>
          <a:graphicData uri="http://schemas.openxmlformats.org/drawingml/2006/table">
            <a:tbl>
              <a:tblPr firstRow="1" bandRow="1">
                <a:tableStyleId>{5C22544A-7EE6-4342-B048-85BDC9FD1C3A}</a:tableStyleId>
              </a:tblPr>
              <a:tblGrid>
                <a:gridCol w="2003215">
                  <a:extLst>
                    <a:ext uri="{9D8B030D-6E8A-4147-A177-3AD203B41FA5}">
                      <a16:colId xmlns:a16="http://schemas.microsoft.com/office/drawing/2014/main" val="20000"/>
                    </a:ext>
                  </a:extLst>
                </a:gridCol>
                <a:gridCol w="1929022">
                  <a:extLst>
                    <a:ext uri="{9D8B030D-6E8A-4147-A177-3AD203B41FA5}">
                      <a16:colId xmlns:a16="http://schemas.microsoft.com/office/drawing/2014/main" val="20001"/>
                    </a:ext>
                  </a:extLst>
                </a:gridCol>
              </a:tblGrid>
              <a:tr h="370840">
                <a:tc>
                  <a:txBody>
                    <a:bodyPr/>
                    <a:lstStyle/>
                    <a:p>
                      <a:r>
                        <a:rPr lang="sr-Latn-RS" dirty="0" smtClean="0"/>
                        <a:t>Korak</a:t>
                      </a:r>
                      <a:endParaRPr lang="en-US" dirty="0"/>
                    </a:p>
                  </a:txBody>
                  <a:tcPr marL="89032" marR="89032"/>
                </a:tc>
                <a:tc>
                  <a:txBody>
                    <a:bodyPr/>
                    <a:lstStyle/>
                    <a:p>
                      <a:r>
                        <a:rPr lang="en-US" dirty="0" smtClean="0"/>
                        <a:t>P</a:t>
                      </a:r>
                      <a:r>
                        <a:rPr lang="sr-Latn-RS" dirty="0" smtClean="0"/>
                        <a:t>rimer</a:t>
                      </a:r>
                      <a:endParaRPr lang="en-US" dirty="0"/>
                    </a:p>
                  </a:txBody>
                  <a:tcPr marL="89032" marR="89032"/>
                </a:tc>
                <a:extLst>
                  <a:ext uri="{0D108BD9-81ED-4DB2-BD59-A6C34878D82A}">
                    <a16:rowId xmlns:a16="http://schemas.microsoft.com/office/drawing/2014/main" val="10000"/>
                  </a:ext>
                </a:extLst>
              </a:tr>
              <a:tr h="370840">
                <a:tc>
                  <a:txBody>
                    <a:bodyPr/>
                    <a:lstStyle/>
                    <a:p>
                      <a:r>
                        <a:rPr lang="sr-Latn-RS" dirty="0" smtClean="0"/>
                        <a:t>1. Nit</a:t>
                      </a:r>
                      <a:r>
                        <a:rPr lang="sr-Latn-RS" baseline="0" dirty="0" smtClean="0"/>
                        <a:t> A čita x</a:t>
                      </a:r>
                      <a:endParaRPr lang="en-US" dirty="0"/>
                    </a:p>
                  </a:txBody>
                  <a:tcPr marL="89032" marR="89032"/>
                </a:tc>
                <a:tc>
                  <a:txBody>
                    <a:bodyPr/>
                    <a:lstStyle/>
                    <a:p>
                      <a:r>
                        <a:rPr lang="sr-Latn-RS" dirty="0" smtClean="0"/>
                        <a:t>A čita vrednost 7</a:t>
                      </a:r>
                      <a:endParaRPr lang="en-US" dirty="0"/>
                    </a:p>
                  </a:txBody>
                  <a:tcPr marL="89032" marR="89032"/>
                </a:tc>
                <a:extLst>
                  <a:ext uri="{0D108BD9-81ED-4DB2-BD59-A6C34878D82A}">
                    <a16:rowId xmlns:a16="http://schemas.microsoft.com/office/drawing/2014/main" val="10001"/>
                  </a:ext>
                </a:extLst>
              </a:tr>
              <a:tr h="370840">
                <a:tc>
                  <a:txBody>
                    <a:bodyPr/>
                    <a:lstStyle/>
                    <a:p>
                      <a:r>
                        <a:rPr lang="sr-Latn-RS" dirty="0" smtClean="0"/>
                        <a:t>2. Nit A</a:t>
                      </a:r>
                      <a:r>
                        <a:rPr lang="sr-Latn-RS" baseline="0" dirty="0" smtClean="0"/>
                        <a:t> inkrementira pročitanu vrednost</a:t>
                      </a:r>
                      <a:endParaRPr lang="en-US" dirty="0"/>
                    </a:p>
                  </a:txBody>
                  <a:tcPr marL="89032" marR="89032"/>
                </a:tc>
                <a:tc>
                  <a:txBody>
                    <a:bodyPr/>
                    <a:lstStyle/>
                    <a:p>
                      <a:r>
                        <a:rPr lang="sr-Latn-RS" dirty="0" smtClean="0"/>
                        <a:t>A računa 8</a:t>
                      </a:r>
                      <a:endParaRPr lang="en-US" dirty="0"/>
                    </a:p>
                  </a:txBody>
                  <a:tcPr marL="89032" marR="89032"/>
                </a:tc>
                <a:extLst>
                  <a:ext uri="{0D108BD9-81ED-4DB2-BD59-A6C34878D82A}">
                    <a16:rowId xmlns:a16="http://schemas.microsoft.com/office/drawing/2014/main" val="10002"/>
                  </a:ext>
                </a:extLst>
              </a:tr>
              <a:tr h="370840">
                <a:tc>
                  <a:txBody>
                    <a:bodyPr/>
                    <a:lstStyle/>
                    <a:p>
                      <a:r>
                        <a:rPr lang="sr-Latn-RS" dirty="0" smtClean="0"/>
                        <a:t>3. A upisuje rezultat u x</a:t>
                      </a:r>
                      <a:endParaRPr lang="en-US" dirty="0"/>
                    </a:p>
                  </a:txBody>
                  <a:tcPr marL="89032" marR="89032"/>
                </a:tc>
                <a:tc>
                  <a:txBody>
                    <a:bodyPr/>
                    <a:lstStyle/>
                    <a:p>
                      <a:r>
                        <a:rPr lang="en-US" dirty="0" smtClean="0"/>
                        <a:t>x</a:t>
                      </a:r>
                      <a:r>
                        <a:rPr lang="sr-Latn-RS" dirty="0" smtClean="0"/>
                        <a:t> ← 8</a:t>
                      </a:r>
                      <a:endParaRPr lang="en-US" dirty="0"/>
                    </a:p>
                  </a:txBody>
                  <a:tcPr marL="89032" marR="89032"/>
                </a:tc>
                <a:extLst>
                  <a:ext uri="{0D108BD9-81ED-4DB2-BD59-A6C34878D82A}">
                    <a16:rowId xmlns:a16="http://schemas.microsoft.com/office/drawing/2014/main" val="10003"/>
                  </a:ext>
                </a:extLst>
              </a:tr>
              <a:tr h="370840">
                <a:tc>
                  <a:txBody>
                    <a:bodyPr/>
                    <a:lstStyle/>
                    <a:p>
                      <a:r>
                        <a:rPr lang="sr-Latn-RS" dirty="0" smtClean="0"/>
                        <a:t>4. Nit</a:t>
                      </a:r>
                      <a:r>
                        <a:rPr lang="sr-Latn-RS" baseline="0" dirty="0" smtClean="0"/>
                        <a:t> B čita x</a:t>
                      </a:r>
                      <a:endParaRPr lang="en-US" dirty="0"/>
                    </a:p>
                  </a:txBody>
                  <a:tcPr marL="89032" marR="89032"/>
                </a:tc>
                <a:tc>
                  <a:txBody>
                    <a:bodyPr/>
                    <a:lstStyle/>
                    <a:p>
                      <a:r>
                        <a:rPr lang="sr-Latn-RS" dirty="0" smtClean="0"/>
                        <a:t>B čita vrednost 8</a:t>
                      </a:r>
                      <a:endParaRPr lang="en-US" dirty="0"/>
                    </a:p>
                  </a:txBody>
                  <a:tcPr marL="89032" marR="89032"/>
                </a:tc>
                <a:extLst>
                  <a:ext uri="{0D108BD9-81ED-4DB2-BD59-A6C34878D82A}">
                    <a16:rowId xmlns:a16="http://schemas.microsoft.com/office/drawing/2014/main" val="10004"/>
                  </a:ext>
                </a:extLst>
              </a:tr>
              <a:tr h="370840">
                <a:tc>
                  <a:txBody>
                    <a:bodyPr/>
                    <a:lstStyle/>
                    <a:p>
                      <a:r>
                        <a:rPr lang="sr-Latn-RS" dirty="0" smtClean="0"/>
                        <a:t>5. Nit B</a:t>
                      </a:r>
                      <a:r>
                        <a:rPr lang="sr-Latn-RS" baseline="0" dirty="0" smtClean="0"/>
                        <a:t> inkrementira pročitanu vrednost</a:t>
                      </a:r>
                      <a:endParaRPr lang="en-US" dirty="0"/>
                    </a:p>
                  </a:txBody>
                  <a:tcPr marL="89032" marR="89032"/>
                </a:tc>
                <a:tc>
                  <a:txBody>
                    <a:bodyPr/>
                    <a:lstStyle/>
                    <a:p>
                      <a:r>
                        <a:rPr lang="sr-Latn-RS" dirty="0" smtClean="0"/>
                        <a:t>B računa 9</a:t>
                      </a:r>
                      <a:endParaRPr lang="en-US" dirty="0"/>
                    </a:p>
                  </a:txBody>
                  <a:tcPr marL="89032" marR="89032"/>
                </a:tc>
                <a:extLst>
                  <a:ext uri="{0D108BD9-81ED-4DB2-BD59-A6C34878D82A}">
                    <a16:rowId xmlns:a16="http://schemas.microsoft.com/office/drawing/2014/main" val="10005"/>
                  </a:ext>
                </a:extLst>
              </a:tr>
              <a:tr h="370840">
                <a:tc>
                  <a:txBody>
                    <a:bodyPr/>
                    <a:lstStyle/>
                    <a:p>
                      <a:r>
                        <a:rPr lang="sr-Latn-RS" dirty="0" smtClean="0"/>
                        <a:t>6. B upisuje rezultat u x</a:t>
                      </a:r>
                      <a:endParaRPr lang="en-US" dirty="0"/>
                    </a:p>
                  </a:txBody>
                  <a:tcPr marL="89032" marR="8903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x</a:t>
                      </a:r>
                      <a:r>
                        <a:rPr lang="sr-Latn-RS" dirty="0" smtClean="0"/>
                        <a:t> ← 9</a:t>
                      </a:r>
                      <a:endParaRPr lang="en-US" dirty="0" smtClean="0"/>
                    </a:p>
                  </a:txBody>
                  <a:tcPr marL="89032" marR="89032"/>
                </a:tc>
                <a:extLst>
                  <a:ext uri="{0D108BD9-81ED-4DB2-BD59-A6C34878D82A}">
                    <a16:rowId xmlns:a16="http://schemas.microsoft.com/office/drawing/2014/main" val="10006"/>
                  </a:ext>
                </a:extLst>
              </a:tr>
            </a:tbl>
          </a:graphicData>
        </a:graphic>
      </p:graphicFrame>
      <p:sp>
        <p:nvSpPr>
          <p:cNvPr id="16" name="Content Placeholder 15"/>
          <p:cNvSpPr>
            <a:spLocks noGrp="1"/>
          </p:cNvSpPr>
          <p:nvPr>
            <p:ph sz="quarter" idx="4"/>
          </p:nvPr>
        </p:nvSpPr>
        <p:spPr/>
        <p:txBody>
          <a:bodyPr/>
          <a:lstStyle/>
          <a:p>
            <a:endParaRPr lang="en-US"/>
          </a:p>
        </p:txBody>
      </p:sp>
      <p:graphicFrame>
        <p:nvGraphicFramePr>
          <p:cNvPr id="13" name="Content Placeholder 11"/>
          <p:cNvGraphicFramePr>
            <a:graphicFrameLocks/>
          </p:cNvGraphicFramePr>
          <p:nvPr/>
        </p:nvGraphicFramePr>
        <p:xfrm>
          <a:off x="4876800" y="2087880"/>
          <a:ext cx="4038600" cy="477012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370840">
                <a:tc>
                  <a:txBody>
                    <a:bodyPr/>
                    <a:lstStyle/>
                    <a:p>
                      <a:r>
                        <a:rPr lang="sr-Latn-RS" dirty="0" smtClean="0"/>
                        <a:t>Korak</a:t>
                      </a:r>
                      <a:endParaRPr lang="en-US" dirty="0"/>
                    </a:p>
                  </a:txBody>
                  <a:tcPr/>
                </a:tc>
                <a:tc>
                  <a:txBody>
                    <a:bodyPr/>
                    <a:lstStyle/>
                    <a:p>
                      <a:r>
                        <a:rPr lang="en-US" dirty="0" smtClean="0"/>
                        <a:t>P</a:t>
                      </a:r>
                      <a:r>
                        <a:rPr lang="sr-Latn-RS" dirty="0" smtClean="0"/>
                        <a:t>rimer</a:t>
                      </a:r>
                      <a:endParaRPr lang="en-US" dirty="0"/>
                    </a:p>
                  </a:txBody>
                  <a:tcPr/>
                </a:tc>
                <a:extLst>
                  <a:ext uri="{0D108BD9-81ED-4DB2-BD59-A6C34878D82A}">
                    <a16:rowId xmlns:a16="http://schemas.microsoft.com/office/drawing/2014/main" val="10000"/>
                  </a:ext>
                </a:extLst>
              </a:tr>
              <a:tr h="370840">
                <a:tc>
                  <a:txBody>
                    <a:bodyPr/>
                    <a:lstStyle/>
                    <a:p>
                      <a:r>
                        <a:rPr lang="sr-Latn-RS" dirty="0" smtClean="0"/>
                        <a:t>1. Nit</a:t>
                      </a:r>
                      <a:r>
                        <a:rPr lang="sr-Latn-RS" baseline="0" dirty="0" smtClean="0"/>
                        <a:t> A čita x</a:t>
                      </a:r>
                      <a:endParaRPr lang="en-US" dirty="0"/>
                    </a:p>
                  </a:txBody>
                  <a:tcPr/>
                </a:tc>
                <a:tc>
                  <a:txBody>
                    <a:bodyPr/>
                    <a:lstStyle/>
                    <a:p>
                      <a:r>
                        <a:rPr lang="sr-Latn-RS" dirty="0" smtClean="0"/>
                        <a:t>A čita vrednost 7</a:t>
                      </a:r>
                      <a:endParaRPr lang="en-US" dirty="0"/>
                    </a:p>
                  </a:txBody>
                  <a:tcPr/>
                </a:tc>
                <a:extLst>
                  <a:ext uri="{0D108BD9-81ED-4DB2-BD59-A6C34878D82A}">
                    <a16:rowId xmlns:a16="http://schemas.microsoft.com/office/drawing/2014/main" val="10001"/>
                  </a:ext>
                </a:extLst>
              </a:tr>
              <a:tr h="370840">
                <a:tc>
                  <a:txBody>
                    <a:bodyPr/>
                    <a:lstStyle/>
                    <a:p>
                      <a:r>
                        <a:rPr lang="sr-Latn-RS" dirty="0" smtClean="0"/>
                        <a:t>2. Nit</a:t>
                      </a:r>
                      <a:r>
                        <a:rPr lang="sr-Latn-RS" baseline="0" dirty="0" smtClean="0"/>
                        <a:t> B čita x</a:t>
                      </a:r>
                      <a:endParaRPr lang="en-US" dirty="0"/>
                    </a:p>
                  </a:txBody>
                  <a:tcPr/>
                </a:tc>
                <a:tc>
                  <a:txBody>
                    <a:bodyPr/>
                    <a:lstStyle/>
                    <a:p>
                      <a:r>
                        <a:rPr lang="sr-Latn-RS" dirty="0" smtClean="0"/>
                        <a:t>B čita vrednost 7</a:t>
                      </a:r>
                      <a:endParaRPr lang="en-US" dirty="0"/>
                    </a:p>
                  </a:txBody>
                  <a:tcPr/>
                </a:tc>
                <a:extLst>
                  <a:ext uri="{0D108BD9-81ED-4DB2-BD59-A6C34878D82A}">
                    <a16:rowId xmlns:a16="http://schemas.microsoft.com/office/drawing/2014/main" val="10002"/>
                  </a:ext>
                </a:extLst>
              </a:tr>
              <a:tr h="370840">
                <a:tc>
                  <a:txBody>
                    <a:bodyPr/>
                    <a:lstStyle/>
                    <a:p>
                      <a:r>
                        <a:rPr lang="sr-Latn-RS" dirty="0" smtClean="0"/>
                        <a:t>2. Nit A</a:t>
                      </a:r>
                      <a:r>
                        <a:rPr lang="sr-Latn-RS" baseline="0" dirty="0" smtClean="0"/>
                        <a:t> inkrementira pročitanu vrednost</a:t>
                      </a:r>
                      <a:endParaRPr lang="en-US" dirty="0"/>
                    </a:p>
                  </a:txBody>
                  <a:tcPr/>
                </a:tc>
                <a:tc>
                  <a:txBody>
                    <a:bodyPr/>
                    <a:lstStyle/>
                    <a:p>
                      <a:r>
                        <a:rPr lang="sr-Latn-RS" dirty="0" smtClean="0"/>
                        <a:t>A računa 8</a:t>
                      </a:r>
                      <a:endParaRPr lang="en-US" dirty="0"/>
                    </a:p>
                  </a:txBody>
                  <a:tcPr/>
                </a:tc>
                <a:extLst>
                  <a:ext uri="{0D108BD9-81ED-4DB2-BD59-A6C34878D82A}">
                    <a16:rowId xmlns:a16="http://schemas.microsoft.com/office/drawing/2014/main" val="10003"/>
                  </a:ext>
                </a:extLst>
              </a:tr>
              <a:tr h="370840">
                <a:tc>
                  <a:txBody>
                    <a:bodyPr/>
                    <a:lstStyle/>
                    <a:p>
                      <a:r>
                        <a:rPr lang="sr-Latn-RS" dirty="0" smtClean="0"/>
                        <a:t>5. Nit B</a:t>
                      </a:r>
                      <a:r>
                        <a:rPr lang="sr-Latn-RS" baseline="0" dirty="0" smtClean="0"/>
                        <a:t> inkrementira pročitanu vrednost</a:t>
                      </a:r>
                      <a:endParaRPr lang="en-US" dirty="0"/>
                    </a:p>
                  </a:txBody>
                  <a:tcPr/>
                </a:tc>
                <a:tc>
                  <a:txBody>
                    <a:bodyPr/>
                    <a:lstStyle/>
                    <a:p>
                      <a:r>
                        <a:rPr lang="sr-Latn-RS" dirty="0" smtClean="0"/>
                        <a:t>B računa 8</a:t>
                      </a:r>
                      <a:endParaRPr lang="en-US" dirty="0"/>
                    </a:p>
                  </a:txBody>
                  <a:tcPr/>
                </a:tc>
                <a:extLst>
                  <a:ext uri="{0D108BD9-81ED-4DB2-BD59-A6C34878D82A}">
                    <a16:rowId xmlns:a16="http://schemas.microsoft.com/office/drawing/2014/main" val="10004"/>
                  </a:ext>
                </a:extLst>
              </a:tr>
              <a:tr h="370840">
                <a:tc>
                  <a:txBody>
                    <a:bodyPr/>
                    <a:lstStyle/>
                    <a:p>
                      <a:r>
                        <a:rPr lang="sr-Latn-RS" dirty="0" smtClean="0"/>
                        <a:t>3. A upisuje rezultat u x</a:t>
                      </a:r>
                      <a:endParaRPr lang="en-US" dirty="0"/>
                    </a:p>
                  </a:txBody>
                  <a:tcPr/>
                </a:tc>
                <a:tc>
                  <a:txBody>
                    <a:bodyPr/>
                    <a:lstStyle/>
                    <a:p>
                      <a:r>
                        <a:rPr lang="en-US" dirty="0" smtClean="0"/>
                        <a:t>x</a:t>
                      </a:r>
                      <a:r>
                        <a:rPr lang="sr-Latn-RS" dirty="0" smtClean="0"/>
                        <a:t> ← 8</a:t>
                      </a:r>
                      <a:endParaRPr lang="en-US" dirty="0"/>
                    </a:p>
                  </a:txBody>
                  <a:tcPr/>
                </a:tc>
                <a:extLst>
                  <a:ext uri="{0D108BD9-81ED-4DB2-BD59-A6C34878D82A}">
                    <a16:rowId xmlns:a16="http://schemas.microsoft.com/office/drawing/2014/main" val="10005"/>
                  </a:ext>
                </a:extLst>
              </a:tr>
              <a:tr h="370840">
                <a:tc>
                  <a:txBody>
                    <a:bodyPr/>
                    <a:lstStyle/>
                    <a:p>
                      <a:r>
                        <a:rPr lang="sr-Latn-RS" dirty="0" smtClean="0"/>
                        <a:t>6. B upisuje rezultat u x</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x</a:t>
                      </a:r>
                      <a:r>
                        <a:rPr lang="sr-Latn-RS" dirty="0" smtClean="0"/>
                        <a:t> ← 8</a:t>
                      </a:r>
                      <a:endParaRPr lang="en-US" dirty="0" smtClean="0"/>
                    </a:p>
                  </a:txBody>
                  <a:tcPr/>
                </a:tc>
                <a:extLst>
                  <a:ext uri="{0D108BD9-81ED-4DB2-BD59-A6C34878D82A}">
                    <a16:rowId xmlns:a16="http://schemas.microsoft.com/office/drawing/2014/main" val="10006"/>
                  </a:ext>
                </a:extLst>
              </a:tr>
            </a:tbl>
          </a:graphicData>
        </a:graphic>
      </p:graphicFrame>
      <p:sp>
        <p:nvSpPr>
          <p:cNvPr id="2" name="Slide Number Placeholder 1"/>
          <p:cNvSpPr>
            <a:spLocks noGrp="1"/>
          </p:cNvSpPr>
          <p:nvPr>
            <p:ph type="sldNum" sz="quarter" idx="12"/>
          </p:nvPr>
        </p:nvSpPr>
        <p:spPr/>
        <p:txBody>
          <a:bodyPr/>
          <a:lstStyle/>
          <a:p>
            <a:fld id="{036081D1-8380-407A-ABF3-D12854566F9D}" type="slidenum">
              <a:rPr lang="en-US" smtClean="0"/>
              <a:pPr/>
              <a:t>57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Compute capability</a:t>
            </a:r>
            <a:endParaRPr lang="en-US" dirty="0"/>
          </a:p>
        </p:txBody>
      </p:sp>
      <p:sp>
        <p:nvSpPr>
          <p:cNvPr id="8" name="Content Placeholder 7"/>
          <p:cNvSpPr>
            <a:spLocks noGrp="1"/>
          </p:cNvSpPr>
          <p:nvPr>
            <p:ph idx="1"/>
          </p:nvPr>
        </p:nvSpPr>
        <p:spPr/>
        <p:txBody>
          <a:bodyPr/>
          <a:lstStyle/>
          <a:p>
            <a:r>
              <a:rPr lang="sr-Latn-RS" dirty="0" smtClean="0"/>
              <a:t>Sve operacije koje smo dosad naveli su podržane od strane svake CUDA-capable grafičke kartice</a:t>
            </a:r>
          </a:p>
          <a:p>
            <a:r>
              <a:rPr lang="sr-Latn-RS" dirty="0" smtClean="0"/>
              <a:t>Kao što postoje različiti setovi instrukcija za CPU (MMX, SSE, SSE2), postoje različiti setovi instrukcija i za GPU</a:t>
            </a:r>
          </a:p>
          <a:p>
            <a:r>
              <a:rPr lang="sr-Latn-RS" dirty="0" smtClean="0"/>
              <a:t>NVIDIA funkcionalnosti i mogućnosti grafičkih kartica obeležava sa </a:t>
            </a:r>
            <a:r>
              <a:rPr lang="sr-Latn-RS" b="1" i="1" dirty="0" smtClean="0">
                <a:solidFill>
                  <a:srgbClr val="C00000"/>
                </a:solidFill>
              </a:rPr>
              <a:t>compute capability</a:t>
            </a:r>
          </a:p>
          <a:p>
            <a:r>
              <a:rPr lang="sr-Latn-RS" dirty="0" smtClean="0"/>
              <a:t>Na primer, atomične operacije su podržane tek od </a:t>
            </a:r>
            <a:r>
              <a:rPr lang="sr-Latn-RS" i="1" dirty="0" smtClean="0"/>
              <a:t>compute capability </a:t>
            </a:r>
            <a:r>
              <a:rPr lang="sr-Latn-RS" dirty="0" smtClean="0"/>
              <a:t>1.1 pa naviše</a:t>
            </a:r>
            <a:endParaRPr lang="en-US" dirty="0"/>
          </a:p>
        </p:txBody>
      </p:sp>
      <p:sp>
        <p:nvSpPr>
          <p:cNvPr id="2" name="Slide Number Placeholder 1"/>
          <p:cNvSpPr>
            <a:spLocks noGrp="1"/>
          </p:cNvSpPr>
          <p:nvPr>
            <p:ph type="sldNum" sz="quarter" idx="12"/>
          </p:nvPr>
        </p:nvSpPr>
        <p:spPr/>
        <p:txBody>
          <a:bodyPr/>
          <a:lstStyle/>
          <a:p>
            <a:fld id="{036081D1-8380-407A-ABF3-D12854566F9D}" type="slidenum">
              <a:rPr lang="en-US" smtClean="0"/>
              <a:pPr/>
              <a:t>58</a:t>
            </a:fld>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Compute capability</a:t>
            </a:r>
            <a:r>
              <a:rPr lang="sr-Latn-RS" dirty="0" smtClean="0"/>
              <a:t> - kompajliranje</a:t>
            </a:r>
            <a:endParaRPr lang="en-US" dirty="0"/>
          </a:p>
        </p:txBody>
      </p:sp>
      <p:sp>
        <p:nvSpPr>
          <p:cNvPr id="8" name="Content Placeholder 7"/>
          <p:cNvSpPr>
            <a:spLocks noGrp="1"/>
          </p:cNvSpPr>
          <p:nvPr>
            <p:ph idx="1"/>
          </p:nvPr>
        </p:nvSpPr>
        <p:spPr/>
        <p:txBody>
          <a:bodyPr/>
          <a:lstStyle/>
          <a:p>
            <a:r>
              <a:rPr lang="sr-Latn-RS" dirty="0" smtClean="0"/>
              <a:t>Da bi se kompajlirao CUDA kod, potrebno je naznačiti koji je minimalni compute capability.</a:t>
            </a:r>
          </a:p>
          <a:p>
            <a:r>
              <a:rPr lang="sr-Latn-RS" dirty="0" smtClean="0"/>
              <a:t>Navođenjem istog, kompajleru se daje mogućnost i za dodatne optimizacije.</a:t>
            </a:r>
          </a:p>
          <a:p>
            <a:endParaRPr lang="sr-Latn-RS" dirty="0" smtClean="0"/>
          </a:p>
          <a:p>
            <a:pPr>
              <a:buNone/>
            </a:pPr>
            <a:r>
              <a:rPr lang="sr-Latn-RS" dirty="0" smtClean="0">
                <a:solidFill>
                  <a:srgbClr val="C00000"/>
                </a:solidFill>
              </a:rPr>
              <a:t> 		</a:t>
            </a:r>
            <a:r>
              <a:rPr lang="en-US" dirty="0" err="1" smtClean="0">
                <a:solidFill>
                  <a:srgbClr val="C00000"/>
                </a:solidFill>
              </a:rPr>
              <a:t>nvcc</a:t>
            </a:r>
            <a:r>
              <a:rPr lang="sr-Latn-RS" dirty="0" smtClean="0">
                <a:solidFill>
                  <a:srgbClr val="C00000"/>
                </a:solidFill>
              </a:rPr>
              <a:t> –arch=sm_11</a:t>
            </a:r>
            <a:endParaRPr lang="en-US" dirty="0">
              <a:solidFill>
                <a:srgbClr val="C00000"/>
              </a:solidFill>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sr-Latn-RS" dirty="0" smtClean="0"/>
              <a:t>Race conditions</a:t>
            </a:r>
            <a:endParaRPr lang="en-US" dirty="0"/>
          </a:p>
        </p:txBody>
      </p:sp>
      <p:sp>
        <p:nvSpPr>
          <p:cNvPr id="8" name="Content Placeholder 7"/>
          <p:cNvSpPr>
            <a:spLocks noGrp="1"/>
          </p:cNvSpPr>
          <p:nvPr>
            <p:ph idx="1"/>
          </p:nvPr>
        </p:nvSpPr>
        <p:spPr/>
        <p:txBody>
          <a:bodyPr/>
          <a:lstStyle/>
          <a:p>
            <a:r>
              <a:rPr lang="sr-Latn-RS" dirty="0" smtClean="0"/>
              <a:t>Hazard koji se javlja kada rezultat izvršenja zavisi od trenutka u kom se dešavaju događaji nad kojima nemamo kontrolu</a:t>
            </a:r>
          </a:p>
          <a:p>
            <a:pPr lvl="1"/>
            <a:r>
              <a:rPr lang="sr-Latn-RS" dirty="0" smtClean="0"/>
              <a:t>Redosled izvršenja niti</a:t>
            </a:r>
          </a:p>
          <a:p>
            <a:r>
              <a:rPr lang="sr-Latn-RS" dirty="0" smtClean="0"/>
              <a:t>Problemi nastaju kada se naruši SIMD paradigma</a:t>
            </a:r>
          </a:p>
          <a:p>
            <a:r>
              <a:rPr lang="sr-Latn-RS" dirty="0" smtClean="0"/>
              <a:t>Atomične operacije su </a:t>
            </a:r>
            <a:r>
              <a:rPr lang="sr-Latn-RS" i="1" dirty="0" smtClean="0"/>
              <a:t>brute force</a:t>
            </a:r>
            <a:r>
              <a:rPr lang="sr-Latn-RS" dirty="0" smtClean="0"/>
              <a:t> način da se ovi problemi zaobiđu</a:t>
            </a:r>
          </a:p>
          <a:p>
            <a:pPr lvl="1"/>
            <a:r>
              <a:rPr lang="en-US" dirty="0" smtClean="0"/>
              <a:t>A</a:t>
            </a:r>
            <a:r>
              <a:rPr lang="sr-Latn-RS" dirty="0" smtClean="0"/>
              <a:t>tomics, locks, and mutex</a:t>
            </a:r>
            <a:endParaRPr lang="en-US" dirty="0"/>
          </a:p>
        </p:txBody>
      </p:sp>
      <p:sp>
        <p:nvSpPr>
          <p:cNvPr id="2" name="Slide Number Placeholder 1"/>
          <p:cNvSpPr>
            <a:spLocks noGrp="1"/>
          </p:cNvSpPr>
          <p:nvPr>
            <p:ph type="sldNum" sz="quarter" idx="12"/>
          </p:nvPr>
        </p:nvSpPr>
        <p:spPr/>
        <p:txBody>
          <a:bodyPr/>
          <a:lstStyle/>
          <a:p>
            <a:fld id="{036081D1-8380-407A-ABF3-D12854566F9D}" type="slidenum">
              <a:rPr lang="en-US" smtClean="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sr-Latn-RS" dirty="0" smtClean="0"/>
              <a:t>Atomici</a:t>
            </a:r>
            <a:endParaRPr lang="en-US" dirty="0"/>
          </a:p>
        </p:txBody>
      </p:sp>
      <p:sp>
        <p:nvSpPr>
          <p:cNvPr id="8" name="Content Placeholder 7"/>
          <p:cNvSpPr>
            <a:spLocks noGrp="1"/>
          </p:cNvSpPr>
          <p:nvPr>
            <p:ph idx="1"/>
          </p:nvPr>
        </p:nvSpPr>
        <p:spPr/>
        <p:txBody>
          <a:bodyPr/>
          <a:lstStyle/>
          <a:p>
            <a:r>
              <a:rPr lang="en-US" dirty="0" err="1" smtClean="0"/>
              <a:t>atomicAdd</a:t>
            </a:r>
            <a:r>
              <a:rPr lang="en-US" dirty="0" smtClean="0"/>
              <a:t>() </a:t>
            </a:r>
            <a:endParaRPr lang="sr-Latn-RS" dirty="0" smtClean="0"/>
          </a:p>
          <a:p>
            <a:r>
              <a:rPr lang="en-US" dirty="0" err="1" smtClean="0"/>
              <a:t>atomicSub</a:t>
            </a:r>
            <a:r>
              <a:rPr lang="en-US" dirty="0" smtClean="0"/>
              <a:t>() </a:t>
            </a:r>
            <a:endParaRPr lang="sr-Latn-RS" dirty="0" smtClean="0"/>
          </a:p>
          <a:p>
            <a:r>
              <a:rPr lang="en-US" dirty="0" err="1" smtClean="0"/>
              <a:t>atomicMin</a:t>
            </a:r>
            <a:r>
              <a:rPr lang="en-US" dirty="0" smtClean="0"/>
              <a:t>() </a:t>
            </a:r>
            <a:endParaRPr lang="sr-Latn-RS" dirty="0" smtClean="0"/>
          </a:p>
          <a:p>
            <a:r>
              <a:rPr lang="en-US" dirty="0" err="1" smtClean="0"/>
              <a:t>atomicMax</a:t>
            </a:r>
            <a:r>
              <a:rPr lang="en-US" dirty="0" smtClean="0"/>
              <a:t>() </a:t>
            </a:r>
            <a:endParaRPr lang="sr-Latn-RS" dirty="0" smtClean="0"/>
          </a:p>
          <a:p>
            <a:r>
              <a:rPr lang="en-US" dirty="0" err="1" smtClean="0"/>
              <a:t>atomicInc</a:t>
            </a:r>
            <a:r>
              <a:rPr lang="en-US" dirty="0" smtClean="0"/>
              <a:t>() </a:t>
            </a:r>
            <a:endParaRPr lang="sr-Latn-RS" dirty="0" smtClean="0"/>
          </a:p>
          <a:p>
            <a:r>
              <a:rPr lang="en-US" dirty="0" err="1" smtClean="0"/>
              <a:t>atomicDec</a:t>
            </a:r>
            <a:r>
              <a:rPr lang="en-US" dirty="0" smtClean="0"/>
              <a:t>() </a:t>
            </a:r>
            <a:endParaRPr lang="sr-Latn-RS" dirty="0" smtClean="0"/>
          </a:p>
          <a:p>
            <a:r>
              <a:rPr lang="en-US" dirty="0" err="1" smtClean="0"/>
              <a:t>atomicExch</a:t>
            </a:r>
            <a:r>
              <a:rPr lang="en-US" dirty="0" smtClean="0"/>
              <a:t>() </a:t>
            </a:r>
            <a:endParaRPr lang="sr-Latn-RS" dirty="0" smtClean="0"/>
          </a:p>
          <a:p>
            <a:r>
              <a:rPr lang="en-US" dirty="0" err="1" smtClean="0"/>
              <a:t>atomicCAS</a:t>
            </a:r>
            <a:r>
              <a:rPr lang="en-US" dirty="0" smtClean="0"/>
              <a:t>() </a:t>
            </a:r>
            <a:endParaRPr lang="sr-Latn-RS" dirty="0" smtClean="0"/>
          </a:p>
          <a:p>
            <a:r>
              <a:rPr lang="en-US" dirty="0" err="1" smtClean="0"/>
              <a:t>atomicAnd</a:t>
            </a:r>
            <a:r>
              <a:rPr lang="en-US" dirty="0" smtClean="0"/>
              <a:t>() </a:t>
            </a:r>
            <a:endParaRPr lang="sr-Latn-RS" dirty="0" smtClean="0"/>
          </a:p>
          <a:p>
            <a:r>
              <a:rPr lang="en-US" dirty="0" err="1" smtClean="0"/>
              <a:t>atomicOr</a:t>
            </a:r>
            <a:r>
              <a:rPr lang="en-US" dirty="0" smtClean="0"/>
              <a:t>() </a:t>
            </a:r>
            <a:endParaRPr lang="sr-Latn-RS" dirty="0" smtClean="0"/>
          </a:p>
          <a:p>
            <a:r>
              <a:rPr lang="en-US" dirty="0" err="1" smtClean="0"/>
              <a:t>atomicXor</a:t>
            </a:r>
            <a:r>
              <a:rPr lang="en-US" dirty="0" smtClean="0"/>
              <a:t>()</a:t>
            </a:r>
            <a:endParaRPr lang="sr-Latn-RS" dirty="0" smtClean="0"/>
          </a:p>
        </p:txBody>
      </p:sp>
      <p:sp>
        <p:nvSpPr>
          <p:cNvPr id="2" name="Slide Number Placeholder 1"/>
          <p:cNvSpPr>
            <a:spLocks noGrp="1"/>
          </p:cNvSpPr>
          <p:nvPr>
            <p:ph type="sldNum" sz="quarter" idx="12"/>
          </p:nvPr>
        </p:nvSpPr>
        <p:spPr/>
        <p:txBody>
          <a:bodyPr/>
          <a:lstStyle/>
          <a:p>
            <a:fld id="{036081D1-8380-407A-ABF3-D12854566F9D}" type="slidenum">
              <a:rPr lang="en-US" smtClean="0"/>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Locks and </a:t>
            </a:r>
            <a:r>
              <a:rPr lang="en-US" dirty="0" err="1" smtClean="0"/>
              <a:t>mutex</a:t>
            </a:r>
            <a:endParaRPr lang="en-US" dirty="0"/>
          </a:p>
        </p:txBody>
      </p:sp>
      <p:sp>
        <p:nvSpPr>
          <p:cNvPr id="3" name="Content Placeholder 2"/>
          <p:cNvSpPr>
            <a:spLocks noGrp="1"/>
          </p:cNvSpPr>
          <p:nvPr>
            <p:ph idx="1"/>
          </p:nvPr>
        </p:nvSpPr>
        <p:spPr/>
        <p:txBody>
          <a:bodyPr/>
          <a:lstStyle/>
          <a:p>
            <a:r>
              <a:rPr lang="en-US" dirty="0" smtClean="0"/>
              <a:t>Lock:</a:t>
            </a:r>
            <a:endParaRPr lang="sr-Latn-RS" dirty="0" smtClean="0"/>
          </a:p>
          <a:p>
            <a:pPr lvl="1"/>
            <a:r>
              <a:rPr lang="en-US" dirty="0" smtClean="0"/>
              <a:t>M</a:t>
            </a:r>
            <a:r>
              <a:rPr lang="sr-Latn-RS" dirty="0" smtClean="0"/>
              <a:t>ehanizam u paralelnom programiranju kojim se obezbeđuje da ceo segment koda bude izvršen atomično</a:t>
            </a:r>
          </a:p>
          <a:p>
            <a:r>
              <a:rPr lang="sr-Latn-RS" dirty="0" smtClean="0"/>
              <a:t>M</a:t>
            </a:r>
            <a:r>
              <a:rPr lang="en-US" dirty="0" err="1" smtClean="0"/>
              <a:t>utex</a:t>
            </a:r>
            <a:r>
              <a:rPr lang="en-US" dirty="0" smtClean="0"/>
              <a:t> </a:t>
            </a:r>
            <a:endParaRPr lang="sr-Latn-RS" dirty="0" smtClean="0"/>
          </a:p>
          <a:p>
            <a:pPr lvl="1"/>
            <a:r>
              <a:rPr lang="sr-Latn-RS" dirty="0" smtClean="0"/>
              <a:t>- </a:t>
            </a:r>
            <a:r>
              <a:rPr lang="en-US" dirty="0" smtClean="0"/>
              <a:t> “mutual exclusion”, </a:t>
            </a:r>
            <a:r>
              <a:rPr lang="sr-Latn-RS" dirty="0" smtClean="0"/>
              <a:t>princip koji stoji iza lock-ova</a:t>
            </a:r>
            <a:r>
              <a:rPr lang="en-US" dirty="0" smtClean="0"/>
              <a:t>. </a:t>
            </a:r>
            <a:endParaRPr lang="sr-Latn-RS" dirty="0" smtClean="0"/>
          </a:p>
          <a:p>
            <a:pPr lvl="1"/>
            <a:r>
              <a:rPr lang="sr-Latn-RS" dirty="0" smtClean="0"/>
              <a:t>Dok jedna nit izvršava deo koda unutar lock-a, mutex se drži zaklučanim tako da nijedna druga nit ne može da ga otključa</a:t>
            </a:r>
          </a:p>
          <a:p>
            <a:pPr lvl="1"/>
            <a:endParaRPr lang="en-US" dirty="0"/>
          </a:p>
        </p:txBody>
      </p:sp>
      <p:sp>
        <p:nvSpPr>
          <p:cNvPr id="4" name="Slide Number Placeholder 3"/>
          <p:cNvSpPr>
            <a:spLocks noGrp="1"/>
          </p:cNvSpPr>
          <p:nvPr>
            <p:ph type="sldNum" sz="quarter" idx="12"/>
          </p:nvPr>
        </p:nvSpPr>
        <p:spPr/>
        <p:txBody>
          <a:bodyPr/>
          <a:lstStyle/>
          <a:p>
            <a:fld id="{036081D1-8380-407A-ABF3-D12854566F9D}" type="slidenum">
              <a:rPr lang="en-US" smtClean="0"/>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Locks and </a:t>
            </a:r>
            <a:r>
              <a:rPr lang="en-US" dirty="0" err="1" smtClean="0"/>
              <a:t>mutex</a:t>
            </a:r>
            <a:endParaRPr lang="en-US" dirty="0"/>
          </a:p>
        </p:txBody>
      </p:sp>
      <p:pic>
        <p:nvPicPr>
          <p:cNvPr id="2050" name="Picture 2"/>
          <p:cNvPicPr>
            <a:picLocks noGrp="1" noChangeAspect="1" noChangeArrowheads="1"/>
          </p:cNvPicPr>
          <p:nvPr>
            <p:ph idx="1"/>
          </p:nvPr>
        </p:nvPicPr>
        <p:blipFill>
          <a:blip r:embed="rId3"/>
          <a:srcRect/>
          <a:stretch>
            <a:fillRect/>
          </a:stretch>
        </p:blipFill>
        <p:spPr bwMode="auto">
          <a:xfrm>
            <a:off x="990600" y="2133600"/>
            <a:ext cx="7393707" cy="3367087"/>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036081D1-8380-407A-ABF3-D12854566F9D}" type="slidenum">
              <a:rPr lang="en-US" smtClean="0"/>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Primer: Računanje histograma</a:t>
            </a:r>
            <a:endParaRPr lang="en-US" dirty="0"/>
          </a:p>
        </p:txBody>
      </p:sp>
      <p:sp>
        <p:nvSpPr>
          <p:cNvPr id="7" name="Content Placeholder 6"/>
          <p:cNvSpPr>
            <a:spLocks noGrp="1"/>
          </p:cNvSpPr>
          <p:nvPr>
            <p:ph idx="1"/>
          </p:nvPr>
        </p:nvSpPr>
        <p:spPr/>
        <p:txBody>
          <a:bodyPr/>
          <a:lstStyle/>
          <a:p>
            <a:r>
              <a:rPr lang="en-US" dirty="0" err="1" smtClean="0"/>
              <a:t>Jedan</a:t>
            </a:r>
            <a:r>
              <a:rPr lang="en-US" dirty="0" smtClean="0"/>
              <a:t> </a:t>
            </a:r>
            <a:r>
              <a:rPr lang="en-US" dirty="0" err="1" smtClean="0"/>
              <a:t>od</a:t>
            </a:r>
            <a:r>
              <a:rPr lang="en-US" dirty="0" smtClean="0"/>
              <a:t> </a:t>
            </a:r>
            <a:r>
              <a:rPr lang="sr-Latn-RS" dirty="0" smtClean="0"/>
              <a:t>čestih zadataka jeste računanje histograma za dati set podataka</a:t>
            </a:r>
          </a:p>
          <a:p>
            <a:r>
              <a:rPr lang="sr-Latn-RS" dirty="0" smtClean="0"/>
              <a:t>Histogramom se predstavlja broj pojavljivanja svakog elementa u datom skupu</a:t>
            </a:r>
          </a:p>
          <a:p>
            <a:r>
              <a:rPr lang="sr-Latn-RS" dirty="0" smtClean="0"/>
              <a:t>Primer: </a:t>
            </a:r>
          </a:p>
          <a:p>
            <a:pPr>
              <a:buNone/>
            </a:pPr>
            <a:r>
              <a:rPr lang="sr-Latn-RS" dirty="0" smtClean="0"/>
              <a:t>  Skup podataka: </a:t>
            </a:r>
            <a:r>
              <a:rPr lang="en-US" b="1" i="1" dirty="0" smtClean="0">
                <a:solidFill>
                  <a:srgbClr val="92D050"/>
                </a:solidFill>
              </a:rPr>
              <a:t>P</a:t>
            </a:r>
            <a:r>
              <a:rPr lang="sr-Latn-RS" b="1" i="1" dirty="0" smtClean="0">
                <a:solidFill>
                  <a:srgbClr val="92D050"/>
                </a:solidFill>
              </a:rPr>
              <a:t>aralelni sistemi i CUDA C</a:t>
            </a:r>
            <a:endParaRPr lang="sr-Latn-RS" b="1" dirty="0" smtClean="0">
              <a:solidFill>
                <a:srgbClr val="92D050"/>
              </a:solidFill>
            </a:endParaRPr>
          </a:p>
          <a:p>
            <a:pPr>
              <a:buNone/>
            </a:pPr>
            <a:r>
              <a:rPr lang="sr-Latn-RS" dirty="0" smtClean="0"/>
              <a:t>  </a:t>
            </a:r>
            <a:r>
              <a:rPr lang="en-US" dirty="0" smtClean="0"/>
              <a:t>H</a:t>
            </a:r>
            <a:r>
              <a:rPr lang="sr-Latn-RS" dirty="0" smtClean="0"/>
              <a:t>istogram:</a:t>
            </a:r>
          </a:p>
          <a:p>
            <a:pPr>
              <a:buNone/>
            </a:pPr>
            <a:r>
              <a:rPr lang="en-US" dirty="0" smtClean="0"/>
              <a:t/>
            </a:r>
            <a:br>
              <a:rPr lang="en-US" dirty="0" smtClean="0"/>
            </a:br>
            <a:endParaRPr lang="sr-Latn-RS" dirty="0" smtClean="0"/>
          </a:p>
        </p:txBody>
      </p:sp>
      <p:graphicFrame>
        <p:nvGraphicFramePr>
          <p:cNvPr id="8" name="Table 7"/>
          <p:cNvGraphicFramePr>
            <a:graphicFrameLocks noGrp="1"/>
          </p:cNvGraphicFramePr>
          <p:nvPr/>
        </p:nvGraphicFramePr>
        <p:xfrm>
          <a:off x="2514600" y="4191000"/>
          <a:ext cx="4661644" cy="741680"/>
        </p:xfrm>
        <a:graphic>
          <a:graphicData uri="http://schemas.openxmlformats.org/drawingml/2006/table">
            <a:tbl>
              <a:tblPr firstRow="1" bandRow="1">
                <a:tableStyleId>{5C22544A-7EE6-4342-B048-85BDC9FD1C3A}</a:tableStyleId>
              </a:tblPr>
              <a:tblGrid>
                <a:gridCol w="358588">
                  <a:extLst>
                    <a:ext uri="{9D8B030D-6E8A-4147-A177-3AD203B41FA5}">
                      <a16:colId xmlns:a16="http://schemas.microsoft.com/office/drawing/2014/main" val="20000"/>
                    </a:ext>
                  </a:extLst>
                </a:gridCol>
                <a:gridCol w="358588">
                  <a:extLst>
                    <a:ext uri="{9D8B030D-6E8A-4147-A177-3AD203B41FA5}">
                      <a16:colId xmlns:a16="http://schemas.microsoft.com/office/drawing/2014/main" val="20001"/>
                    </a:ext>
                  </a:extLst>
                </a:gridCol>
                <a:gridCol w="358588">
                  <a:extLst>
                    <a:ext uri="{9D8B030D-6E8A-4147-A177-3AD203B41FA5}">
                      <a16:colId xmlns:a16="http://schemas.microsoft.com/office/drawing/2014/main" val="20002"/>
                    </a:ext>
                  </a:extLst>
                </a:gridCol>
                <a:gridCol w="358588">
                  <a:extLst>
                    <a:ext uri="{9D8B030D-6E8A-4147-A177-3AD203B41FA5}">
                      <a16:colId xmlns:a16="http://schemas.microsoft.com/office/drawing/2014/main" val="20003"/>
                    </a:ext>
                  </a:extLst>
                </a:gridCol>
                <a:gridCol w="358588">
                  <a:extLst>
                    <a:ext uri="{9D8B030D-6E8A-4147-A177-3AD203B41FA5}">
                      <a16:colId xmlns:a16="http://schemas.microsoft.com/office/drawing/2014/main" val="20004"/>
                    </a:ext>
                  </a:extLst>
                </a:gridCol>
                <a:gridCol w="358588">
                  <a:extLst>
                    <a:ext uri="{9D8B030D-6E8A-4147-A177-3AD203B41FA5}">
                      <a16:colId xmlns:a16="http://schemas.microsoft.com/office/drawing/2014/main" val="20005"/>
                    </a:ext>
                  </a:extLst>
                </a:gridCol>
                <a:gridCol w="358588">
                  <a:extLst>
                    <a:ext uri="{9D8B030D-6E8A-4147-A177-3AD203B41FA5}">
                      <a16:colId xmlns:a16="http://schemas.microsoft.com/office/drawing/2014/main" val="20006"/>
                    </a:ext>
                  </a:extLst>
                </a:gridCol>
                <a:gridCol w="358588">
                  <a:extLst>
                    <a:ext uri="{9D8B030D-6E8A-4147-A177-3AD203B41FA5}">
                      <a16:colId xmlns:a16="http://schemas.microsoft.com/office/drawing/2014/main" val="20007"/>
                    </a:ext>
                  </a:extLst>
                </a:gridCol>
                <a:gridCol w="358588">
                  <a:extLst>
                    <a:ext uri="{9D8B030D-6E8A-4147-A177-3AD203B41FA5}">
                      <a16:colId xmlns:a16="http://schemas.microsoft.com/office/drawing/2014/main" val="20008"/>
                    </a:ext>
                  </a:extLst>
                </a:gridCol>
                <a:gridCol w="358588">
                  <a:extLst>
                    <a:ext uri="{9D8B030D-6E8A-4147-A177-3AD203B41FA5}">
                      <a16:colId xmlns:a16="http://schemas.microsoft.com/office/drawing/2014/main" val="20009"/>
                    </a:ext>
                  </a:extLst>
                </a:gridCol>
                <a:gridCol w="358588">
                  <a:extLst>
                    <a:ext uri="{9D8B030D-6E8A-4147-A177-3AD203B41FA5}">
                      <a16:colId xmlns:a16="http://schemas.microsoft.com/office/drawing/2014/main" val="20010"/>
                    </a:ext>
                  </a:extLst>
                </a:gridCol>
                <a:gridCol w="358588">
                  <a:extLst>
                    <a:ext uri="{9D8B030D-6E8A-4147-A177-3AD203B41FA5}">
                      <a16:colId xmlns:a16="http://schemas.microsoft.com/office/drawing/2014/main" val="20011"/>
                    </a:ext>
                  </a:extLst>
                </a:gridCol>
                <a:gridCol w="358588">
                  <a:extLst>
                    <a:ext uri="{9D8B030D-6E8A-4147-A177-3AD203B41FA5}">
                      <a16:colId xmlns:a16="http://schemas.microsoft.com/office/drawing/2014/main" val="20012"/>
                    </a:ext>
                  </a:extLst>
                </a:gridCol>
              </a:tblGrid>
              <a:tr h="370840">
                <a:tc>
                  <a:txBody>
                    <a:bodyPr/>
                    <a:lstStyle/>
                    <a:p>
                      <a:pPr algn="ctr"/>
                      <a:r>
                        <a:rPr lang="sr-Latn-RS" dirty="0" smtClean="0"/>
                        <a:t>3</a:t>
                      </a:r>
                      <a:endParaRPr lang="en-US" dirty="0"/>
                    </a:p>
                  </a:txBody>
                  <a:tcPr/>
                </a:tc>
                <a:tc>
                  <a:txBody>
                    <a:bodyPr/>
                    <a:lstStyle/>
                    <a:p>
                      <a:pPr algn="ctr"/>
                      <a:r>
                        <a:rPr lang="sr-Latn-RS" dirty="0" smtClean="0"/>
                        <a:t>2</a:t>
                      </a:r>
                      <a:endParaRPr lang="en-US" dirty="0"/>
                    </a:p>
                  </a:txBody>
                  <a:tcPr/>
                </a:tc>
                <a:tc>
                  <a:txBody>
                    <a:bodyPr/>
                    <a:lstStyle/>
                    <a:p>
                      <a:pPr algn="ctr"/>
                      <a:r>
                        <a:rPr lang="sr-Latn-RS" dirty="0" smtClean="0"/>
                        <a:t>1</a:t>
                      </a:r>
                      <a:endParaRPr lang="en-US" dirty="0"/>
                    </a:p>
                  </a:txBody>
                  <a:tcPr/>
                </a:tc>
                <a:tc>
                  <a:txBody>
                    <a:bodyPr/>
                    <a:lstStyle/>
                    <a:p>
                      <a:pPr algn="ctr"/>
                      <a:r>
                        <a:rPr lang="sr-Latn-RS" dirty="0" smtClean="0"/>
                        <a:t>2</a:t>
                      </a:r>
                      <a:endParaRPr lang="en-US" dirty="0"/>
                    </a:p>
                  </a:txBody>
                  <a:tcPr/>
                </a:tc>
                <a:tc>
                  <a:txBody>
                    <a:bodyPr/>
                    <a:lstStyle/>
                    <a:p>
                      <a:pPr algn="ctr"/>
                      <a:r>
                        <a:rPr lang="sr-Latn-RS" dirty="0" smtClean="0"/>
                        <a:t>4</a:t>
                      </a:r>
                      <a:endParaRPr lang="en-US" dirty="0"/>
                    </a:p>
                  </a:txBody>
                  <a:tcPr/>
                </a:tc>
                <a:tc>
                  <a:txBody>
                    <a:bodyPr/>
                    <a:lstStyle/>
                    <a:p>
                      <a:pPr algn="ctr"/>
                      <a:r>
                        <a:rPr lang="sr-Latn-RS" dirty="0" smtClean="0"/>
                        <a:t>2</a:t>
                      </a:r>
                      <a:endParaRPr lang="en-US" dirty="0"/>
                    </a:p>
                  </a:txBody>
                  <a:tcPr/>
                </a:tc>
                <a:tc>
                  <a:txBody>
                    <a:bodyPr/>
                    <a:lstStyle/>
                    <a:p>
                      <a:pPr algn="ctr"/>
                      <a:r>
                        <a:rPr lang="sr-Latn-RS" dirty="0" smtClean="0"/>
                        <a:t>1</a:t>
                      </a:r>
                      <a:endParaRPr lang="en-US" dirty="0"/>
                    </a:p>
                  </a:txBody>
                  <a:tcPr/>
                </a:tc>
                <a:tc>
                  <a:txBody>
                    <a:bodyPr/>
                    <a:lstStyle/>
                    <a:p>
                      <a:pPr algn="ctr"/>
                      <a:r>
                        <a:rPr lang="sr-Latn-RS" dirty="0" smtClean="0"/>
                        <a:t>1</a:t>
                      </a:r>
                      <a:endParaRPr lang="en-US" dirty="0"/>
                    </a:p>
                  </a:txBody>
                  <a:tcPr/>
                </a:tc>
                <a:tc>
                  <a:txBody>
                    <a:bodyPr/>
                    <a:lstStyle/>
                    <a:p>
                      <a:pPr algn="ctr"/>
                      <a:r>
                        <a:rPr lang="sr-Latn-RS" dirty="0" smtClean="0"/>
                        <a:t>1</a:t>
                      </a:r>
                      <a:endParaRPr lang="en-US" dirty="0"/>
                    </a:p>
                  </a:txBody>
                  <a:tcPr/>
                </a:tc>
                <a:tc>
                  <a:txBody>
                    <a:bodyPr/>
                    <a:lstStyle/>
                    <a:p>
                      <a:pPr algn="ctr"/>
                      <a:r>
                        <a:rPr lang="sr-Latn-RS" dirty="0" smtClean="0"/>
                        <a:t>1</a:t>
                      </a:r>
                      <a:endParaRPr lang="en-US" dirty="0"/>
                    </a:p>
                  </a:txBody>
                  <a:tcPr/>
                </a:tc>
                <a:tc>
                  <a:txBody>
                    <a:bodyPr/>
                    <a:lstStyle/>
                    <a:p>
                      <a:pPr algn="ctr"/>
                      <a:r>
                        <a:rPr lang="sr-Latn-RS" dirty="0" smtClean="0"/>
                        <a:t>2</a:t>
                      </a:r>
                      <a:endParaRPr lang="en-US" dirty="0"/>
                    </a:p>
                  </a:txBody>
                  <a:tcPr/>
                </a:tc>
                <a:tc>
                  <a:txBody>
                    <a:bodyPr/>
                    <a:lstStyle/>
                    <a:p>
                      <a:pPr algn="ctr"/>
                      <a:r>
                        <a:rPr lang="sr-Latn-RS" dirty="0" smtClean="0"/>
                        <a:t>1</a:t>
                      </a:r>
                      <a:endParaRPr lang="en-US" dirty="0"/>
                    </a:p>
                  </a:txBody>
                  <a:tcPr/>
                </a:tc>
                <a:tc>
                  <a:txBody>
                    <a:bodyPr/>
                    <a:lstStyle/>
                    <a:p>
                      <a:pPr algn="ctr"/>
                      <a:r>
                        <a:rPr lang="sr-Latn-RS" dirty="0" smtClean="0"/>
                        <a:t>1</a:t>
                      </a:r>
                      <a:endParaRPr lang="en-US" dirty="0"/>
                    </a:p>
                  </a:txBody>
                  <a:tcPr/>
                </a:tc>
                <a:extLst>
                  <a:ext uri="{0D108BD9-81ED-4DB2-BD59-A6C34878D82A}">
                    <a16:rowId xmlns:a16="http://schemas.microsoft.com/office/drawing/2014/main" val="10000"/>
                  </a:ext>
                </a:extLst>
              </a:tr>
              <a:tr h="370840">
                <a:tc>
                  <a:txBody>
                    <a:bodyPr/>
                    <a:lstStyle/>
                    <a:p>
                      <a:pPr algn="ctr"/>
                      <a:r>
                        <a:rPr lang="sr-Latn-RS" dirty="0" smtClean="0"/>
                        <a:t>A</a:t>
                      </a:r>
                      <a:endParaRPr lang="en-US" dirty="0"/>
                    </a:p>
                  </a:txBody>
                  <a:tcPr/>
                </a:tc>
                <a:tc>
                  <a:txBody>
                    <a:bodyPr/>
                    <a:lstStyle/>
                    <a:p>
                      <a:pPr algn="ctr"/>
                      <a:r>
                        <a:rPr lang="sr-Latn-RS" dirty="0" smtClean="0"/>
                        <a:t>C</a:t>
                      </a:r>
                      <a:endParaRPr lang="en-US" dirty="0"/>
                    </a:p>
                  </a:txBody>
                  <a:tcPr/>
                </a:tc>
                <a:tc>
                  <a:txBody>
                    <a:bodyPr/>
                    <a:lstStyle/>
                    <a:p>
                      <a:pPr algn="ctr"/>
                      <a:r>
                        <a:rPr lang="sr-Latn-RS" dirty="0" smtClean="0"/>
                        <a:t>D</a:t>
                      </a:r>
                      <a:endParaRPr lang="en-US" dirty="0"/>
                    </a:p>
                  </a:txBody>
                  <a:tcPr/>
                </a:tc>
                <a:tc>
                  <a:txBody>
                    <a:bodyPr/>
                    <a:lstStyle/>
                    <a:p>
                      <a:pPr algn="ctr"/>
                      <a:r>
                        <a:rPr lang="sr-Latn-RS" dirty="0" smtClean="0"/>
                        <a:t>E</a:t>
                      </a:r>
                      <a:endParaRPr lang="en-US" dirty="0"/>
                    </a:p>
                  </a:txBody>
                  <a:tcPr/>
                </a:tc>
                <a:tc>
                  <a:txBody>
                    <a:bodyPr/>
                    <a:lstStyle/>
                    <a:p>
                      <a:pPr algn="ctr"/>
                      <a:r>
                        <a:rPr lang="sr-Latn-RS" dirty="0" smtClean="0"/>
                        <a:t>I</a:t>
                      </a:r>
                      <a:endParaRPr lang="en-US" dirty="0"/>
                    </a:p>
                  </a:txBody>
                  <a:tcPr/>
                </a:tc>
                <a:tc>
                  <a:txBody>
                    <a:bodyPr/>
                    <a:lstStyle/>
                    <a:p>
                      <a:pPr algn="ctr"/>
                      <a:r>
                        <a:rPr lang="sr-Latn-RS" dirty="0" smtClean="0"/>
                        <a:t>L</a:t>
                      </a:r>
                      <a:endParaRPr lang="en-US" dirty="0"/>
                    </a:p>
                  </a:txBody>
                  <a:tcPr/>
                </a:tc>
                <a:tc>
                  <a:txBody>
                    <a:bodyPr/>
                    <a:lstStyle/>
                    <a:p>
                      <a:pPr algn="ctr"/>
                      <a:r>
                        <a:rPr lang="sr-Latn-RS" dirty="0" smtClean="0"/>
                        <a:t>M</a:t>
                      </a:r>
                      <a:endParaRPr lang="en-US" dirty="0"/>
                    </a:p>
                  </a:txBody>
                  <a:tcPr/>
                </a:tc>
                <a:tc>
                  <a:txBody>
                    <a:bodyPr/>
                    <a:lstStyle/>
                    <a:p>
                      <a:pPr algn="ctr"/>
                      <a:r>
                        <a:rPr lang="sr-Latn-RS" dirty="0" smtClean="0"/>
                        <a:t>N</a:t>
                      </a:r>
                      <a:endParaRPr lang="en-US" dirty="0"/>
                    </a:p>
                  </a:txBody>
                  <a:tcPr/>
                </a:tc>
                <a:tc>
                  <a:txBody>
                    <a:bodyPr/>
                    <a:lstStyle/>
                    <a:p>
                      <a:pPr algn="ctr"/>
                      <a:r>
                        <a:rPr lang="sr-Latn-RS" dirty="0" smtClean="0"/>
                        <a:t>P</a:t>
                      </a:r>
                      <a:endParaRPr lang="en-US" dirty="0"/>
                    </a:p>
                  </a:txBody>
                  <a:tcPr/>
                </a:tc>
                <a:tc>
                  <a:txBody>
                    <a:bodyPr/>
                    <a:lstStyle/>
                    <a:p>
                      <a:pPr algn="ctr"/>
                      <a:r>
                        <a:rPr lang="sr-Latn-RS" dirty="0" smtClean="0"/>
                        <a:t>R</a:t>
                      </a:r>
                      <a:endParaRPr lang="en-US" dirty="0"/>
                    </a:p>
                  </a:txBody>
                  <a:tcPr/>
                </a:tc>
                <a:tc>
                  <a:txBody>
                    <a:bodyPr/>
                    <a:lstStyle/>
                    <a:p>
                      <a:pPr algn="ctr"/>
                      <a:r>
                        <a:rPr lang="sr-Latn-RS" dirty="0" smtClean="0"/>
                        <a:t>S</a:t>
                      </a:r>
                      <a:endParaRPr lang="en-US" dirty="0"/>
                    </a:p>
                  </a:txBody>
                  <a:tcPr/>
                </a:tc>
                <a:tc>
                  <a:txBody>
                    <a:bodyPr/>
                    <a:lstStyle/>
                    <a:p>
                      <a:pPr algn="ctr"/>
                      <a:r>
                        <a:rPr lang="sr-Latn-RS" dirty="0" smtClean="0"/>
                        <a:t>T</a:t>
                      </a:r>
                      <a:endParaRPr lang="en-US" dirty="0"/>
                    </a:p>
                  </a:txBody>
                  <a:tcPr/>
                </a:tc>
                <a:tc>
                  <a:txBody>
                    <a:bodyPr/>
                    <a:lstStyle/>
                    <a:p>
                      <a:pPr algn="ctr"/>
                      <a:r>
                        <a:rPr lang="sr-Latn-RS" dirty="0" smtClean="0"/>
                        <a:t>U</a:t>
                      </a:r>
                      <a:endParaRPr lang="en-US" dirty="0"/>
                    </a:p>
                  </a:txBody>
                  <a:tcPr/>
                </a:tc>
                <a:extLst>
                  <a:ext uri="{0D108BD9-81ED-4DB2-BD59-A6C34878D82A}">
                    <a16:rowId xmlns:a16="http://schemas.microsoft.com/office/drawing/2014/main" val="10001"/>
                  </a:ext>
                </a:extLst>
              </a:tr>
            </a:tbl>
          </a:graphicData>
        </a:graphic>
      </p:graphicFrame>
      <p:graphicFrame>
        <p:nvGraphicFramePr>
          <p:cNvPr id="10" name="Chart 9"/>
          <p:cNvGraphicFramePr/>
          <p:nvPr/>
        </p:nvGraphicFramePr>
        <p:xfrm>
          <a:off x="2209800" y="5029200"/>
          <a:ext cx="5181600"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2" name="Slide Number Placeholder 1"/>
          <p:cNvSpPr>
            <a:spLocks noGrp="1"/>
          </p:cNvSpPr>
          <p:nvPr>
            <p:ph type="sldNum" sz="quarter" idx="12"/>
          </p:nvPr>
        </p:nvSpPr>
        <p:spPr/>
        <p:txBody>
          <a:bodyPr/>
          <a:lstStyle/>
          <a:p>
            <a:fld id="{036081D1-8380-407A-ABF3-D12854566F9D}" type="slidenum">
              <a:rPr lang="en-US" smtClean="0"/>
              <a:pPr/>
              <a:t>64</a:t>
            </a:fld>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Računanje histograma – CPU (1)</a:t>
            </a:r>
            <a:endParaRPr lang="en-US" dirty="0"/>
          </a:p>
        </p:txBody>
      </p:sp>
      <p:sp>
        <p:nvSpPr>
          <p:cNvPr id="7" name="Content Placeholder 6"/>
          <p:cNvSpPr>
            <a:spLocks noGrp="1"/>
          </p:cNvSpPr>
          <p:nvPr>
            <p:ph idx="1"/>
          </p:nvPr>
        </p:nvSpPr>
        <p:spPr/>
        <p:txBody>
          <a:bodyPr>
            <a:normAutofit/>
          </a:bodyPr>
          <a:lstStyle/>
          <a:p>
            <a:pPr>
              <a:buNone/>
            </a:pPr>
            <a:r>
              <a:rPr lang="en-US" sz="2000" dirty="0" smtClean="0">
                <a:solidFill>
                  <a:srgbClr val="000000"/>
                </a:solidFill>
                <a:highlight>
                  <a:srgbClr val="FFFFFF"/>
                </a:highlight>
                <a:latin typeface="Consolas"/>
              </a:rPr>
              <a:t>#define SIZE (100*1024*1024)</a:t>
            </a:r>
            <a:endParaRPr lang="sr-Latn-RS" sz="2000" dirty="0" smtClean="0">
              <a:solidFill>
                <a:srgbClr val="000000"/>
              </a:solidFill>
              <a:highlight>
                <a:srgbClr val="FFFFFF"/>
              </a:highlight>
              <a:latin typeface="Consolas"/>
            </a:endParaRPr>
          </a:p>
          <a:p>
            <a:pPr>
              <a:buNone/>
            </a:pP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i</a:t>
            </a:r>
            <a:r>
              <a:rPr lang="en-US" sz="2000" dirty="0" err="1" smtClean="0">
                <a:solidFill>
                  <a:srgbClr val="000000"/>
                </a:solidFill>
                <a:highlight>
                  <a:srgbClr val="FFFFFF"/>
                </a:highlight>
                <a:latin typeface="Consolas"/>
              </a:rPr>
              <a:t>nt</a:t>
            </a:r>
            <a:r>
              <a:rPr lang="en-US" sz="2000" dirty="0" smtClean="0">
                <a:solidFill>
                  <a:srgbClr val="000000"/>
                </a:solidFill>
                <a:highlight>
                  <a:srgbClr val="FFFFFF"/>
                </a:highlight>
                <a:latin typeface="Consolas"/>
              </a:rPr>
              <a:t> main(void)</a:t>
            </a:r>
            <a:endParaRPr lang="sr-Latn-RS" sz="2000" dirty="0" smtClean="0">
              <a:solidFill>
                <a:srgbClr val="000000"/>
              </a:solidFill>
              <a:highlight>
                <a:srgbClr val="FFFFFF"/>
              </a:highlight>
              <a:latin typeface="Consolas"/>
            </a:endParaRPr>
          </a:p>
          <a:p>
            <a:pPr>
              <a:buNone/>
            </a:pP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92D050"/>
                </a:solidFill>
                <a:highlight>
                  <a:srgbClr val="FFFFFF"/>
                </a:highlight>
                <a:latin typeface="Consolas"/>
              </a:rPr>
              <a:t>    //kreiranje random niza</a:t>
            </a: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unsigned char *buffer = (unsigned </a:t>
            </a:r>
            <a:r>
              <a:rPr lang="sr-Latn-RS" sz="2000" dirty="0" smtClean="0">
                <a:solidFill>
                  <a:srgbClr val="000000"/>
                </a:solidFill>
                <a:highlight>
                  <a:srgbClr val="FFFFFF"/>
                </a:highlight>
                <a:latin typeface="Consolas"/>
              </a:rPr>
              <a:t>c</a:t>
            </a:r>
            <a:r>
              <a:rPr lang="en-US" sz="2000" dirty="0" err="1" smtClean="0">
                <a:solidFill>
                  <a:srgbClr val="000000"/>
                </a:solidFill>
                <a:highlight>
                  <a:srgbClr val="FFFFFF"/>
                </a:highlight>
                <a:latin typeface="Consolas"/>
              </a:rPr>
              <a:t>har</a:t>
            </a:r>
            <a:r>
              <a:rPr lang="en-US" sz="2000" dirty="0" smtClean="0">
                <a:solidFill>
                  <a:srgbClr val="000000"/>
                </a:solidFill>
                <a:highlight>
                  <a:srgbClr val="FFFFFF"/>
                </a:highlight>
                <a:latin typeface="Consolas"/>
              </a:rPr>
              <a:t>*)</a:t>
            </a: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big_random_block</a:t>
            </a:r>
            <a:r>
              <a:rPr lang="en-US" sz="2000" dirty="0" smtClean="0">
                <a:solidFill>
                  <a:srgbClr val="000000"/>
                </a:solidFill>
                <a:highlight>
                  <a:srgbClr val="FFFFFF"/>
                </a:highlight>
                <a:latin typeface="Consolas"/>
              </a:rPr>
              <a:t>(SIZE);</a:t>
            </a:r>
            <a:endParaRPr lang="sr-Latn-RS" sz="2000" dirty="0" smtClean="0">
              <a:solidFill>
                <a:srgbClr val="000000"/>
              </a:solidFill>
              <a:highlight>
                <a:srgbClr val="FFFFFF"/>
              </a:highlight>
              <a:latin typeface="Consolas"/>
            </a:endParaRPr>
          </a:p>
          <a:p>
            <a:pPr>
              <a:buNone/>
            </a:pPr>
            <a:r>
              <a:rPr lang="sr-Latn-RS" sz="2000" dirty="0" smtClean="0">
                <a:solidFill>
                  <a:srgbClr val="92D050"/>
                </a:solidFill>
                <a:highlight>
                  <a:srgbClr val="FFFFFF"/>
                </a:highlight>
                <a:latin typeface="Consolas"/>
              </a:rPr>
              <a:t>    //kreiranje histograma i inicijalizacija na 0</a:t>
            </a: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unsigned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histo</a:t>
            </a:r>
            <a:r>
              <a:rPr lang="en-US" sz="2000" dirty="0" smtClean="0">
                <a:solidFill>
                  <a:srgbClr val="000000"/>
                </a:solidFill>
                <a:highlight>
                  <a:srgbClr val="FFFFFF"/>
                </a:highlight>
                <a:latin typeface="Consolas"/>
              </a:rPr>
              <a:t>[256];</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for(</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=0;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&lt;256;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histo</a:t>
            </a:r>
            <a:r>
              <a:rPr lang="en-US" sz="2000" dirty="0" smtClean="0">
                <a:solidFill>
                  <a:srgbClr val="000000"/>
                </a:solidFill>
                <a:highlight>
                  <a:srgbClr val="FFFFFF"/>
                </a:highlight>
                <a:latin typeface="Consolas"/>
              </a:rPr>
              <a:t>[</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 = 0;</a:t>
            </a:r>
            <a:endParaRPr lang="sr-Latn-RS" sz="2000" dirty="0" smtClean="0">
              <a:solidFill>
                <a:srgbClr val="000000"/>
              </a:solidFill>
              <a:highlight>
                <a:srgbClr val="FFFFFF"/>
              </a:highlight>
              <a:latin typeface="Consolas"/>
            </a:endParaRPr>
          </a:p>
          <a:p>
            <a:pPr>
              <a:buNone/>
            </a:pP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a:t>
            </a:r>
            <a:endParaRPr lang="sr-Latn-RS" dirty="0" smtClean="0"/>
          </a:p>
        </p:txBody>
      </p:sp>
      <p:sp>
        <p:nvSpPr>
          <p:cNvPr id="2" name="Slide Number Placeholder 1"/>
          <p:cNvSpPr>
            <a:spLocks noGrp="1"/>
          </p:cNvSpPr>
          <p:nvPr>
            <p:ph type="sldNum" sz="quarter" idx="12"/>
          </p:nvPr>
        </p:nvSpPr>
        <p:spPr/>
        <p:txBody>
          <a:bodyPr/>
          <a:lstStyle/>
          <a:p>
            <a:fld id="{036081D1-8380-407A-ABF3-D12854566F9D}" type="slidenum">
              <a:rPr lang="en-US" smtClean="0"/>
              <a:pPr/>
              <a:t>65</a:t>
            </a:fld>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Računanje histograma – CPU (2)</a:t>
            </a:r>
            <a:endParaRPr lang="en-US" dirty="0"/>
          </a:p>
        </p:txBody>
      </p:sp>
      <p:sp>
        <p:nvSpPr>
          <p:cNvPr id="7" name="Content Placeholder 6"/>
          <p:cNvSpPr>
            <a:spLocks noGrp="1"/>
          </p:cNvSpPr>
          <p:nvPr>
            <p:ph idx="1"/>
          </p:nvPr>
        </p:nvSpPr>
        <p:spPr>
          <a:xfrm>
            <a:off x="457200" y="1600200"/>
            <a:ext cx="8229600" cy="5029200"/>
          </a:xfrm>
        </p:spPr>
        <p:txBody>
          <a:bodyPr>
            <a:normAutofit fontScale="85000" lnSpcReduction="10000"/>
          </a:bodyPr>
          <a:lstStyle/>
          <a:p>
            <a:pPr>
              <a:buNone/>
            </a:pPr>
            <a:r>
              <a:rPr lang="sr-Latn-RS" sz="2000" dirty="0" smtClean="0">
                <a:solidFill>
                  <a:srgbClr val="000000"/>
                </a:solidFill>
                <a:highlight>
                  <a:srgbClr val="FFFFFF"/>
                </a:highlight>
                <a:latin typeface="Consolas"/>
              </a:rPr>
              <a:t>...</a:t>
            </a:r>
          </a:p>
          <a:p>
            <a:pPr>
              <a:buNone/>
            </a:pPr>
            <a:r>
              <a:rPr lang="en-US" sz="2000" dirty="0" smtClean="0">
                <a:solidFill>
                  <a:srgbClr val="92D050"/>
                </a:solidFill>
                <a:highlight>
                  <a:srgbClr val="FFFFFF"/>
                </a:highlight>
                <a:latin typeface="Consolas"/>
              </a:rPr>
              <a:t>//</a:t>
            </a:r>
            <a:r>
              <a:rPr lang="sr-Latn-R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ideja</a:t>
            </a:r>
            <a:r>
              <a:rPr lang="en-US" sz="2000" dirty="0" smtClean="0">
                <a:solidFill>
                  <a:srgbClr val="92D050"/>
                </a:solidFill>
                <a:highlight>
                  <a:srgbClr val="FFFFFF"/>
                </a:highlight>
                <a:latin typeface="Consolas"/>
              </a:rPr>
              <a:t> je </a:t>
            </a:r>
            <a:r>
              <a:rPr lang="en-US" sz="2000" dirty="0" err="1" smtClean="0">
                <a:solidFill>
                  <a:srgbClr val="92D050"/>
                </a:solidFill>
                <a:highlight>
                  <a:srgbClr val="FFFFFF"/>
                </a:highlight>
                <a:latin typeface="Consolas"/>
              </a:rPr>
              <a:t>da</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kad</a:t>
            </a:r>
            <a:r>
              <a:rPr lang="en-US" sz="2000" dirty="0" smtClean="0">
                <a:solidFill>
                  <a:srgbClr val="92D050"/>
                </a:solidFill>
                <a:highlight>
                  <a:srgbClr val="FFFFFF"/>
                </a:highlight>
                <a:latin typeface="Consolas"/>
              </a:rPr>
              <a:t> god </a:t>
            </a:r>
            <a:r>
              <a:rPr lang="en-US" sz="2000" dirty="0" err="1" smtClean="0">
                <a:solidFill>
                  <a:srgbClr val="92D050"/>
                </a:solidFill>
                <a:highlight>
                  <a:srgbClr val="FFFFFF"/>
                </a:highlight>
                <a:latin typeface="Consolas"/>
              </a:rPr>
              <a:t>vidimo</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neku</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vrednost</a:t>
            </a:r>
            <a:r>
              <a:rPr lang="en-US" sz="2000" dirty="0" smtClean="0">
                <a:solidFill>
                  <a:srgbClr val="92D050"/>
                </a:solidFill>
                <a:highlight>
                  <a:srgbClr val="FFFFFF"/>
                </a:highlight>
                <a:latin typeface="Consolas"/>
              </a:rPr>
              <a:t> </a:t>
            </a:r>
            <a:r>
              <a:rPr lang="en-US" sz="2000" b="1" i="1" dirty="0" smtClean="0">
                <a:solidFill>
                  <a:srgbClr val="92D050"/>
                </a:solidFill>
                <a:highlight>
                  <a:srgbClr val="FFFFFF"/>
                </a:highlight>
                <a:latin typeface="Consolas"/>
              </a:rPr>
              <a:t>z</a:t>
            </a:r>
            <a:r>
              <a:rPr lang="en-US" sz="2000" dirty="0" smtClean="0">
                <a:solidFill>
                  <a:srgbClr val="92D050"/>
                </a:solidFill>
                <a:highlight>
                  <a:srgbClr val="FFFFFF"/>
                </a:highlight>
                <a:latin typeface="Consolas"/>
              </a:rPr>
              <a:t> u</a:t>
            </a:r>
            <a:endParaRPr lang="sr-Latn-RS" sz="2000" dirty="0" smtClean="0">
              <a:solidFill>
                <a:srgbClr val="92D050"/>
              </a:solidFill>
              <a:highlight>
                <a:srgbClr val="FFFFFF"/>
              </a:highlight>
              <a:latin typeface="Consolas"/>
            </a:endParaRPr>
          </a:p>
          <a:p>
            <a:pPr>
              <a:buNone/>
            </a:pPr>
            <a:r>
              <a:rPr lang="sr-Latn-R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nizu</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inkrementiramo</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vrednost</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bina</a:t>
            </a:r>
            <a:r>
              <a:rPr lang="en-US" sz="2000" dirty="0" smtClean="0">
                <a:solidFill>
                  <a:srgbClr val="92D050"/>
                </a:solidFill>
                <a:highlight>
                  <a:srgbClr val="FFFFFF"/>
                </a:highlight>
                <a:latin typeface="Consolas"/>
              </a:rPr>
              <a:t> </a:t>
            </a:r>
            <a:r>
              <a:rPr lang="en-US" sz="2000" b="1" i="1" dirty="0" smtClean="0">
                <a:solidFill>
                  <a:srgbClr val="92D050"/>
                </a:solidFill>
                <a:highlight>
                  <a:srgbClr val="FFFFFF"/>
                </a:highlight>
                <a:latin typeface="Consolas"/>
              </a:rPr>
              <a:t>z</a:t>
            </a:r>
            <a:r>
              <a:rPr lang="en-US" sz="2000" dirty="0" smtClean="0">
                <a:solidFill>
                  <a:srgbClr val="92D050"/>
                </a:solidFill>
                <a:highlight>
                  <a:srgbClr val="FFFFFF"/>
                </a:highlight>
                <a:latin typeface="Consolas"/>
              </a:rPr>
              <a:t> u </a:t>
            </a:r>
            <a:r>
              <a:rPr lang="en-US" sz="2000" dirty="0" err="1" smtClean="0">
                <a:solidFill>
                  <a:srgbClr val="92D050"/>
                </a:solidFill>
                <a:highlight>
                  <a:srgbClr val="FFFFFF"/>
                </a:highlight>
                <a:latin typeface="Consolas"/>
              </a:rPr>
              <a:t>histogramu</a:t>
            </a:r>
            <a:r>
              <a:rPr lang="en-US" sz="2000" dirty="0" smtClean="0">
                <a:solidFill>
                  <a:srgbClr val="92D050"/>
                </a:solidFill>
                <a:highlight>
                  <a:srgbClr val="FFFFFF"/>
                </a:highlight>
                <a:latin typeface="Consolas"/>
              </a:rPr>
              <a:t>. Na </a:t>
            </a:r>
            <a:r>
              <a:rPr lang="en-US" sz="2000" dirty="0" err="1" smtClean="0">
                <a:solidFill>
                  <a:srgbClr val="92D050"/>
                </a:solidFill>
                <a:highlight>
                  <a:srgbClr val="FFFFFF"/>
                </a:highlight>
                <a:latin typeface="Consolas"/>
              </a:rPr>
              <a:t>taj</a:t>
            </a:r>
            <a:endParaRPr lang="sr-Latn-RS" sz="2000" dirty="0" smtClean="0">
              <a:solidFill>
                <a:srgbClr val="92D050"/>
              </a:solidFill>
              <a:highlight>
                <a:srgbClr val="FFFFFF"/>
              </a:highlight>
              <a:latin typeface="Consolas"/>
            </a:endParaRPr>
          </a:p>
          <a:p>
            <a:pPr>
              <a:buNone/>
            </a:pPr>
            <a:r>
              <a:rPr lang="sr-Latn-R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način</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brojimo</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broj</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ponavljanja</a:t>
            </a:r>
            <a:r>
              <a:rPr lang="en-US" sz="2000" dirty="0" smtClean="0">
                <a:solidFill>
                  <a:srgbClr val="92D050"/>
                </a:solidFill>
                <a:highlight>
                  <a:srgbClr val="FFFFFF"/>
                </a:highlight>
                <a:latin typeface="Consolas"/>
              </a:rPr>
              <a:t> </a:t>
            </a:r>
            <a:r>
              <a:rPr lang="en-US" sz="2000" dirty="0" err="1" smtClean="0">
                <a:solidFill>
                  <a:srgbClr val="92D050"/>
                </a:solidFill>
                <a:highlight>
                  <a:srgbClr val="FFFFFF"/>
                </a:highlight>
                <a:latin typeface="Consolas"/>
              </a:rPr>
              <a:t>elementa</a:t>
            </a:r>
            <a:r>
              <a:rPr lang="en-US" sz="2000" dirty="0" smtClean="0">
                <a:solidFill>
                  <a:srgbClr val="92D050"/>
                </a:solidFill>
                <a:highlight>
                  <a:srgbClr val="FFFFFF"/>
                </a:highlight>
                <a:latin typeface="Consolas"/>
              </a:rPr>
              <a:t> </a:t>
            </a:r>
            <a:r>
              <a:rPr lang="en-US" sz="2000" b="1" i="1" dirty="0" smtClean="0">
                <a:solidFill>
                  <a:srgbClr val="92D050"/>
                </a:solidFill>
                <a:highlight>
                  <a:srgbClr val="FFFFFF"/>
                </a:highlight>
                <a:latin typeface="Consolas"/>
              </a:rPr>
              <a:t>z</a:t>
            </a:r>
            <a:r>
              <a:rPr lang="en-US" sz="2000" dirty="0" smtClean="0">
                <a:solidFill>
                  <a:srgbClr val="92D050"/>
                </a:solidFill>
                <a:highlight>
                  <a:srgbClr val="FFFFFF"/>
                </a:highlight>
                <a:latin typeface="Consolas"/>
              </a:rPr>
              <a:t> u </a:t>
            </a:r>
            <a:r>
              <a:rPr lang="en-US" sz="2000" dirty="0" err="1" smtClean="0">
                <a:solidFill>
                  <a:srgbClr val="92D050"/>
                </a:solidFill>
                <a:highlight>
                  <a:srgbClr val="FFFFFF"/>
                </a:highlight>
                <a:latin typeface="Consolas"/>
              </a:rPr>
              <a:t>nizu</a:t>
            </a:r>
            <a:r>
              <a:rPr lang="en-US" sz="2000" dirty="0" smtClean="0">
                <a:solidFill>
                  <a:srgbClr val="92D050"/>
                </a:solidFill>
                <a:highlight>
                  <a:srgbClr val="FFFFFF"/>
                </a:highlight>
                <a:latin typeface="Consolas"/>
              </a:rPr>
              <a:t> </a:t>
            </a:r>
            <a:endParaRPr lang="sr-Latn-RS" sz="2000" dirty="0" smtClean="0"/>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for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=0;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&lt;SIZE;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histo</a:t>
            </a:r>
            <a:r>
              <a:rPr lang="en-US" sz="2000" dirty="0" smtClean="0">
                <a:solidFill>
                  <a:srgbClr val="000000"/>
                </a:solidFill>
                <a:highlight>
                  <a:srgbClr val="FFFFFF"/>
                </a:highlight>
                <a:latin typeface="Consolas"/>
              </a:rPr>
              <a:t>[buffer[</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92D050"/>
                </a:solidFill>
                <a:highlight>
                  <a:srgbClr val="FFFFFF"/>
                </a:highlight>
                <a:latin typeface="Consolas"/>
              </a:rPr>
              <a:t>// provera tačnosti</a:t>
            </a: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long </a:t>
            </a:r>
            <a:r>
              <a:rPr lang="en-US" sz="2000" dirty="0" err="1" smtClean="0">
                <a:solidFill>
                  <a:srgbClr val="000000"/>
                </a:solidFill>
                <a:highlight>
                  <a:srgbClr val="FFFFFF"/>
                </a:highlight>
                <a:latin typeface="Consolas"/>
              </a:rPr>
              <a:t>histoCount</a:t>
            </a:r>
            <a:r>
              <a:rPr lang="en-US" sz="2000" dirty="0" smtClean="0">
                <a:solidFill>
                  <a:srgbClr val="000000"/>
                </a:solidFill>
                <a:highlight>
                  <a:srgbClr val="FFFFFF"/>
                </a:highlight>
                <a:latin typeface="Consolas"/>
              </a:rPr>
              <a:t> = 0;</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for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=0;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&lt;256; </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a:t>
            </a:r>
            <a:br>
              <a:rPr lang="en-US" sz="2000" dirty="0" smtClean="0">
                <a:solidFill>
                  <a:srgbClr val="000000"/>
                </a:solidFill>
                <a:highlight>
                  <a:srgbClr val="FFFFFF"/>
                </a:highlight>
                <a:latin typeface="Consolas"/>
              </a:rPr>
            </a:b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histoCount</a:t>
            </a:r>
            <a:r>
              <a:rPr lang="en-US" sz="2000" dirty="0" smtClean="0">
                <a:solidFill>
                  <a:srgbClr val="000000"/>
                </a:solidFill>
                <a:highlight>
                  <a:srgbClr val="FFFFFF"/>
                </a:highlight>
                <a:latin typeface="Consolas"/>
              </a:rPr>
              <a:t> += </a:t>
            </a:r>
            <a:r>
              <a:rPr lang="en-US" sz="2000" dirty="0" err="1" smtClean="0">
                <a:solidFill>
                  <a:srgbClr val="000000"/>
                </a:solidFill>
                <a:highlight>
                  <a:srgbClr val="FFFFFF"/>
                </a:highlight>
                <a:latin typeface="Consolas"/>
              </a:rPr>
              <a:t>histo</a:t>
            </a:r>
            <a:r>
              <a:rPr lang="en-US" sz="2000" dirty="0" smtClean="0">
                <a:solidFill>
                  <a:srgbClr val="000000"/>
                </a:solidFill>
                <a:highlight>
                  <a:srgbClr val="FFFFFF"/>
                </a:highlight>
                <a:latin typeface="Consolas"/>
              </a:rPr>
              <a:t>[</a:t>
            </a:r>
            <a:r>
              <a:rPr lang="en-US" sz="2000" dirty="0" err="1" smtClean="0">
                <a:solidFill>
                  <a:srgbClr val="000000"/>
                </a:solidFill>
                <a:highlight>
                  <a:srgbClr val="FFFFFF"/>
                </a:highlight>
                <a:latin typeface="Consolas"/>
              </a:rPr>
              <a:t>i</a:t>
            </a: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a:t>
            </a:r>
          </a:p>
          <a:p>
            <a:pPr>
              <a:buNone/>
            </a:pP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printf</a:t>
            </a:r>
            <a:r>
              <a:rPr lang="en-US" sz="2000" dirty="0" smtClean="0">
                <a:solidFill>
                  <a:srgbClr val="000000"/>
                </a:solidFill>
                <a:highlight>
                  <a:srgbClr val="FFFFFF"/>
                </a:highlight>
                <a:latin typeface="Consolas"/>
              </a:rPr>
              <a:t>("Histogram Sum: %ld\n", </a:t>
            </a:r>
            <a:r>
              <a:rPr lang="en-US" sz="2000" dirty="0" err="1" smtClean="0">
                <a:solidFill>
                  <a:srgbClr val="000000"/>
                </a:solidFill>
                <a:highlight>
                  <a:srgbClr val="FFFFFF"/>
                </a:highlight>
                <a:latin typeface="Consolas"/>
              </a:rPr>
              <a:t>histoCount</a:t>
            </a: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    </a:t>
            </a: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free(buffer);</a:t>
            </a:r>
            <a:br>
              <a:rPr lang="en-US" sz="2000" dirty="0" smtClean="0">
                <a:solidFill>
                  <a:srgbClr val="000000"/>
                </a:solidFill>
                <a:highlight>
                  <a:srgbClr val="FFFFFF"/>
                </a:highlight>
                <a:latin typeface="Consolas"/>
              </a:rPr>
            </a:b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return 0;</a:t>
            </a:r>
            <a:br>
              <a:rPr lang="en-US" sz="2000" dirty="0" smtClean="0">
                <a:solidFill>
                  <a:srgbClr val="000000"/>
                </a:solidFill>
                <a:highlight>
                  <a:srgbClr val="FFFFFF"/>
                </a:highlight>
                <a:latin typeface="Consolas"/>
              </a:rPr>
            </a:b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66</a:t>
            </a:fld>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Računanje histograma – GPU (1)</a:t>
            </a:r>
            <a:endParaRPr lang="en-US" dirty="0"/>
          </a:p>
        </p:txBody>
      </p:sp>
      <p:sp>
        <p:nvSpPr>
          <p:cNvPr id="7" name="Content Placeholder 6"/>
          <p:cNvSpPr>
            <a:spLocks noGrp="1"/>
          </p:cNvSpPr>
          <p:nvPr>
            <p:ph idx="1"/>
          </p:nvPr>
        </p:nvSpPr>
        <p:spPr>
          <a:xfrm>
            <a:off x="0" y="1600200"/>
            <a:ext cx="9144000" cy="5029200"/>
          </a:xfrm>
        </p:spPr>
        <p:txBody>
          <a:bodyPr>
            <a:normAutofit fontScale="85000" lnSpcReduction="10000"/>
          </a:bodyPr>
          <a:lstStyle/>
          <a:p>
            <a:pPr>
              <a:buNone/>
            </a:pPr>
            <a:r>
              <a:rPr lang="en-US" sz="2000" dirty="0" smtClean="0">
                <a:solidFill>
                  <a:srgbClr val="000000"/>
                </a:solidFill>
                <a:highlight>
                  <a:srgbClr val="FFFFFF"/>
                </a:highlight>
                <a:latin typeface="Consolas"/>
              </a:rPr>
              <a:t>#define SIZE (100*1024*1024)</a:t>
            </a:r>
            <a:endParaRPr lang="sr-Latn-RS" sz="2000" dirty="0" smtClean="0">
              <a:solidFill>
                <a:srgbClr val="000000"/>
              </a:solidFill>
              <a:highlight>
                <a:srgbClr val="FFFFFF"/>
              </a:highlight>
              <a:latin typeface="Consolas"/>
            </a:endParaRPr>
          </a:p>
          <a:p>
            <a:pPr>
              <a:buNone/>
            </a:pPr>
            <a:endParaRPr lang="sr-Latn-RS" sz="2000" dirty="0" smtClean="0">
              <a:solidFill>
                <a:srgbClr val="000000"/>
              </a:solidFill>
              <a:highlight>
                <a:srgbClr val="FFFFFF"/>
              </a:highlight>
              <a:latin typeface="Consolas"/>
            </a:endParaRPr>
          </a:p>
          <a:p>
            <a:pPr>
              <a:buNone/>
            </a:pPr>
            <a:r>
              <a:rPr lang="sr-Latn-RS" sz="2000" dirty="0" smtClean="0">
                <a:solidFill>
                  <a:srgbClr val="000000"/>
                </a:solidFill>
                <a:highlight>
                  <a:srgbClr val="FFFFFF"/>
                </a:highlight>
                <a:latin typeface="Consolas"/>
              </a:rPr>
              <a:t>i</a:t>
            </a:r>
            <a:r>
              <a:rPr lang="en-US" sz="2000" dirty="0" err="1" smtClean="0">
                <a:solidFill>
                  <a:srgbClr val="000000"/>
                </a:solidFill>
                <a:highlight>
                  <a:srgbClr val="FFFFFF"/>
                </a:highlight>
                <a:latin typeface="Consolas"/>
              </a:rPr>
              <a:t>nt</a:t>
            </a:r>
            <a:r>
              <a:rPr lang="en-US" sz="2000" dirty="0" smtClean="0">
                <a:solidFill>
                  <a:srgbClr val="000000"/>
                </a:solidFill>
                <a:highlight>
                  <a:srgbClr val="FFFFFF"/>
                </a:highlight>
                <a:latin typeface="Consolas"/>
              </a:rPr>
              <a:t> main(void)</a:t>
            </a:r>
            <a:endParaRPr lang="sr-Latn-RS" sz="2000" dirty="0" smtClean="0">
              <a:solidFill>
                <a:srgbClr val="000000"/>
              </a:solidFill>
              <a:highlight>
                <a:srgbClr val="FFFFFF"/>
              </a:highlight>
              <a:latin typeface="Consolas"/>
            </a:endParaRPr>
          </a:p>
          <a:p>
            <a:pPr>
              <a:buNone/>
            </a:pP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a:p>
            <a:pPr>
              <a:buNone/>
            </a:pPr>
            <a:r>
              <a:rPr lang="sr-Latn-RS" sz="2000" dirty="0" smtClean="0">
                <a:solidFill>
                  <a:srgbClr val="92D050"/>
                </a:solidFill>
                <a:highlight>
                  <a:srgbClr val="FFFFFF"/>
                </a:highlight>
                <a:latin typeface="Consolas"/>
              </a:rPr>
              <a:t>    //kreiranje random niza</a:t>
            </a:r>
          </a:p>
          <a:p>
            <a:pPr>
              <a:buNone/>
            </a:pPr>
            <a:r>
              <a:rPr lang="sr-Latn-RS" sz="2000"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unsigned char *buffer = (unsigned </a:t>
            </a:r>
            <a:r>
              <a:rPr lang="sr-Latn-RS" sz="2000" dirty="0" smtClean="0">
                <a:solidFill>
                  <a:srgbClr val="000000"/>
                </a:solidFill>
                <a:highlight>
                  <a:srgbClr val="FFFFFF"/>
                </a:highlight>
                <a:latin typeface="Consolas"/>
              </a:rPr>
              <a:t>c</a:t>
            </a:r>
            <a:r>
              <a:rPr lang="en-US" sz="2000" dirty="0" err="1" smtClean="0">
                <a:solidFill>
                  <a:srgbClr val="000000"/>
                </a:solidFill>
                <a:highlight>
                  <a:srgbClr val="FFFFFF"/>
                </a:highlight>
                <a:latin typeface="Consolas"/>
              </a:rPr>
              <a:t>har</a:t>
            </a:r>
            <a:r>
              <a:rPr lang="en-US" sz="2000" dirty="0" smtClean="0">
                <a:solidFill>
                  <a:srgbClr val="000000"/>
                </a:solidFill>
                <a:highlight>
                  <a:srgbClr val="FFFFFF"/>
                </a:highlight>
                <a:latin typeface="Consolas"/>
              </a:rPr>
              <a:t>*)</a:t>
            </a:r>
            <a:r>
              <a:rPr lang="sr-Latn-R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big_random_block</a:t>
            </a:r>
            <a:r>
              <a:rPr lang="en-US" sz="2000" dirty="0" smtClean="0">
                <a:solidFill>
                  <a:srgbClr val="000000"/>
                </a:solidFill>
                <a:highlight>
                  <a:srgbClr val="FFFFFF"/>
                </a:highlight>
                <a:latin typeface="Consolas"/>
              </a:rPr>
              <a:t>(SIZE);</a:t>
            </a:r>
          </a:p>
          <a:p>
            <a:pPr>
              <a:buNone/>
            </a:pPr>
            <a:endParaRPr lang="en-US" sz="2000" dirty="0" smtClean="0">
              <a:solidFill>
                <a:srgbClr val="000000"/>
              </a:solidFill>
              <a:highlight>
                <a:srgbClr val="FFFFFF"/>
              </a:highlight>
              <a:latin typeface="Consolas"/>
            </a:endParaRPr>
          </a:p>
          <a:p>
            <a:pPr>
              <a:buNone/>
            </a:pPr>
            <a:r>
              <a:rPr lang="en-US" sz="2100" dirty="0" smtClean="0">
                <a:solidFill>
                  <a:srgbClr val="92D050"/>
                </a:solidFill>
                <a:highlight>
                  <a:srgbClr val="FFFFFF"/>
                </a:highlight>
                <a:latin typeface="Consolas"/>
              </a:rPr>
              <a:t>// </a:t>
            </a:r>
            <a:r>
              <a:rPr lang="en-US" sz="2100" dirty="0" err="1" smtClean="0">
                <a:solidFill>
                  <a:srgbClr val="92D050"/>
                </a:solidFill>
                <a:highlight>
                  <a:srgbClr val="FFFFFF"/>
                </a:highlight>
                <a:latin typeface="Consolas"/>
              </a:rPr>
              <a:t>alociranje</a:t>
            </a:r>
            <a:r>
              <a:rPr lang="en-US" sz="2100" dirty="0" smtClean="0">
                <a:solidFill>
                  <a:srgbClr val="92D050"/>
                </a:solidFill>
                <a:highlight>
                  <a:srgbClr val="FFFFFF"/>
                </a:highlight>
                <a:latin typeface="Consolas"/>
              </a:rPr>
              <a:t> </a:t>
            </a:r>
            <a:r>
              <a:rPr lang="en-US" sz="2100" dirty="0" err="1" smtClean="0">
                <a:solidFill>
                  <a:srgbClr val="92D050"/>
                </a:solidFill>
                <a:highlight>
                  <a:srgbClr val="FFFFFF"/>
                </a:highlight>
                <a:latin typeface="Consolas"/>
              </a:rPr>
              <a:t>memorije</a:t>
            </a:r>
            <a:r>
              <a:rPr lang="en-US" sz="2100" dirty="0" smtClean="0">
                <a:solidFill>
                  <a:srgbClr val="92D050"/>
                </a:solidFill>
                <a:highlight>
                  <a:srgbClr val="FFFFFF"/>
                </a:highlight>
                <a:latin typeface="Consolas"/>
              </a:rPr>
              <a:t> </a:t>
            </a:r>
            <a:r>
              <a:rPr lang="en-US" sz="2100" dirty="0" err="1" smtClean="0">
                <a:solidFill>
                  <a:srgbClr val="92D050"/>
                </a:solidFill>
                <a:highlight>
                  <a:srgbClr val="FFFFFF"/>
                </a:highlight>
                <a:latin typeface="Consolas"/>
              </a:rPr>
              <a:t>na</a:t>
            </a:r>
            <a:r>
              <a:rPr lang="en-US" sz="2100" dirty="0" smtClean="0">
                <a:solidFill>
                  <a:srgbClr val="92D050"/>
                </a:solidFill>
                <a:highlight>
                  <a:srgbClr val="FFFFFF"/>
                </a:highlight>
                <a:latin typeface="Consolas"/>
              </a:rPr>
              <a:t> GPU </a:t>
            </a:r>
            <a:r>
              <a:rPr lang="en-US" sz="2100" dirty="0" err="1" smtClean="0">
                <a:solidFill>
                  <a:srgbClr val="92D050"/>
                </a:solidFill>
                <a:highlight>
                  <a:srgbClr val="FFFFFF"/>
                </a:highlight>
                <a:latin typeface="Consolas"/>
              </a:rPr>
              <a:t>i</a:t>
            </a:r>
            <a:r>
              <a:rPr lang="en-US" sz="2100" dirty="0" smtClean="0">
                <a:solidFill>
                  <a:srgbClr val="92D050"/>
                </a:solidFill>
                <a:highlight>
                  <a:srgbClr val="FFFFFF"/>
                </a:highlight>
                <a:latin typeface="Consolas"/>
              </a:rPr>
              <a:t> </a:t>
            </a:r>
            <a:r>
              <a:rPr lang="en-US" sz="2100" dirty="0" err="1" smtClean="0">
                <a:solidFill>
                  <a:srgbClr val="92D050"/>
                </a:solidFill>
                <a:highlight>
                  <a:srgbClr val="FFFFFF"/>
                </a:highlight>
                <a:latin typeface="Consolas"/>
              </a:rPr>
              <a:t>prenos</a:t>
            </a:r>
            <a:r>
              <a:rPr lang="en-US" sz="2100" dirty="0" smtClean="0">
                <a:solidFill>
                  <a:srgbClr val="92D050"/>
                </a:solidFill>
                <a:highlight>
                  <a:srgbClr val="FFFFFF"/>
                </a:highlight>
                <a:latin typeface="Consolas"/>
              </a:rPr>
              <a:t> </a:t>
            </a:r>
            <a:r>
              <a:rPr lang="en-US" sz="2100" dirty="0" err="1" smtClean="0">
                <a:solidFill>
                  <a:srgbClr val="92D050"/>
                </a:solidFill>
                <a:highlight>
                  <a:srgbClr val="FFFFFF"/>
                </a:highlight>
                <a:latin typeface="Consolas"/>
              </a:rPr>
              <a:t>podataka</a:t>
            </a:r>
            <a:r>
              <a:rPr lang="en-US" sz="1600" i="1" dirty="0" smtClean="0"/>
              <a:t/>
            </a:r>
            <a:br>
              <a:rPr lang="en-US" sz="1600" i="1" dirty="0" smtClean="0"/>
            </a:br>
            <a:r>
              <a:rPr lang="en-US" sz="2000" i="1" dirty="0" smtClean="0">
                <a:solidFill>
                  <a:srgbClr val="000000"/>
                </a:solidFill>
                <a:highlight>
                  <a:srgbClr val="FFFFFF"/>
                </a:highlight>
                <a:latin typeface="Consolas"/>
              </a:rPr>
              <a:t> </a:t>
            </a:r>
            <a:r>
              <a:rPr lang="en-US" sz="2000" dirty="0" smtClean="0">
                <a:solidFill>
                  <a:srgbClr val="000000"/>
                </a:solidFill>
                <a:highlight>
                  <a:srgbClr val="FFFFFF"/>
                </a:highlight>
                <a:latin typeface="Consolas"/>
              </a:rPr>
              <a:t>unsigned char *</a:t>
            </a:r>
            <a:r>
              <a:rPr lang="en-US" sz="2000" dirty="0" err="1" smtClean="0">
                <a:solidFill>
                  <a:srgbClr val="000000"/>
                </a:solidFill>
                <a:highlight>
                  <a:srgbClr val="FFFFFF"/>
                </a:highlight>
                <a:latin typeface="Consolas"/>
              </a:rPr>
              <a:t>dev_buffer</a:t>
            </a:r>
            <a:r>
              <a:rPr lang="en-US" sz="2000" dirty="0" smtClean="0">
                <a:solidFill>
                  <a:srgbClr val="000000"/>
                </a:solidFill>
                <a:highlight>
                  <a:srgbClr val="FFFFFF"/>
                </a:highlight>
                <a:latin typeface="Consolas"/>
              </a:rPr>
              <a:t>;</a:t>
            </a:r>
          </a:p>
          <a:p>
            <a:pPr>
              <a:buNone/>
            </a:pPr>
            <a:r>
              <a:rPr lang="en-US" sz="2000" dirty="0" smtClean="0">
                <a:solidFill>
                  <a:srgbClr val="000000"/>
                </a:solidFill>
                <a:highlight>
                  <a:srgbClr val="FFFFFF"/>
                </a:highlight>
                <a:latin typeface="Consolas"/>
              </a:rPr>
              <a:t>	 unsigned </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 *</a:t>
            </a:r>
            <a:r>
              <a:rPr lang="en-US" sz="2000" dirty="0" err="1" smtClean="0">
                <a:solidFill>
                  <a:srgbClr val="000000"/>
                </a:solidFill>
                <a:highlight>
                  <a:srgbClr val="FFFFFF"/>
                </a:highlight>
                <a:latin typeface="Consolas"/>
              </a:rPr>
              <a:t>dev_histo</a:t>
            </a:r>
            <a:r>
              <a:rPr lang="en-US" sz="2000" dirty="0" smtClean="0">
                <a:solidFill>
                  <a:srgbClr val="000000"/>
                </a:solidFill>
                <a:highlight>
                  <a:srgbClr val="FFFFFF"/>
                </a:highlight>
                <a:latin typeface="Consolas"/>
              </a:rPr>
              <a:t>; </a:t>
            </a:r>
          </a:p>
          <a:p>
            <a:pPr>
              <a:buNone/>
            </a:pPr>
            <a:r>
              <a:rPr lang="en-US" sz="2000" dirty="0" smtClean="0">
                <a:solidFill>
                  <a:srgbClr val="000000"/>
                </a:solidFill>
                <a:highlight>
                  <a:srgbClr val="FFFFFF"/>
                </a:highlight>
                <a:latin typeface="Consolas"/>
              </a:rPr>
              <a:t>	 HANDLE_ERROR(</a:t>
            </a:r>
            <a:r>
              <a:rPr lang="en-US" sz="2000" dirty="0" err="1" smtClean="0">
                <a:solidFill>
                  <a:srgbClr val="000000"/>
                </a:solidFill>
                <a:highlight>
                  <a:srgbClr val="FFFFFF"/>
                </a:highlight>
                <a:latin typeface="Consolas"/>
              </a:rPr>
              <a:t>cudaMalloc</a:t>
            </a:r>
            <a:r>
              <a:rPr lang="en-US" sz="2000" dirty="0" smtClean="0">
                <a:solidFill>
                  <a:srgbClr val="000000"/>
                </a:solidFill>
                <a:highlight>
                  <a:srgbClr val="FFFFFF"/>
                </a:highlight>
                <a:latin typeface="Consolas"/>
              </a:rPr>
              <a:t>((void**)&amp;</a:t>
            </a:r>
            <a:r>
              <a:rPr lang="en-US" sz="2000" dirty="0" err="1" smtClean="0">
                <a:solidFill>
                  <a:srgbClr val="000000"/>
                </a:solidFill>
                <a:highlight>
                  <a:srgbClr val="FFFFFF"/>
                </a:highlight>
                <a:latin typeface="Consolas"/>
              </a:rPr>
              <a:t>dev_buffer</a:t>
            </a:r>
            <a:r>
              <a:rPr lang="en-US" sz="2000" dirty="0" smtClean="0">
                <a:solidFill>
                  <a:srgbClr val="000000"/>
                </a:solidFill>
                <a:highlight>
                  <a:srgbClr val="FFFFFF"/>
                </a:highlight>
                <a:latin typeface="Consolas"/>
              </a:rPr>
              <a:t>, SIZE));</a:t>
            </a:r>
          </a:p>
          <a:p>
            <a:pPr>
              <a:buNone/>
            </a:pPr>
            <a:r>
              <a:rPr lang="en-US" sz="2000" dirty="0" smtClean="0">
                <a:solidFill>
                  <a:srgbClr val="000000"/>
                </a:solidFill>
                <a:highlight>
                  <a:srgbClr val="FFFFFF"/>
                </a:highlight>
                <a:latin typeface="Consolas"/>
              </a:rPr>
              <a:t>	 HANDLE_ERROR(</a:t>
            </a:r>
            <a:r>
              <a:rPr lang="en-US" sz="2000" dirty="0" err="1" smtClean="0">
                <a:solidFill>
                  <a:srgbClr val="000000"/>
                </a:solidFill>
                <a:highlight>
                  <a:srgbClr val="FFFFFF"/>
                </a:highlight>
                <a:latin typeface="Consolas"/>
              </a:rPr>
              <a:t>cudaMemcpy</a:t>
            </a:r>
            <a:r>
              <a:rPr lang="en-US" sz="2000" dirty="0" smtClean="0">
                <a:solidFill>
                  <a:srgbClr val="000000"/>
                </a:solidFill>
                <a:highlight>
                  <a:srgbClr val="FFFFFF"/>
                </a:highlight>
                <a:latin typeface="Consolas"/>
              </a:rPr>
              <a:t>(</a:t>
            </a:r>
            <a:r>
              <a:rPr lang="en-US" sz="2000" dirty="0" err="1" smtClean="0">
                <a:solidFill>
                  <a:srgbClr val="000000"/>
                </a:solidFill>
                <a:highlight>
                  <a:srgbClr val="FFFFFF"/>
                </a:highlight>
                <a:latin typeface="Consolas"/>
              </a:rPr>
              <a:t>dev_buffer,buffer,SIZE,cudaMemcpyHostToDevice</a:t>
            </a:r>
            <a:r>
              <a:rPr lang="en-US" sz="2000" dirty="0" smtClean="0">
                <a:solidFill>
                  <a:srgbClr val="000000"/>
                </a:solidFill>
                <a:highlight>
                  <a:srgbClr val="FFFFFF"/>
                </a:highlight>
                <a:latin typeface="Consolas"/>
              </a:rPr>
              <a:t>));</a:t>
            </a:r>
          </a:p>
          <a:p>
            <a:pPr>
              <a:buNone/>
            </a:pPr>
            <a:r>
              <a:rPr lang="en-US" sz="2000" dirty="0" smtClean="0">
                <a:solidFill>
                  <a:srgbClr val="000000"/>
                </a:solidFill>
                <a:highlight>
                  <a:srgbClr val="FFFFFF"/>
                </a:highlight>
                <a:latin typeface="Consolas"/>
              </a:rPr>
              <a:t>	 HANDLE_ERROR(</a:t>
            </a:r>
            <a:r>
              <a:rPr lang="en-US" sz="2000" dirty="0" err="1" smtClean="0">
                <a:solidFill>
                  <a:srgbClr val="000000"/>
                </a:solidFill>
                <a:highlight>
                  <a:srgbClr val="FFFFFF"/>
                </a:highlight>
                <a:latin typeface="Consolas"/>
              </a:rPr>
              <a:t>cudaMalloc</a:t>
            </a:r>
            <a:r>
              <a:rPr lang="en-US" sz="2000" dirty="0" smtClean="0">
                <a:solidFill>
                  <a:srgbClr val="000000"/>
                </a:solidFill>
                <a:highlight>
                  <a:srgbClr val="FFFFFF"/>
                </a:highlight>
                <a:latin typeface="Consolas"/>
              </a:rPr>
              <a:t>( (void**)&amp;</a:t>
            </a:r>
            <a:r>
              <a:rPr lang="en-US" sz="2000" dirty="0" err="1" smtClean="0">
                <a:solidFill>
                  <a:srgbClr val="000000"/>
                </a:solidFill>
                <a:highlight>
                  <a:srgbClr val="FFFFFF"/>
                </a:highlight>
                <a:latin typeface="Consolas"/>
              </a:rPr>
              <a:t>dev_histo</a:t>
            </a:r>
            <a:r>
              <a:rPr lang="en-US" sz="2000" dirty="0" smtClean="0">
                <a:solidFill>
                  <a:srgbClr val="000000"/>
                </a:solidFill>
                <a:highlight>
                  <a:srgbClr val="FFFFFF"/>
                </a:highlight>
                <a:latin typeface="Consolas"/>
              </a:rPr>
              <a:t>, 256 * </a:t>
            </a:r>
            <a:r>
              <a:rPr lang="en-US" sz="2000" dirty="0" err="1" smtClean="0">
                <a:solidFill>
                  <a:srgbClr val="000000"/>
                </a:solidFill>
                <a:highlight>
                  <a:srgbClr val="FFFFFF"/>
                </a:highlight>
                <a:latin typeface="Consolas"/>
              </a:rPr>
              <a:t>sizeof</a:t>
            </a:r>
            <a:r>
              <a:rPr lang="en-US" sz="2000" dirty="0" smtClean="0">
                <a:solidFill>
                  <a:srgbClr val="000000"/>
                </a:solidFill>
                <a:highlight>
                  <a:srgbClr val="FFFFFF"/>
                </a:highlight>
                <a:latin typeface="Consolas"/>
              </a:rPr>
              <a:t>(long)));</a:t>
            </a:r>
          </a:p>
          <a:p>
            <a:pPr>
              <a:buNone/>
            </a:pPr>
            <a:endParaRPr lang="en-US" sz="2000" dirty="0" smtClean="0">
              <a:solidFill>
                <a:srgbClr val="000000"/>
              </a:solidFill>
              <a:highlight>
                <a:srgbClr val="FFFFFF"/>
              </a:highlight>
              <a:latin typeface="Consolas"/>
            </a:endParaRPr>
          </a:p>
          <a:p>
            <a:pPr>
              <a:buNone/>
            </a:pPr>
            <a:r>
              <a:rPr lang="en-US" sz="2000" dirty="0" smtClean="0">
                <a:solidFill>
                  <a:srgbClr val="000000"/>
                </a:solidFill>
                <a:highlight>
                  <a:srgbClr val="FFFFFF"/>
                </a:highlight>
                <a:latin typeface="Consolas"/>
              </a:rPr>
              <a:t>	 HANDLE_ERROR(</a:t>
            </a:r>
            <a:r>
              <a:rPr lang="en-US" sz="2000" dirty="0" err="1" smtClean="0">
                <a:solidFill>
                  <a:srgbClr val="000000"/>
                </a:solidFill>
                <a:highlight>
                  <a:srgbClr val="FFFFFF"/>
                </a:highlight>
                <a:latin typeface="Consolas"/>
              </a:rPr>
              <a:t>cudaMemset</a:t>
            </a:r>
            <a:r>
              <a:rPr lang="en-US" sz="2000" dirty="0" smtClean="0">
                <a:solidFill>
                  <a:srgbClr val="000000"/>
                </a:solidFill>
                <a:highlight>
                  <a:srgbClr val="FFFFFF"/>
                </a:highlight>
                <a:latin typeface="Consolas"/>
              </a:rPr>
              <a:t>(</a:t>
            </a:r>
            <a:r>
              <a:rPr lang="en-US" sz="2000" dirty="0" err="1" smtClean="0">
                <a:solidFill>
                  <a:srgbClr val="000000"/>
                </a:solidFill>
                <a:highlight>
                  <a:srgbClr val="FFFFFF"/>
                </a:highlight>
                <a:latin typeface="Consolas"/>
              </a:rPr>
              <a:t>dev_histo</a:t>
            </a:r>
            <a:r>
              <a:rPr lang="en-US" sz="2000" dirty="0" smtClean="0">
                <a:solidFill>
                  <a:srgbClr val="000000"/>
                </a:solidFill>
                <a:highlight>
                  <a:srgbClr val="FFFFFF"/>
                </a:highlight>
                <a:latin typeface="Consolas"/>
              </a:rPr>
              <a:t>, 0, 256 * </a:t>
            </a:r>
            <a:r>
              <a:rPr lang="en-US" sz="2000" dirty="0" err="1" smtClean="0">
                <a:solidFill>
                  <a:srgbClr val="000000"/>
                </a:solidFill>
                <a:highlight>
                  <a:srgbClr val="FFFFFF"/>
                </a:highlight>
                <a:latin typeface="Consolas"/>
              </a:rPr>
              <a:t>sizeof</a:t>
            </a:r>
            <a:r>
              <a:rPr lang="en-US" sz="2000" dirty="0" smtClean="0">
                <a:solidFill>
                  <a:srgbClr val="000000"/>
                </a:solidFill>
                <a:highlight>
                  <a:srgbClr val="FFFFFF"/>
                </a:highlight>
                <a:latin typeface="Consolas"/>
              </a:rPr>
              <a:t>(</a:t>
            </a:r>
            <a:r>
              <a:rPr lang="en-US" sz="2000" dirty="0" err="1" smtClean="0">
                <a:solidFill>
                  <a:srgbClr val="000000"/>
                </a:solidFill>
                <a:highlight>
                  <a:srgbClr val="FFFFFF"/>
                </a:highlight>
                <a:latin typeface="Consolas"/>
              </a:rPr>
              <a:t>int</a:t>
            </a:r>
            <a:r>
              <a:rPr lang="en-US" sz="2000" dirty="0" smtClean="0">
                <a:solidFill>
                  <a:srgbClr val="000000"/>
                </a:solidFill>
                <a:highlight>
                  <a:srgbClr val="FFFFFF"/>
                </a:highlight>
                <a:latin typeface="Consolas"/>
              </a:rPr>
              <a:t>)));</a:t>
            </a:r>
          </a:p>
          <a:p>
            <a:pPr>
              <a:buNone/>
            </a:pPr>
            <a:r>
              <a:rPr lang="en-US" sz="2000" dirty="0" smtClean="0">
                <a:solidFill>
                  <a:srgbClr val="000000"/>
                </a:solidFill>
                <a:highlight>
                  <a:srgbClr val="FFFFFF"/>
                </a:highlight>
                <a:latin typeface="Consolas"/>
              </a:rPr>
              <a:t>…</a:t>
            </a:r>
            <a:endParaRPr lang="sr-Latn-RS" sz="2000" dirty="0" smtClean="0">
              <a:solidFill>
                <a:srgbClr val="000000"/>
              </a:solidFill>
              <a:highlight>
                <a:srgbClr val="FFFFFF"/>
              </a:highlight>
              <a:latin typeface="Consolas"/>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67</a:t>
            </a:fld>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Računanje histograma – GPU (</a:t>
            </a:r>
            <a:r>
              <a:rPr lang="en-US" dirty="0" smtClean="0"/>
              <a:t>2</a:t>
            </a:r>
            <a:r>
              <a:rPr lang="sr-Latn-RS" dirty="0" smtClean="0"/>
              <a:t>)</a:t>
            </a:r>
            <a:endParaRPr lang="en-US" dirty="0"/>
          </a:p>
        </p:txBody>
      </p:sp>
      <p:sp>
        <p:nvSpPr>
          <p:cNvPr id="7" name="Content Placeholder 6"/>
          <p:cNvSpPr>
            <a:spLocks noGrp="1"/>
          </p:cNvSpPr>
          <p:nvPr>
            <p:ph idx="1"/>
          </p:nvPr>
        </p:nvSpPr>
        <p:spPr>
          <a:xfrm>
            <a:off x="457200" y="1600200"/>
            <a:ext cx="8229600" cy="5029200"/>
          </a:xfrm>
        </p:spPr>
        <p:txBody>
          <a:bodyPr>
            <a:noAutofit/>
          </a:bodyPr>
          <a:lstStyle/>
          <a:p>
            <a:pPr>
              <a:buNone/>
            </a:pPr>
            <a:r>
              <a:rPr lang="en-US" sz="1400" dirty="0" smtClean="0">
                <a:solidFill>
                  <a:srgbClr val="000000"/>
                </a:solidFill>
                <a:highlight>
                  <a:srgbClr val="FFFFFF"/>
                </a:highlight>
                <a:latin typeface="Consolas"/>
              </a:rPr>
              <a:t>…</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cudaDeviceProp</a:t>
            </a:r>
            <a:r>
              <a:rPr lang="en-US" sz="1400" dirty="0" smtClean="0">
                <a:solidFill>
                  <a:srgbClr val="000000"/>
                </a:solidFill>
                <a:highlight>
                  <a:srgbClr val="FFFFFF"/>
                </a:highlight>
                <a:latin typeface="Consolas"/>
              </a:rPr>
              <a:t> prop;</a:t>
            </a:r>
          </a:p>
          <a:p>
            <a:pPr>
              <a:buNone/>
            </a:pPr>
            <a:r>
              <a:rPr lang="sr-Latn-RS" sz="1400" dirty="0" smtClean="0">
                <a:solidFill>
                  <a:srgbClr val="000000"/>
                </a:solidFill>
                <a:highlight>
                  <a:srgbClr val="FFFFFF"/>
                </a:highlight>
                <a:latin typeface="Consolas"/>
              </a:rPr>
              <a:t>	</a:t>
            </a:r>
            <a:r>
              <a:rPr lang="en-US" sz="1400" dirty="0" smtClean="0">
                <a:solidFill>
                  <a:srgbClr val="000000"/>
                </a:solidFill>
                <a:highlight>
                  <a:srgbClr val="FFFFFF"/>
                </a:highlight>
                <a:latin typeface="Consolas"/>
              </a:rPr>
              <a:t>HANDLE_ERROR( </a:t>
            </a:r>
            <a:r>
              <a:rPr lang="en-US" sz="1400" dirty="0" err="1" smtClean="0">
                <a:solidFill>
                  <a:srgbClr val="000000"/>
                </a:solidFill>
                <a:highlight>
                  <a:srgbClr val="FFFFFF"/>
                </a:highlight>
                <a:latin typeface="Consolas"/>
              </a:rPr>
              <a:t>cudaGetDeviceProperties</a:t>
            </a:r>
            <a:r>
              <a:rPr lang="en-US" sz="1400" dirty="0" smtClean="0">
                <a:solidFill>
                  <a:srgbClr val="000000"/>
                </a:solidFill>
                <a:highlight>
                  <a:srgbClr val="FFFFFF"/>
                </a:highlight>
                <a:latin typeface="Consolas"/>
              </a:rPr>
              <a:t>( &amp;prop, 0 ) );</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int</a:t>
            </a:r>
            <a:r>
              <a:rPr lang="en-US" sz="1400" dirty="0" smtClean="0">
                <a:solidFill>
                  <a:srgbClr val="000000"/>
                </a:solidFill>
                <a:highlight>
                  <a:srgbClr val="FFFFFF"/>
                </a:highlight>
                <a:latin typeface="Consolas"/>
              </a:rPr>
              <a:t> blocks = </a:t>
            </a:r>
            <a:r>
              <a:rPr lang="en-US" sz="1400" dirty="0" err="1" smtClean="0">
                <a:solidFill>
                  <a:srgbClr val="000000"/>
                </a:solidFill>
                <a:highlight>
                  <a:srgbClr val="FFFFFF"/>
                </a:highlight>
                <a:latin typeface="Consolas"/>
              </a:rPr>
              <a:t>prop.multiProcessorCount</a:t>
            </a:r>
            <a:r>
              <a:rPr lang="en-US" sz="1400" dirty="0" smtClean="0">
                <a:solidFill>
                  <a:srgbClr val="000000"/>
                </a:solidFill>
                <a:highlight>
                  <a:srgbClr val="FFFFFF"/>
                </a:highlight>
                <a:latin typeface="Consolas"/>
              </a:rPr>
              <a:t>;</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histo_kernel</a:t>
            </a:r>
            <a:r>
              <a:rPr lang="en-US" sz="1400" dirty="0" smtClean="0">
                <a:solidFill>
                  <a:srgbClr val="000000"/>
                </a:solidFill>
                <a:highlight>
                  <a:srgbClr val="FFFFFF"/>
                </a:highlight>
                <a:latin typeface="Consolas"/>
              </a:rPr>
              <a:t>&lt;&lt;&lt;blocks*2,256&gt;&gt;&gt;( </a:t>
            </a:r>
            <a:r>
              <a:rPr lang="en-US" sz="1400" dirty="0" err="1" smtClean="0">
                <a:solidFill>
                  <a:srgbClr val="000000"/>
                </a:solidFill>
                <a:highlight>
                  <a:srgbClr val="FFFFFF"/>
                </a:highlight>
                <a:latin typeface="Consolas"/>
              </a:rPr>
              <a:t>dev_buffer</a:t>
            </a:r>
            <a:r>
              <a:rPr lang="en-US" sz="1400" dirty="0" smtClean="0">
                <a:solidFill>
                  <a:srgbClr val="000000"/>
                </a:solidFill>
                <a:highlight>
                  <a:srgbClr val="FFFFFF"/>
                </a:highlight>
                <a:latin typeface="Consolas"/>
              </a:rPr>
              <a:t>, SIZE, </a:t>
            </a:r>
            <a:r>
              <a:rPr lang="en-US" sz="1400" dirty="0" err="1" smtClean="0">
                <a:solidFill>
                  <a:srgbClr val="000000"/>
                </a:solidFill>
                <a:highlight>
                  <a:srgbClr val="FFFFFF"/>
                </a:highlight>
                <a:latin typeface="Consolas"/>
              </a:rPr>
              <a:t>dev_histo</a:t>
            </a:r>
            <a:r>
              <a:rPr lang="en-US" sz="1400" dirty="0" smtClean="0">
                <a:solidFill>
                  <a:srgbClr val="000000"/>
                </a:solidFill>
                <a:highlight>
                  <a:srgbClr val="FFFFFF"/>
                </a:highlight>
                <a:latin typeface="Consolas"/>
              </a:rPr>
              <a:t> );</a:t>
            </a:r>
          </a:p>
          <a:p>
            <a:pPr>
              <a:buNone/>
            </a:pPr>
            <a:endParaRPr lang="en-US" sz="1400" dirty="0" smtClean="0">
              <a:solidFill>
                <a:srgbClr val="000000"/>
              </a:solidFill>
              <a:highlight>
                <a:srgbClr val="FFFFFF"/>
              </a:highlight>
              <a:latin typeface="Consolas"/>
            </a:endParaRPr>
          </a:p>
          <a:p>
            <a:pPr>
              <a:buNone/>
            </a:pPr>
            <a:r>
              <a:rPr lang="sr-Latn-RS" sz="1400" dirty="0" smtClean="0">
                <a:solidFill>
                  <a:srgbClr val="000000"/>
                </a:solidFill>
                <a:highlight>
                  <a:srgbClr val="FFFFFF"/>
                </a:highlight>
                <a:latin typeface="Consolas"/>
              </a:rPr>
              <a:t>	</a:t>
            </a:r>
            <a:r>
              <a:rPr lang="en-US" sz="1400" dirty="0" smtClean="0">
                <a:solidFill>
                  <a:srgbClr val="000000"/>
                </a:solidFill>
                <a:highlight>
                  <a:srgbClr val="FFFFFF"/>
                </a:highlight>
                <a:latin typeface="Consolas"/>
              </a:rPr>
              <a:t>unsigned </a:t>
            </a:r>
            <a:r>
              <a:rPr lang="en-US" sz="1400" dirty="0" err="1" smtClean="0">
                <a:solidFill>
                  <a:srgbClr val="000000"/>
                </a:solidFill>
                <a:highlight>
                  <a:srgbClr val="FFFFFF"/>
                </a:highlight>
                <a:latin typeface="Consolas"/>
              </a:rPr>
              <a:t>int</a:t>
            </a:r>
            <a:r>
              <a:rPr lang="en-U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histo</a:t>
            </a:r>
            <a:r>
              <a:rPr lang="en-US" sz="1400" dirty="0" smtClean="0">
                <a:solidFill>
                  <a:srgbClr val="000000"/>
                </a:solidFill>
                <a:highlight>
                  <a:srgbClr val="FFFFFF"/>
                </a:highlight>
                <a:latin typeface="Consolas"/>
              </a:rPr>
              <a:t>[256];</a:t>
            </a:r>
          </a:p>
          <a:p>
            <a:pPr>
              <a:buNone/>
            </a:pPr>
            <a:r>
              <a:rPr lang="sr-Latn-RS" sz="1400" dirty="0" smtClean="0">
                <a:solidFill>
                  <a:srgbClr val="000000"/>
                </a:solidFill>
                <a:highlight>
                  <a:srgbClr val="FFFFFF"/>
                </a:highlight>
                <a:latin typeface="Consolas"/>
              </a:rPr>
              <a:t>	</a:t>
            </a:r>
            <a:r>
              <a:rPr lang="en-US" sz="1400" dirty="0" smtClean="0">
                <a:solidFill>
                  <a:srgbClr val="000000"/>
                </a:solidFill>
                <a:highlight>
                  <a:srgbClr val="FFFFFF"/>
                </a:highlight>
                <a:latin typeface="Consolas"/>
              </a:rPr>
              <a:t>HANDLE_ERROR( </a:t>
            </a:r>
            <a:r>
              <a:rPr lang="en-US" sz="1400" dirty="0" err="1" smtClean="0">
                <a:solidFill>
                  <a:srgbClr val="000000"/>
                </a:solidFill>
                <a:highlight>
                  <a:srgbClr val="FFFFFF"/>
                </a:highlight>
                <a:latin typeface="Consolas"/>
              </a:rPr>
              <a:t>cudaMemcpy</a:t>
            </a:r>
            <a:r>
              <a:rPr lang="en-US" sz="1400" dirty="0" smtClean="0">
                <a:solidFill>
                  <a:srgbClr val="000000"/>
                </a:solidFill>
                <a:highlight>
                  <a:srgbClr val="FFFFFF"/>
                </a:highlight>
                <a:latin typeface="Consolas"/>
              </a:rPr>
              <a:t>(</a:t>
            </a:r>
            <a:r>
              <a:rPr lang="en-US" sz="1400" dirty="0" err="1" smtClean="0">
                <a:solidFill>
                  <a:srgbClr val="000000"/>
                </a:solidFill>
                <a:highlight>
                  <a:srgbClr val="FFFFFF"/>
                </a:highlight>
                <a:latin typeface="Consolas"/>
              </a:rPr>
              <a:t>histo</a:t>
            </a:r>
            <a:r>
              <a:rPr lang="en-U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dev_histo</a:t>
            </a:r>
            <a:r>
              <a:rPr lang="en-US" sz="1400" dirty="0" smtClean="0">
                <a:solidFill>
                  <a:srgbClr val="000000"/>
                </a:solidFill>
                <a:highlight>
                  <a:srgbClr val="FFFFFF"/>
                </a:highlight>
                <a:latin typeface="Consolas"/>
              </a:rPr>
              <a:t>, 256 * </a:t>
            </a:r>
            <a:r>
              <a:rPr lang="en-US" sz="1400" dirty="0" err="1" smtClean="0">
                <a:solidFill>
                  <a:srgbClr val="000000"/>
                </a:solidFill>
                <a:highlight>
                  <a:srgbClr val="FFFFFF"/>
                </a:highlight>
                <a:latin typeface="Consolas"/>
              </a:rPr>
              <a:t>sizeof</a:t>
            </a:r>
            <a:r>
              <a:rPr lang="en-US" sz="1400" dirty="0" smtClean="0">
                <a:solidFill>
                  <a:srgbClr val="000000"/>
                </a:solidFill>
                <a:highlight>
                  <a:srgbClr val="FFFFFF"/>
                </a:highlight>
                <a:latin typeface="Consolas"/>
              </a:rPr>
              <a:t>(</a:t>
            </a:r>
            <a:r>
              <a:rPr lang="en-US" sz="1400" dirty="0" err="1" smtClean="0">
                <a:solidFill>
                  <a:srgbClr val="000000"/>
                </a:solidFill>
                <a:highlight>
                  <a:srgbClr val="FFFFFF"/>
                </a:highlight>
                <a:latin typeface="Consolas"/>
              </a:rPr>
              <a:t>int</a:t>
            </a:r>
            <a:r>
              <a:rPr lang="en-US" sz="1400" dirty="0" smtClean="0">
                <a:solidFill>
                  <a:srgbClr val="000000"/>
                </a:solidFill>
                <a:highlight>
                  <a:srgbClr val="FFFFFF"/>
                </a:highlight>
                <a:latin typeface="Consolas"/>
              </a:rPr>
              <a:t>),</a:t>
            </a:r>
            <a:r>
              <a:rPr lang="en-US" sz="1400" dirty="0" err="1" smtClean="0">
                <a:solidFill>
                  <a:srgbClr val="000000"/>
                </a:solidFill>
                <a:highlight>
                  <a:srgbClr val="FFFFFF"/>
                </a:highlight>
                <a:latin typeface="Consolas"/>
              </a:rPr>
              <a:t>cudaMemcpyDeviceToHost</a:t>
            </a:r>
            <a:r>
              <a:rPr lang="en-US" sz="1400" dirty="0" smtClean="0">
                <a:solidFill>
                  <a:srgbClr val="000000"/>
                </a:solidFill>
                <a:highlight>
                  <a:srgbClr val="FFFFFF"/>
                </a:highlight>
                <a:latin typeface="Consolas"/>
              </a:rPr>
              <a:t>));</a:t>
            </a:r>
          </a:p>
          <a:p>
            <a:pPr>
              <a:buNone/>
            </a:pPr>
            <a:endParaRPr lang="en-US" sz="1400" dirty="0" smtClean="0">
              <a:solidFill>
                <a:srgbClr val="000000"/>
              </a:solidFill>
              <a:highlight>
                <a:srgbClr val="FFFFFF"/>
              </a:highlight>
              <a:latin typeface="Consolas"/>
            </a:endParaRPr>
          </a:p>
          <a:p>
            <a:pPr>
              <a:buNone/>
            </a:pPr>
            <a:r>
              <a:rPr lang="sr-Latn-RS" sz="1400" dirty="0" smtClean="0">
                <a:solidFill>
                  <a:srgbClr val="000000"/>
                </a:solidFill>
                <a:highlight>
                  <a:srgbClr val="FFFFFF"/>
                </a:highlight>
                <a:latin typeface="Consolas"/>
              </a:rPr>
              <a:t>	</a:t>
            </a:r>
            <a:r>
              <a:rPr lang="en-US" sz="1400" dirty="0" smtClean="0">
                <a:solidFill>
                  <a:srgbClr val="000000"/>
                </a:solidFill>
                <a:highlight>
                  <a:srgbClr val="FFFFFF"/>
                </a:highlight>
                <a:latin typeface="Consolas"/>
              </a:rPr>
              <a:t>long </a:t>
            </a:r>
            <a:r>
              <a:rPr lang="en-US" sz="1400" dirty="0" err="1" smtClean="0">
                <a:solidFill>
                  <a:srgbClr val="000000"/>
                </a:solidFill>
                <a:highlight>
                  <a:srgbClr val="FFFFFF"/>
                </a:highlight>
                <a:latin typeface="Consolas"/>
              </a:rPr>
              <a:t>histoCount</a:t>
            </a:r>
            <a:r>
              <a:rPr lang="en-US" sz="1400" dirty="0" smtClean="0">
                <a:solidFill>
                  <a:srgbClr val="000000"/>
                </a:solidFill>
                <a:highlight>
                  <a:srgbClr val="FFFFFF"/>
                </a:highlight>
                <a:latin typeface="Consolas"/>
              </a:rPr>
              <a:t> = 0;</a:t>
            </a:r>
          </a:p>
          <a:p>
            <a:pPr>
              <a:buNone/>
            </a:pPr>
            <a:r>
              <a:rPr lang="sr-Latn-RS" sz="1400" dirty="0" smtClean="0">
                <a:solidFill>
                  <a:srgbClr val="000000"/>
                </a:solidFill>
                <a:highlight>
                  <a:srgbClr val="FFFFFF"/>
                </a:highlight>
                <a:latin typeface="Consolas"/>
              </a:rPr>
              <a:t>	</a:t>
            </a:r>
            <a:r>
              <a:rPr lang="en-US" sz="1400" dirty="0" smtClean="0">
                <a:solidFill>
                  <a:srgbClr val="000000"/>
                </a:solidFill>
                <a:highlight>
                  <a:srgbClr val="FFFFFF"/>
                </a:highlight>
                <a:latin typeface="Consolas"/>
              </a:rPr>
              <a:t>for (</a:t>
            </a:r>
            <a:r>
              <a:rPr lang="en-US" sz="1400" dirty="0" err="1" smtClean="0">
                <a:solidFill>
                  <a:srgbClr val="000000"/>
                </a:solidFill>
                <a:highlight>
                  <a:srgbClr val="FFFFFF"/>
                </a:highlight>
                <a:latin typeface="Consolas"/>
              </a:rPr>
              <a:t>int</a:t>
            </a:r>
            <a:r>
              <a:rPr lang="en-U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i</a:t>
            </a:r>
            <a:r>
              <a:rPr lang="en-US" sz="1400" dirty="0" smtClean="0">
                <a:solidFill>
                  <a:srgbClr val="000000"/>
                </a:solidFill>
                <a:highlight>
                  <a:srgbClr val="FFFFFF"/>
                </a:highlight>
                <a:latin typeface="Consolas"/>
              </a:rPr>
              <a:t>=0; </a:t>
            </a:r>
            <a:r>
              <a:rPr lang="en-US" sz="1400" dirty="0" err="1" smtClean="0">
                <a:solidFill>
                  <a:srgbClr val="000000"/>
                </a:solidFill>
                <a:highlight>
                  <a:srgbClr val="FFFFFF"/>
                </a:highlight>
                <a:latin typeface="Consolas"/>
              </a:rPr>
              <a:t>i</a:t>
            </a:r>
            <a:r>
              <a:rPr lang="en-US" sz="1400" dirty="0" smtClean="0">
                <a:solidFill>
                  <a:srgbClr val="000000"/>
                </a:solidFill>
                <a:highlight>
                  <a:srgbClr val="FFFFFF"/>
                </a:highlight>
                <a:latin typeface="Consolas"/>
              </a:rPr>
              <a:t>&lt;256; </a:t>
            </a:r>
            <a:r>
              <a:rPr lang="en-US" sz="1400" dirty="0" err="1" smtClean="0">
                <a:solidFill>
                  <a:srgbClr val="000000"/>
                </a:solidFill>
                <a:highlight>
                  <a:srgbClr val="FFFFFF"/>
                </a:highlight>
                <a:latin typeface="Consolas"/>
              </a:rPr>
              <a:t>i</a:t>
            </a:r>
            <a:r>
              <a:rPr lang="en-US" sz="1400" dirty="0" smtClean="0">
                <a:solidFill>
                  <a:srgbClr val="000000"/>
                </a:solidFill>
                <a:highlight>
                  <a:srgbClr val="FFFFFF"/>
                </a:highlight>
                <a:latin typeface="Consolas"/>
              </a:rPr>
              <a:t>++) </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histoCount</a:t>
            </a:r>
            <a:r>
              <a:rPr lang="en-US" sz="1400" dirty="0" smtClean="0">
                <a:solidFill>
                  <a:srgbClr val="000000"/>
                </a:solidFill>
                <a:highlight>
                  <a:srgbClr val="FFFFFF"/>
                </a:highlight>
                <a:latin typeface="Consolas"/>
              </a:rPr>
              <a:t> += </a:t>
            </a:r>
            <a:r>
              <a:rPr lang="en-US" sz="1400" dirty="0" err="1" smtClean="0">
                <a:solidFill>
                  <a:srgbClr val="000000"/>
                </a:solidFill>
                <a:highlight>
                  <a:srgbClr val="FFFFFF"/>
                </a:highlight>
                <a:latin typeface="Consolas"/>
              </a:rPr>
              <a:t>histo</a:t>
            </a:r>
            <a:r>
              <a:rPr lang="en-US" sz="1400" dirty="0" smtClean="0">
                <a:solidFill>
                  <a:srgbClr val="000000"/>
                </a:solidFill>
                <a:highlight>
                  <a:srgbClr val="FFFFFF"/>
                </a:highlight>
                <a:latin typeface="Consolas"/>
              </a:rPr>
              <a:t>[</a:t>
            </a:r>
            <a:r>
              <a:rPr lang="en-US" sz="1400" dirty="0" err="1" smtClean="0">
                <a:solidFill>
                  <a:srgbClr val="000000"/>
                </a:solidFill>
                <a:highlight>
                  <a:srgbClr val="FFFFFF"/>
                </a:highlight>
                <a:latin typeface="Consolas"/>
              </a:rPr>
              <a:t>i</a:t>
            </a:r>
            <a:r>
              <a:rPr lang="en-US" sz="1400" dirty="0" smtClean="0">
                <a:solidFill>
                  <a:srgbClr val="000000"/>
                </a:solidFill>
                <a:highlight>
                  <a:srgbClr val="FFFFFF"/>
                </a:highlight>
                <a:latin typeface="Consolas"/>
              </a:rPr>
              <a:t>];</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printf</a:t>
            </a:r>
            <a:r>
              <a:rPr lang="en-US" sz="1400" dirty="0" smtClean="0">
                <a:solidFill>
                  <a:srgbClr val="000000"/>
                </a:solidFill>
                <a:highlight>
                  <a:srgbClr val="FFFFFF"/>
                </a:highlight>
                <a:latin typeface="Consolas"/>
              </a:rPr>
              <a:t>( "Histogram Sum: %ld\n", </a:t>
            </a:r>
            <a:r>
              <a:rPr lang="en-US" sz="1400" dirty="0" err="1" smtClean="0">
                <a:solidFill>
                  <a:srgbClr val="000000"/>
                </a:solidFill>
                <a:highlight>
                  <a:srgbClr val="FFFFFF"/>
                </a:highlight>
                <a:latin typeface="Consolas"/>
              </a:rPr>
              <a:t>histoCount</a:t>
            </a:r>
            <a:r>
              <a:rPr lang="en-US" sz="1400" dirty="0" smtClean="0">
                <a:solidFill>
                  <a:srgbClr val="000000"/>
                </a:solidFill>
                <a:highlight>
                  <a:srgbClr val="FFFFFF"/>
                </a:highlight>
                <a:latin typeface="Consolas"/>
              </a:rPr>
              <a:t> );</a:t>
            </a:r>
          </a:p>
          <a:p>
            <a:pPr>
              <a:buNone/>
            </a:pPr>
            <a:r>
              <a:rPr lang="sr-Latn-RS" sz="1400" dirty="0" smtClean="0">
                <a:solidFill>
                  <a:srgbClr val="000000"/>
                </a:solidFill>
                <a:highlight>
                  <a:srgbClr val="FFFFFF"/>
                </a:highlight>
                <a:latin typeface="Consolas"/>
              </a:rPr>
              <a:t>	</a:t>
            </a:r>
            <a:r>
              <a:rPr lang="en-US" sz="1400" dirty="0" smtClean="0">
                <a:solidFill>
                  <a:srgbClr val="92D050"/>
                </a:solidFill>
                <a:highlight>
                  <a:srgbClr val="FFFFFF"/>
                </a:highlight>
                <a:latin typeface="Consolas"/>
              </a:rPr>
              <a:t>//TODO&gt; </a:t>
            </a:r>
            <a:r>
              <a:rPr lang="en-US" sz="1400" dirty="0" err="1" smtClean="0">
                <a:solidFill>
                  <a:srgbClr val="92D050"/>
                </a:solidFill>
                <a:highlight>
                  <a:srgbClr val="FFFFFF"/>
                </a:highlight>
                <a:latin typeface="Consolas"/>
              </a:rPr>
              <a:t>provera</a:t>
            </a:r>
            <a:r>
              <a:rPr lang="en-US" sz="1400" dirty="0" smtClean="0">
                <a:solidFill>
                  <a:srgbClr val="92D050"/>
                </a:solidFill>
                <a:highlight>
                  <a:srgbClr val="FFFFFF"/>
                </a:highlight>
                <a:latin typeface="Consolas"/>
              </a:rPr>
              <a:t> </a:t>
            </a:r>
            <a:r>
              <a:rPr lang="en-US" sz="1400" dirty="0" err="1" smtClean="0">
                <a:solidFill>
                  <a:srgbClr val="92D050"/>
                </a:solidFill>
                <a:highlight>
                  <a:srgbClr val="FFFFFF"/>
                </a:highlight>
                <a:latin typeface="Consolas"/>
              </a:rPr>
              <a:t>ta</a:t>
            </a:r>
            <a:r>
              <a:rPr lang="sr-Latn-RS" sz="1400" dirty="0" smtClean="0">
                <a:solidFill>
                  <a:srgbClr val="92D050"/>
                </a:solidFill>
                <a:highlight>
                  <a:srgbClr val="FFFFFF"/>
                </a:highlight>
                <a:latin typeface="Consolas"/>
              </a:rPr>
              <a:t>čnosti</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cudaFree</a:t>
            </a:r>
            <a:r>
              <a:rPr lang="en-US" sz="1400" dirty="0" smtClean="0">
                <a:solidFill>
                  <a:srgbClr val="000000"/>
                </a:solidFill>
                <a:highlight>
                  <a:srgbClr val="FFFFFF"/>
                </a:highlight>
                <a:latin typeface="Consolas"/>
              </a:rPr>
              <a:t>(</a:t>
            </a:r>
            <a:r>
              <a:rPr lang="en-US" sz="1400" dirty="0" err="1" smtClean="0">
                <a:solidFill>
                  <a:srgbClr val="000000"/>
                </a:solidFill>
                <a:highlight>
                  <a:srgbClr val="FFFFFF"/>
                </a:highlight>
                <a:latin typeface="Consolas"/>
              </a:rPr>
              <a:t>dev_histo</a:t>
            </a:r>
            <a:r>
              <a:rPr lang="en-US" sz="1400" dirty="0" smtClean="0">
                <a:solidFill>
                  <a:srgbClr val="000000"/>
                </a:solidFill>
                <a:highlight>
                  <a:srgbClr val="FFFFFF"/>
                </a:highlight>
                <a:latin typeface="Consolas"/>
              </a:rPr>
              <a:t>);</a:t>
            </a:r>
          </a:p>
          <a:p>
            <a:pPr>
              <a:buNone/>
            </a:pPr>
            <a:r>
              <a:rPr lang="sr-Latn-RS" sz="1400" dirty="0" smtClean="0">
                <a:solidFill>
                  <a:srgbClr val="000000"/>
                </a:solidFill>
                <a:highlight>
                  <a:srgbClr val="FFFFFF"/>
                </a:highlight>
                <a:latin typeface="Consolas"/>
              </a:rPr>
              <a:t>	</a:t>
            </a:r>
            <a:r>
              <a:rPr lang="en-US" sz="1400" dirty="0" err="1" smtClean="0">
                <a:solidFill>
                  <a:srgbClr val="000000"/>
                </a:solidFill>
                <a:highlight>
                  <a:srgbClr val="FFFFFF"/>
                </a:highlight>
                <a:latin typeface="Consolas"/>
              </a:rPr>
              <a:t>cudaFree</a:t>
            </a:r>
            <a:r>
              <a:rPr lang="sr-Latn-RS" sz="1400" dirty="0" smtClean="0">
                <a:solidFill>
                  <a:srgbClr val="000000"/>
                </a:solidFill>
                <a:highlight>
                  <a:srgbClr val="FFFFFF"/>
                </a:highlight>
                <a:latin typeface="Consolas"/>
              </a:rPr>
              <a:t>(</a:t>
            </a:r>
            <a:r>
              <a:rPr lang="en-US" sz="1400" dirty="0" err="1" smtClean="0">
                <a:solidFill>
                  <a:srgbClr val="000000"/>
                </a:solidFill>
                <a:highlight>
                  <a:srgbClr val="FFFFFF"/>
                </a:highlight>
                <a:latin typeface="Consolas"/>
              </a:rPr>
              <a:t>dev_buffer</a:t>
            </a:r>
            <a:r>
              <a:rPr lang="en-US" sz="1400" dirty="0" smtClean="0">
                <a:solidFill>
                  <a:srgbClr val="000000"/>
                </a:solidFill>
                <a:highlight>
                  <a:srgbClr val="FFFFFF"/>
                </a:highlight>
                <a:latin typeface="Consolas"/>
              </a:rPr>
              <a:t>);</a:t>
            </a:r>
          </a:p>
          <a:p>
            <a:pPr>
              <a:buNone/>
            </a:pPr>
            <a:r>
              <a:rPr lang="sr-Latn-RS" sz="1400" dirty="0" smtClean="0">
                <a:solidFill>
                  <a:srgbClr val="000000"/>
                </a:solidFill>
                <a:highlight>
                  <a:srgbClr val="FFFFFF"/>
                </a:highlight>
                <a:latin typeface="Consolas"/>
              </a:rPr>
              <a:t>	</a:t>
            </a:r>
            <a:r>
              <a:rPr lang="en-US" sz="1400" smtClean="0">
                <a:solidFill>
                  <a:srgbClr val="000000"/>
                </a:solidFill>
                <a:highlight>
                  <a:srgbClr val="FFFFFF"/>
                </a:highlight>
                <a:latin typeface="Consolas"/>
              </a:rPr>
              <a:t>free(buffer);</a:t>
            </a:r>
            <a:endParaRPr lang="en-US" sz="1400" dirty="0" smtClean="0">
              <a:solidFill>
                <a:srgbClr val="000000"/>
              </a:solidFill>
              <a:highlight>
                <a:srgbClr val="FFFFFF"/>
              </a:highlight>
              <a:latin typeface="Consolas"/>
            </a:endParaRPr>
          </a:p>
          <a:p>
            <a:pPr>
              <a:buNone/>
            </a:pPr>
            <a:r>
              <a:rPr lang="sr-Latn-RS" sz="1400" dirty="0" smtClean="0">
                <a:solidFill>
                  <a:srgbClr val="000000"/>
                </a:solidFill>
                <a:highlight>
                  <a:srgbClr val="FFFFFF"/>
                </a:highlight>
                <a:latin typeface="Consolas"/>
              </a:rPr>
              <a:t>	</a:t>
            </a:r>
            <a:r>
              <a:rPr lang="en-US" sz="1400" dirty="0" smtClean="0">
                <a:solidFill>
                  <a:srgbClr val="000000"/>
                </a:solidFill>
                <a:highlight>
                  <a:srgbClr val="FFFFFF"/>
                </a:highlight>
                <a:latin typeface="Consolas"/>
              </a:rPr>
              <a:t>return 0;</a:t>
            </a:r>
          </a:p>
          <a:p>
            <a:pPr>
              <a:buNone/>
            </a:pPr>
            <a:r>
              <a:rPr lang="en-US" sz="1400" dirty="0" smtClean="0">
                <a:solidFill>
                  <a:srgbClr val="000000"/>
                </a:solidFill>
                <a:highlight>
                  <a:srgbClr val="FFFFFF"/>
                </a:highlight>
                <a:latin typeface="Consolas"/>
              </a:rPr>
              <a:t>}</a:t>
            </a:r>
            <a:endParaRPr lang="sr-Latn-RS" sz="1400" dirty="0" smtClean="0">
              <a:solidFill>
                <a:srgbClr val="000000"/>
              </a:solidFill>
              <a:highlight>
                <a:srgbClr val="FFFFFF"/>
              </a:highlight>
              <a:latin typeface="Consolas"/>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68</a:t>
            </a:fld>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Računanje histograma – GPU (</a:t>
            </a:r>
            <a:r>
              <a:rPr lang="en-US" dirty="0" smtClean="0"/>
              <a:t>2</a:t>
            </a:r>
            <a:r>
              <a:rPr lang="sr-Latn-RS" dirty="0" smtClean="0"/>
              <a:t>)</a:t>
            </a:r>
            <a:endParaRPr lang="en-US" dirty="0"/>
          </a:p>
        </p:txBody>
      </p:sp>
      <p:sp>
        <p:nvSpPr>
          <p:cNvPr id="7" name="Content Placeholder 6"/>
          <p:cNvSpPr>
            <a:spLocks noGrp="1"/>
          </p:cNvSpPr>
          <p:nvPr>
            <p:ph idx="1"/>
          </p:nvPr>
        </p:nvSpPr>
        <p:spPr>
          <a:xfrm>
            <a:off x="457200" y="1600200"/>
            <a:ext cx="8229600" cy="5029200"/>
          </a:xfrm>
        </p:spPr>
        <p:txBody>
          <a:bodyPr>
            <a:normAutofit/>
          </a:bodyPr>
          <a:lstStyle/>
          <a:p>
            <a:pPr>
              <a:buNone/>
            </a:pPr>
            <a:r>
              <a:rPr lang="en-US" sz="2000" dirty="0" smtClean="0"/>
              <a:t/>
            </a:r>
            <a:br>
              <a:rPr lang="en-US" sz="2000" dirty="0" smtClean="0"/>
            </a:br>
            <a:r>
              <a:rPr lang="en-US" sz="1700" dirty="0" smtClean="0">
                <a:solidFill>
                  <a:srgbClr val="000000"/>
                </a:solidFill>
                <a:highlight>
                  <a:srgbClr val="FFFFFF"/>
                </a:highlight>
                <a:latin typeface="Consolas"/>
              </a:rPr>
              <a:t>#define SIZE (100*1024*1024)</a:t>
            </a:r>
            <a:br>
              <a:rPr lang="en-US" sz="1700" dirty="0" smtClean="0">
                <a:solidFill>
                  <a:srgbClr val="000000"/>
                </a:solidFill>
                <a:highlight>
                  <a:srgbClr val="FFFFFF"/>
                </a:highlight>
                <a:latin typeface="Consolas"/>
              </a:rPr>
            </a:br>
            <a:r>
              <a:rPr lang="en-US" sz="1700" dirty="0" smtClean="0">
                <a:solidFill>
                  <a:srgbClr val="000000"/>
                </a:solidFill>
                <a:highlight>
                  <a:srgbClr val="FFFFFF"/>
                </a:highlight>
                <a:latin typeface="Consolas"/>
              </a:rPr>
              <a:t>__global__ void </a:t>
            </a:r>
            <a:r>
              <a:rPr lang="en-US" sz="1700" dirty="0" err="1" smtClean="0">
                <a:solidFill>
                  <a:srgbClr val="000000"/>
                </a:solidFill>
                <a:highlight>
                  <a:srgbClr val="FFFFFF"/>
                </a:highlight>
                <a:latin typeface="Consolas"/>
              </a:rPr>
              <a:t>histo_kernel</a:t>
            </a:r>
            <a:r>
              <a:rPr lang="en-US" sz="1700" dirty="0" smtClean="0">
                <a:solidFill>
                  <a:srgbClr val="000000"/>
                </a:solidFill>
                <a:highlight>
                  <a:srgbClr val="FFFFFF"/>
                </a:highlight>
                <a:latin typeface="Consolas"/>
              </a:rPr>
              <a:t>(unsigned char *buffer,</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long size,</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unsigned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histo</a:t>
            </a:r>
            <a:r>
              <a:rPr lang="en-US" sz="1700" dirty="0" smtClean="0">
                <a:solidFill>
                  <a:srgbClr val="000000"/>
                </a:solidFill>
                <a:highlight>
                  <a:srgbClr val="FFFFFF"/>
                </a:highlight>
                <a:latin typeface="Consolas"/>
              </a:rPr>
              <a:t>)</a:t>
            </a:r>
            <a:endParaRPr lang="sr-Latn-RS" sz="1700" dirty="0" smtClean="0">
              <a:solidFill>
                <a:srgbClr val="000000"/>
              </a:solidFill>
              <a:highlight>
                <a:srgbClr val="FFFFFF"/>
              </a:highlight>
              <a:latin typeface="Consolas"/>
            </a:endParaRPr>
          </a:p>
          <a:p>
            <a:pPr>
              <a:buNone/>
            </a:pP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threadIdx.x</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blockIdx.x</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blockDim.x</a:t>
            </a: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stride = </a:t>
            </a:r>
            <a:r>
              <a:rPr lang="en-US" sz="1700" dirty="0" err="1" smtClean="0">
                <a:solidFill>
                  <a:srgbClr val="000000"/>
                </a:solidFill>
                <a:highlight>
                  <a:srgbClr val="FFFFFF"/>
                </a:highlight>
                <a:latin typeface="Consolas"/>
              </a:rPr>
              <a:t>blockDim.x</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gridDim.x</a:t>
            </a:r>
            <a:r>
              <a:rPr lang="en-US" sz="1700" dirty="0" smtClean="0">
                <a:solidFill>
                  <a:srgbClr val="000000"/>
                </a:solidFill>
                <a:highlight>
                  <a:srgbClr val="FFFFFF"/>
                </a:highlight>
                <a:latin typeface="Consolas"/>
              </a:rPr>
              <a:t>;</a:t>
            </a:r>
            <a:endParaRPr lang="sr-Latn-RS" sz="1700" dirty="0" smtClean="0">
              <a:solidFill>
                <a:srgbClr val="000000"/>
              </a:solidFill>
              <a:highlight>
                <a:srgbClr val="FFFFFF"/>
              </a:highlight>
              <a:latin typeface="Consolas"/>
            </a:endParaRPr>
          </a:p>
          <a:p>
            <a:pPr>
              <a:buNone/>
            </a:pPr>
            <a:r>
              <a:rPr lang="en-US" sz="1700" dirty="0" smtClean="0">
                <a:solidFill>
                  <a:srgbClr val="000000"/>
                </a:solidFill>
                <a:highlight>
                  <a:srgbClr val="FFFFFF"/>
                </a:highlight>
                <a:latin typeface="Consolas"/>
              </a:rPr>
              <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while (</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&lt; size) </a:t>
            </a:r>
            <a:endParaRPr lang="sr-Latn-RS" sz="1700" dirty="0" smtClean="0">
              <a:solidFill>
                <a:srgbClr val="000000"/>
              </a:solidFill>
              <a:highlight>
                <a:srgbClr val="FFFFFF"/>
              </a:highlight>
              <a:latin typeface="Consolas"/>
            </a:endParaRPr>
          </a:p>
          <a:p>
            <a:pPr>
              <a:buNone/>
            </a:pP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b="1" dirty="0" err="1" smtClean="0">
                <a:solidFill>
                  <a:srgbClr val="000000"/>
                </a:solidFill>
                <a:highlight>
                  <a:srgbClr val="FFFFFF"/>
                </a:highlight>
                <a:latin typeface="Consolas"/>
              </a:rPr>
              <a:t>atomicAdd</a:t>
            </a:r>
            <a:r>
              <a:rPr lang="en-US" sz="1700" dirty="0" smtClean="0">
                <a:solidFill>
                  <a:srgbClr val="000000"/>
                </a:solidFill>
                <a:highlight>
                  <a:srgbClr val="FFFFFF"/>
                </a:highlight>
                <a:latin typeface="Consolas"/>
              </a:rPr>
              <a:t>( &amp;(</a:t>
            </a:r>
            <a:r>
              <a:rPr lang="en-US" sz="1700" dirty="0" err="1" smtClean="0">
                <a:solidFill>
                  <a:srgbClr val="000000"/>
                </a:solidFill>
                <a:highlight>
                  <a:srgbClr val="FFFFFF"/>
                </a:highlight>
                <a:latin typeface="Consolas"/>
              </a:rPr>
              <a:t>histo</a:t>
            </a:r>
            <a:r>
              <a:rPr lang="en-US" sz="1700" dirty="0" smtClean="0">
                <a:solidFill>
                  <a:srgbClr val="000000"/>
                </a:solidFill>
                <a:highlight>
                  <a:srgbClr val="FFFFFF"/>
                </a:highlight>
                <a:latin typeface="Consolas"/>
              </a:rPr>
              <a:t>[buffer[</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1 );</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 stride;</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a:t>
            </a:r>
            <a:endParaRPr lang="sr-Latn-RS" sz="1700" dirty="0" smtClean="0">
              <a:solidFill>
                <a:srgbClr val="000000"/>
              </a:solidFill>
              <a:highlight>
                <a:srgbClr val="FFFFFF"/>
              </a:highlight>
              <a:latin typeface="Consolas"/>
            </a:endParaRPr>
          </a:p>
          <a:p>
            <a:pPr>
              <a:buNone/>
            </a:pPr>
            <a:r>
              <a:rPr lang="en-US" sz="1700" dirty="0" smtClean="0">
                <a:solidFill>
                  <a:srgbClr val="000000"/>
                </a:solidFill>
                <a:highlight>
                  <a:srgbClr val="FFFFFF"/>
                </a:highlight>
                <a:latin typeface="Consolas"/>
              </a:rPr>
              <a:t>} </a:t>
            </a:r>
            <a:r>
              <a:rPr lang="en-US" sz="2000" dirty="0" smtClean="0"/>
              <a:t/>
            </a:r>
            <a:br>
              <a:rPr lang="en-US" sz="2000" dirty="0" smtClean="0"/>
            </a:br>
            <a:endParaRPr lang="sr-Latn-RS" sz="2000" dirty="0" smtClean="0">
              <a:solidFill>
                <a:srgbClr val="000000"/>
              </a:solidFill>
              <a:highlight>
                <a:srgbClr val="FFFFFF"/>
              </a:highlight>
              <a:latin typeface="Consolas"/>
            </a:endParaRPr>
          </a:p>
        </p:txBody>
      </p:sp>
      <p:sp>
        <p:nvSpPr>
          <p:cNvPr id="8" name="TextBox 7"/>
          <p:cNvSpPr txBox="1"/>
          <p:nvPr/>
        </p:nvSpPr>
        <p:spPr>
          <a:xfrm>
            <a:off x="457200" y="1524000"/>
            <a:ext cx="2792175" cy="369332"/>
          </a:xfrm>
          <a:prstGeom prst="rect">
            <a:avLst/>
          </a:prstGeom>
          <a:noFill/>
        </p:spPr>
        <p:txBody>
          <a:bodyPr wrap="none" rtlCol="0">
            <a:spAutoFit/>
          </a:bodyPr>
          <a:lstStyle/>
          <a:p>
            <a:r>
              <a:rPr lang="sr-Latn-RS" b="1" dirty="0" smtClean="0">
                <a:solidFill>
                  <a:srgbClr val="C00000"/>
                </a:solidFill>
              </a:rPr>
              <a:t>GLOBALNA MEMORIJA</a:t>
            </a:r>
            <a:endParaRPr lang="en-US" b="1" dirty="0">
              <a:solidFill>
                <a:srgbClr val="C00000"/>
              </a:solidFill>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69</a:t>
            </a:fld>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sr-Latn-RS" dirty="0" smtClean="0"/>
              <a:t>Računanje histograma – GPU (</a:t>
            </a:r>
            <a:r>
              <a:rPr lang="en-US" dirty="0" smtClean="0"/>
              <a:t>2</a:t>
            </a:r>
            <a:r>
              <a:rPr lang="sr-Latn-RS" dirty="0" smtClean="0"/>
              <a:t>)</a:t>
            </a:r>
            <a:endParaRPr lang="en-US" dirty="0"/>
          </a:p>
        </p:txBody>
      </p:sp>
      <p:sp>
        <p:nvSpPr>
          <p:cNvPr id="7" name="Content Placeholder 6"/>
          <p:cNvSpPr>
            <a:spLocks noGrp="1"/>
          </p:cNvSpPr>
          <p:nvPr>
            <p:ph idx="1"/>
          </p:nvPr>
        </p:nvSpPr>
        <p:spPr>
          <a:xfrm>
            <a:off x="457200" y="1600200"/>
            <a:ext cx="8229600" cy="5029200"/>
          </a:xfrm>
        </p:spPr>
        <p:txBody>
          <a:bodyPr>
            <a:normAutofit fontScale="92500" lnSpcReduction="20000"/>
          </a:bodyPr>
          <a:lstStyle/>
          <a:p>
            <a:pPr>
              <a:buNone/>
            </a:pPr>
            <a:r>
              <a:rPr lang="en-US" sz="2000" dirty="0" smtClean="0"/>
              <a:t/>
            </a:r>
            <a:br>
              <a:rPr lang="en-US" sz="2000" dirty="0" smtClean="0"/>
            </a:br>
            <a:r>
              <a:rPr lang="en-US" sz="1800" b="1" dirty="0" smtClean="0"/>
              <a:t> </a:t>
            </a:r>
            <a:r>
              <a:rPr lang="en-US" sz="1700" dirty="0" smtClean="0">
                <a:solidFill>
                  <a:srgbClr val="000000"/>
                </a:solidFill>
                <a:highlight>
                  <a:srgbClr val="FFFFFF"/>
                </a:highlight>
                <a:latin typeface="Consolas"/>
              </a:rPr>
              <a:t>__global__ void </a:t>
            </a:r>
            <a:r>
              <a:rPr lang="en-US" sz="1700" dirty="0" err="1" smtClean="0">
                <a:solidFill>
                  <a:srgbClr val="000000"/>
                </a:solidFill>
                <a:highlight>
                  <a:srgbClr val="FFFFFF"/>
                </a:highlight>
                <a:latin typeface="Consolas"/>
              </a:rPr>
              <a:t>histo_kernel</a:t>
            </a:r>
            <a:r>
              <a:rPr lang="en-US" sz="1700" dirty="0" smtClean="0">
                <a:solidFill>
                  <a:srgbClr val="000000"/>
                </a:solidFill>
                <a:highlight>
                  <a:srgbClr val="FFFFFF"/>
                </a:highlight>
                <a:latin typeface="Consolas"/>
              </a:rPr>
              <a:t>(unsigned char *buffer,</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long size,</a:t>
            </a:r>
            <a:endParaRPr lang="sr-Latn-RS" sz="1700" dirty="0" smtClean="0">
              <a:solidFill>
                <a:srgbClr val="000000"/>
              </a:solidFill>
              <a:highlight>
                <a:srgbClr val="FFFFFF"/>
              </a:highlight>
              <a:latin typeface="Consolas"/>
            </a:endParaRPr>
          </a:p>
          <a:p>
            <a:pPr>
              <a:buNone/>
            </a:pP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unsigned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histo</a:t>
            </a:r>
            <a:r>
              <a:rPr lang="en-US" sz="1700" dirty="0" smtClean="0">
                <a:solidFill>
                  <a:srgbClr val="000000"/>
                </a:solidFill>
                <a:highlight>
                  <a:srgbClr val="FFFFFF"/>
                </a:highlight>
                <a:latin typeface="Consolas"/>
              </a:rPr>
              <a:t>)</a:t>
            </a:r>
            <a:endParaRPr lang="sr-Latn-RS" sz="1700" dirty="0" smtClean="0">
              <a:solidFill>
                <a:srgbClr val="000000"/>
              </a:solidFill>
              <a:highlight>
                <a:srgbClr val="FFFFFF"/>
              </a:highlight>
              <a:latin typeface="Consolas"/>
            </a:endParaRPr>
          </a:p>
          <a:p>
            <a:pPr>
              <a:buNone/>
            </a:pP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__shared__ unsigned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temp[256];</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temp[</a:t>
            </a:r>
            <a:r>
              <a:rPr lang="en-US" sz="1700" dirty="0" err="1" smtClean="0">
                <a:solidFill>
                  <a:srgbClr val="000000"/>
                </a:solidFill>
                <a:highlight>
                  <a:srgbClr val="FFFFFF"/>
                </a:highlight>
                <a:latin typeface="Consolas"/>
              </a:rPr>
              <a:t>threadIdx.x</a:t>
            </a:r>
            <a:r>
              <a:rPr lang="en-US" sz="1700" dirty="0" smtClean="0">
                <a:solidFill>
                  <a:srgbClr val="000000"/>
                </a:solidFill>
                <a:highlight>
                  <a:srgbClr val="FFFFFF"/>
                </a:highlight>
                <a:latin typeface="Consolas"/>
              </a:rPr>
              <a:t>] = 0;</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__</a:t>
            </a:r>
            <a:r>
              <a:rPr lang="en-US" sz="1700" dirty="0" err="1" smtClean="0">
                <a:solidFill>
                  <a:srgbClr val="000000"/>
                </a:solidFill>
                <a:highlight>
                  <a:srgbClr val="FFFFFF"/>
                </a:highlight>
                <a:latin typeface="Consolas"/>
              </a:rPr>
              <a:t>syncthreads</a:t>
            </a:r>
            <a:r>
              <a:rPr lang="en-US" sz="1700" dirty="0" smtClean="0">
                <a:solidFill>
                  <a:srgbClr val="000000"/>
                </a:solidFill>
                <a:highlight>
                  <a:srgbClr val="FFFFFF"/>
                </a:highlight>
                <a:latin typeface="Consolas"/>
              </a:rPr>
              <a:t>();</a:t>
            </a:r>
            <a:r>
              <a:rPr lang="sr-Latn-RS" sz="1700" dirty="0" smtClean="0">
                <a:solidFill>
                  <a:srgbClr val="000000"/>
                </a:solidFill>
                <a:highlight>
                  <a:srgbClr val="FFFFFF"/>
                </a:highlight>
                <a:latin typeface="Consolas"/>
              </a:rPr>
              <a:t> </a:t>
            </a:r>
            <a:r>
              <a:rPr lang="sr-Latn-RS" sz="1700" dirty="0" smtClean="0">
                <a:solidFill>
                  <a:srgbClr val="92D050"/>
                </a:solidFill>
                <a:highlight>
                  <a:srgbClr val="FFFFFF"/>
                </a:highlight>
                <a:latin typeface="Consolas"/>
              </a:rPr>
              <a:t>// inicijalizacija na 0</a:t>
            </a:r>
          </a:p>
          <a:p>
            <a:pPr>
              <a:buNone/>
            </a:pPr>
            <a:r>
              <a:rPr lang="en-US" sz="1700" dirty="0" smtClean="0">
                <a:solidFill>
                  <a:srgbClr val="000000"/>
                </a:solidFill>
                <a:highlight>
                  <a:srgbClr val="FFFFFF"/>
                </a:highlight>
                <a:latin typeface="Consolas"/>
              </a:rPr>
              <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threadIdx.x</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blockIdx.x</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blockDim.x</a:t>
            </a: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int</a:t>
            </a:r>
            <a:r>
              <a:rPr lang="en-US" sz="1700" dirty="0" smtClean="0">
                <a:solidFill>
                  <a:srgbClr val="000000"/>
                </a:solidFill>
                <a:highlight>
                  <a:srgbClr val="FFFFFF"/>
                </a:highlight>
                <a:latin typeface="Consolas"/>
              </a:rPr>
              <a:t> offset = </a:t>
            </a:r>
            <a:r>
              <a:rPr lang="en-US" sz="1700" dirty="0" err="1" smtClean="0">
                <a:solidFill>
                  <a:srgbClr val="000000"/>
                </a:solidFill>
                <a:highlight>
                  <a:srgbClr val="FFFFFF"/>
                </a:highlight>
                <a:latin typeface="Consolas"/>
              </a:rPr>
              <a:t>blockDim.x</a:t>
            </a:r>
            <a:r>
              <a:rPr lang="en-US" sz="1700" dirty="0" smtClean="0">
                <a:solidFill>
                  <a:srgbClr val="000000"/>
                </a:solidFill>
                <a:highlight>
                  <a:srgbClr val="FFFFFF"/>
                </a:highlight>
                <a:latin typeface="Consolas"/>
              </a:rPr>
              <a:t> * </a:t>
            </a:r>
            <a:r>
              <a:rPr lang="en-US" sz="1700" dirty="0" err="1" smtClean="0">
                <a:solidFill>
                  <a:srgbClr val="000000"/>
                </a:solidFill>
                <a:highlight>
                  <a:srgbClr val="FFFFFF"/>
                </a:highlight>
                <a:latin typeface="Consolas"/>
              </a:rPr>
              <a:t>gridDim.x</a:t>
            </a: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endParaRPr lang="sr-Latn-RS" sz="1700" dirty="0" smtClean="0">
              <a:solidFill>
                <a:srgbClr val="000000"/>
              </a:solidFill>
              <a:highlight>
                <a:srgbClr val="FFFFFF"/>
              </a:highlight>
              <a:latin typeface="Consolas"/>
            </a:endParaRPr>
          </a:p>
          <a:p>
            <a:pPr>
              <a:buNone/>
            </a:pP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while (</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&lt; size) </a:t>
            </a:r>
            <a:endParaRPr lang="sr-Latn-RS" sz="1700" dirty="0" smtClean="0">
              <a:solidFill>
                <a:srgbClr val="000000"/>
              </a:solidFill>
              <a:highlight>
                <a:srgbClr val="FFFFFF"/>
              </a:highlight>
              <a:latin typeface="Consolas"/>
            </a:endParaRPr>
          </a:p>
          <a:p>
            <a:pPr>
              <a:buNone/>
            </a:pP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atomicAdd</a:t>
            </a:r>
            <a:r>
              <a:rPr lang="en-US" sz="1700" dirty="0" smtClean="0">
                <a:solidFill>
                  <a:srgbClr val="000000"/>
                </a:solidFill>
                <a:highlight>
                  <a:srgbClr val="FFFFFF"/>
                </a:highlight>
                <a:latin typeface="Consolas"/>
              </a:rPr>
              <a:t>( &amp;temp[buffer[</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1);</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i</a:t>
            </a:r>
            <a:r>
              <a:rPr lang="en-US" sz="1700" dirty="0" smtClean="0">
                <a:solidFill>
                  <a:srgbClr val="000000"/>
                </a:solidFill>
                <a:highlight>
                  <a:srgbClr val="FFFFFF"/>
                </a:highlight>
                <a:latin typeface="Consolas"/>
              </a:rPr>
              <a:t> += offset;</a:t>
            </a:r>
            <a:br>
              <a:rPr lang="en-US" sz="1700" dirty="0" smtClean="0">
                <a:solidFill>
                  <a:srgbClr val="000000"/>
                </a:solidFill>
                <a:highlight>
                  <a:srgbClr val="FFFFFF"/>
                </a:highlight>
                <a:latin typeface="Consolas"/>
              </a:rPr>
            </a:b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a:t>
            </a:r>
            <a:br>
              <a:rPr lang="en-US" sz="1700" dirty="0" smtClean="0">
                <a:solidFill>
                  <a:srgbClr val="000000"/>
                </a:solidFill>
                <a:highlight>
                  <a:srgbClr val="FFFFFF"/>
                </a:highlight>
                <a:latin typeface="Consolas"/>
              </a:rPr>
            </a:br>
            <a:endParaRPr lang="sr-Latn-RS" sz="1700" dirty="0" smtClean="0">
              <a:solidFill>
                <a:srgbClr val="000000"/>
              </a:solidFill>
              <a:highlight>
                <a:srgbClr val="FFFFFF"/>
              </a:highlight>
              <a:latin typeface="Consolas"/>
            </a:endParaRPr>
          </a:p>
          <a:p>
            <a:pPr>
              <a:buNone/>
            </a:pPr>
            <a:r>
              <a:rPr lang="sr-Latn-RS" sz="1700" dirty="0" smtClean="0">
                <a:solidFill>
                  <a:srgbClr val="000000"/>
                </a:solidFill>
                <a:highlight>
                  <a:srgbClr val="FFFFFF"/>
                </a:highlight>
                <a:latin typeface="Consolas"/>
              </a:rPr>
              <a:t>		</a:t>
            </a:r>
            <a:r>
              <a:rPr lang="en-US" sz="1700" dirty="0" smtClean="0">
                <a:solidFill>
                  <a:srgbClr val="000000"/>
                </a:solidFill>
                <a:highlight>
                  <a:srgbClr val="FFFFFF"/>
                </a:highlight>
                <a:latin typeface="Consolas"/>
              </a:rPr>
              <a:t>__</a:t>
            </a:r>
            <a:r>
              <a:rPr lang="en-US" sz="1700" dirty="0" err="1" smtClean="0">
                <a:solidFill>
                  <a:srgbClr val="000000"/>
                </a:solidFill>
                <a:highlight>
                  <a:srgbClr val="FFFFFF"/>
                </a:highlight>
                <a:latin typeface="Consolas"/>
              </a:rPr>
              <a:t>syncthreads</a:t>
            </a:r>
            <a:r>
              <a:rPr lang="en-US" sz="1700" dirty="0" smtClean="0">
                <a:solidFill>
                  <a:srgbClr val="000000"/>
                </a:solidFill>
                <a:highlight>
                  <a:srgbClr val="FFFFFF"/>
                </a:highlight>
                <a:latin typeface="Consolas"/>
              </a:rPr>
              <a:t>();</a:t>
            </a:r>
            <a:endParaRPr lang="sr-Latn-RS" sz="1700" dirty="0" smtClean="0">
              <a:solidFill>
                <a:srgbClr val="000000"/>
              </a:solidFill>
              <a:highlight>
                <a:srgbClr val="FFFFFF"/>
              </a:highlight>
              <a:latin typeface="Consolas"/>
            </a:endParaRPr>
          </a:p>
          <a:p>
            <a:pPr>
              <a:buNone/>
            </a:pPr>
            <a:r>
              <a:rPr lang="sr-Latn-RS" sz="1700" dirty="0" smtClean="0">
                <a:solidFill>
                  <a:srgbClr val="000000"/>
                </a:solidFill>
                <a:highlight>
                  <a:srgbClr val="FFFFFF"/>
                </a:highlight>
                <a:latin typeface="Consolas"/>
              </a:rPr>
              <a:t>		</a:t>
            </a:r>
            <a:r>
              <a:rPr lang="en-US" sz="1700" dirty="0" err="1" smtClean="0">
                <a:solidFill>
                  <a:srgbClr val="000000"/>
                </a:solidFill>
                <a:highlight>
                  <a:srgbClr val="FFFFFF"/>
                </a:highlight>
                <a:latin typeface="Consolas"/>
              </a:rPr>
              <a:t>atomicAdd</a:t>
            </a:r>
            <a:r>
              <a:rPr lang="en-US" sz="1700" dirty="0" smtClean="0">
                <a:solidFill>
                  <a:srgbClr val="000000"/>
                </a:solidFill>
                <a:highlight>
                  <a:srgbClr val="FFFFFF"/>
                </a:highlight>
                <a:latin typeface="Consolas"/>
              </a:rPr>
              <a:t>( &amp;(</a:t>
            </a:r>
            <a:r>
              <a:rPr lang="en-US" sz="1700" dirty="0" err="1" smtClean="0">
                <a:solidFill>
                  <a:srgbClr val="000000"/>
                </a:solidFill>
                <a:highlight>
                  <a:srgbClr val="FFFFFF"/>
                </a:highlight>
                <a:latin typeface="Consolas"/>
              </a:rPr>
              <a:t>histo</a:t>
            </a:r>
            <a:r>
              <a:rPr lang="en-US" sz="1700" dirty="0" smtClean="0">
                <a:solidFill>
                  <a:srgbClr val="000000"/>
                </a:solidFill>
                <a:highlight>
                  <a:srgbClr val="FFFFFF"/>
                </a:highlight>
                <a:latin typeface="Consolas"/>
              </a:rPr>
              <a:t>[</a:t>
            </a:r>
            <a:r>
              <a:rPr lang="en-US" sz="1700" dirty="0" err="1" smtClean="0">
                <a:solidFill>
                  <a:srgbClr val="000000"/>
                </a:solidFill>
                <a:highlight>
                  <a:srgbClr val="FFFFFF"/>
                </a:highlight>
                <a:latin typeface="Consolas"/>
              </a:rPr>
              <a:t>threadIdx.x</a:t>
            </a:r>
            <a:r>
              <a:rPr lang="en-US" sz="1700" dirty="0" smtClean="0">
                <a:solidFill>
                  <a:srgbClr val="000000"/>
                </a:solidFill>
                <a:highlight>
                  <a:srgbClr val="FFFFFF"/>
                </a:highlight>
                <a:latin typeface="Consolas"/>
              </a:rPr>
              <a:t>]), temp[</a:t>
            </a:r>
            <a:r>
              <a:rPr lang="en-US" sz="1700" dirty="0" err="1" smtClean="0">
                <a:solidFill>
                  <a:srgbClr val="000000"/>
                </a:solidFill>
                <a:highlight>
                  <a:srgbClr val="FFFFFF"/>
                </a:highlight>
                <a:latin typeface="Consolas"/>
              </a:rPr>
              <a:t>threadIdx.x</a:t>
            </a:r>
            <a:r>
              <a:rPr lang="en-US" sz="1700" dirty="0" smtClean="0">
                <a:solidFill>
                  <a:srgbClr val="000000"/>
                </a:solidFill>
                <a:highlight>
                  <a:srgbClr val="FFFFFF"/>
                </a:highlight>
                <a:latin typeface="Consolas"/>
              </a:rPr>
              <a:t>] );</a:t>
            </a:r>
            <a:br>
              <a:rPr lang="en-US" sz="1700" dirty="0" smtClean="0">
                <a:solidFill>
                  <a:srgbClr val="000000"/>
                </a:solidFill>
                <a:highlight>
                  <a:srgbClr val="FFFFFF"/>
                </a:highlight>
                <a:latin typeface="Consolas"/>
              </a:rPr>
            </a:br>
            <a:r>
              <a:rPr lang="en-US" sz="1700" dirty="0" smtClean="0">
                <a:solidFill>
                  <a:srgbClr val="000000"/>
                </a:solidFill>
                <a:highlight>
                  <a:srgbClr val="FFFFFF"/>
                </a:highlight>
                <a:latin typeface="Consolas"/>
              </a:rPr>
              <a:t>} </a:t>
            </a:r>
            <a:r>
              <a:rPr lang="en-US" sz="1800" dirty="0" smtClean="0"/>
              <a:t/>
            </a:r>
            <a:br>
              <a:rPr lang="en-US" sz="1800" dirty="0" smtClean="0"/>
            </a:br>
            <a:r>
              <a:rPr lang="en-US" sz="1800" dirty="0" smtClean="0"/>
              <a:t> </a:t>
            </a:r>
            <a:r>
              <a:rPr lang="en-US" sz="2000" dirty="0" smtClean="0"/>
              <a:t/>
            </a:r>
            <a:br>
              <a:rPr lang="en-US" sz="2000" dirty="0" smtClean="0"/>
            </a:br>
            <a:endParaRPr lang="sr-Latn-RS" sz="2000" dirty="0" smtClean="0">
              <a:solidFill>
                <a:srgbClr val="000000"/>
              </a:solidFill>
              <a:highlight>
                <a:srgbClr val="FFFFFF"/>
              </a:highlight>
              <a:latin typeface="Consolas"/>
            </a:endParaRPr>
          </a:p>
        </p:txBody>
      </p:sp>
      <p:sp>
        <p:nvSpPr>
          <p:cNvPr id="8" name="TextBox 7"/>
          <p:cNvSpPr txBox="1"/>
          <p:nvPr/>
        </p:nvSpPr>
        <p:spPr>
          <a:xfrm>
            <a:off x="457200" y="1524000"/>
            <a:ext cx="3933449" cy="369332"/>
          </a:xfrm>
          <a:prstGeom prst="rect">
            <a:avLst/>
          </a:prstGeom>
          <a:noFill/>
        </p:spPr>
        <p:txBody>
          <a:bodyPr wrap="none" rtlCol="0">
            <a:spAutoFit/>
          </a:bodyPr>
          <a:lstStyle/>
          <a:p>
            <a:r>
              <a:rPr lang="sr-Latn-RS" b="1" dirty="0" smtClean="0">
                <a:solidFill>
                  <a:srgbClr val="C00000"/>
                </a:solidFill>
              </a:rPr>
              <a:t>GLOBALNA I DELJIVA MEMORIJA</a:t>
            </a:r>
            <a:endParaRPr lang="en-US" b="1" dirty="0">
              <a:solidFill>
                <a:srgbClr val="C00000"/>
              </a:solidFill>
            </a:endParaRPr>
          </a:p>
        </p:txBody>
      </p:sp>
      <p:sp>
        <p:nvSpPr>
          <p:cNvPr id="2" name="Slide Number Placeholder 1"/>
          <p:cNvSpPr>
            <a:spLocks noGrp="1"/>
          </p:cNvSpPr>
          <p:nvPr>
            <p:ph type="sldNum" sz="quarter" idx="12"/>
          </p:nvPr>
        </p:nvSpPr>
        <p:spPr/>
        <p:txBody>
          <a:bodyPr/>
          <a:lstStyle/>
          <a:p>
            <a:fld id="{036081D1-8380-407A-ABF3-D12854566F9D}" type="slidenum">
              <a:rPr lang="en-US" smtClean="0"/>
              <a:pPr/>
              <a:t>70</a:t>
            </a:fld>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ema">
  <a:themeElements>
    <a:clrScheme name="Kancelarij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arij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arij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15986</TotalTime>
  <Words>4281</Words>
  <Application>Microsoft Office PowerPoint</Application>
  <PresentationFormat>On-screen Show (4:3)</PresentationFormat>
  <Paragraphs>1213</Paragraphs>
  <Slides>70</Slides>
  <Notes>68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Consolas</vt:lpstr>
      <vt:lpstr>Clarity</vt:lpstr>
      <vt:lpstr>Paralelni sistemi:  CUDA</vt:lpstr>
      <vt:lpstr>Adresiranje niti – 1D</vt:lpstr>
      <vt:lpstr>Adresiranje niti – 2D</vt:lpstr>
      <vt:lpstr>Transponovanje matrica</vt:lpstr>
      <vt:lpstr>Jednostavno rešenje</vt:lpstr>
      <vt:lpstr>Jednostavno rešenje - problemi</vt:lpstr>
      <vt:lpstr>Moguće rešenje</vt:lpstr>
      <vt:lpstr>Korišćenje deljive memorije</vt:lpstr>
      <vt:lpstr>Optimizovano transponovanje matrica</vt:lpstr>
      <vt:lpstr>Optimizovano transponovanje matrica - 1</vt:lpstr>
      <vt:lpstr>Optimizovano transponovanje matrica</vt:lpstr>
      <vt:lpstr>Paralelna memorijska arhitektura (1)</vt:lpstr>
      <vt:lpstr>Paralelna memorijska arhitektura (2)</vt:lpstr>
      <vt:lpstr>Primeri pristupa memoriji (1)</vt:lpstr>
      <vt:lpstr>Primeri pristupa memoriji (2)</vt:lpstr>
      <vt:lpstr>Transponovanje matrica i konflikti</vt:lpstr>
      <vt:lpstr>Rešenje</vt:lpstr>
      <vt:lpstr>Optimizovano transponovanje matrica - 2</vt:lpstr>
      <vt:lpstr>Optimizovano transponovanje matrica</vt:lpstr>
      <vt:lpstr>Primer: Množenje matrica</vt:lpstr>
      <vt:lpstr>Primer: Množenje matrica (2)</vt:lpstr>
      <vt:lpstr>Primer: Množenje matrica (3)</vt:lpstr>
      <vt:lpstr>Primer: Množenje matrica (4)</vt:lpstr>
      <vt:lpstr>Primer: Množenje matrica (6)</vt:lpstr>
      <vt:lpstr>Primer: Množenje matrica (5)</vt:lpstr>
      <vt:lpstr>Primer: Množenje matrica - Nedostaci (1)</vt:lpstr>
      <vt:lpstr>Množenje matrica – tajlovi (1)</vt:lpstr>
      <vt:lpstr>Množenje matrica – tajlovi (2)</vt:lpstr>
      <vt:lpstr>Množenje matrica – tajlovi (3)</vt:lpstr>
      <vt:lpstr>Množenje matrica – tajlovi (4) </vt:lpstr>
      <vt:lpstr>Množenje matrica – tajlovi (4) </vt:lpstr>
      <vt:lpstr>Množenje matrica - deljiva memorija (1)</vt:lpstr>
      <vt:lpstr>Množenje matrica - deljiva memorija (2)</vt:lpstr>
      <vt:lpstr>Množenje matrica - deljiva memorija (3)</vt:lpstr>
      <vt:lpstr>CUDA device memory types - podsetnik</vt:lpstr>
      <vt:lpstr>Strategija za redukciju broja pristupa globalnoj memoriji</vt:lpstr>
      <vt:lpstr>Množenje matrica - deljiva memorija (1)</vt:lpstr>
      <vt:lpstr>Množenje matrica - deljiva memorija (2)</vt:lpstr>
      <vt:lpstr>Množenje matrica - deljiva memorija (3)</vt:lpstr>
      <vt:lpstr>Množenje matrica - deljiva memorija (4)</vt:lpstr>
      <vt:lpstr>Množenje matrica - deljiva memorija (5)</vt:lpstr>
      <vt:lpstr>Množenje matrica - deljiva memorija (6)</vt:lpstr>
      <vt:lpstr>Množenje matrica - deljiva memorija (7)</vt:lpstr>
      <vt:lpstr>Množenje matrica - deljiva memorija (8)</vt:lpstr>
      <vt:lpstr>Množenje matrica - deljiva memorija (9)</vt:lpstr>
      <vt:lpstr>Množenje matrica - deljiva memorija (10)</vt:lpstr>
      <vt:lpstr>Množenje matrica - deljiva memorija (11)</vt:lpstr>
      <vt:lpstr>Množenje matrica - deljiva memorija (12)</vt:lpstr>
      <vt:lpstr>Množenje matrica - deljiva memorija (13)</vt:lpstr>
      <vt:lpstr>Množenje matrica - deljiva memorija (14)</vt:lpstr>
      <vt:lpstr>Množenje matrica - deljiva memorija (15)</vt:lpstr>
      <vt:lpstr>Množenje matrica - deljiva memorija (20)</vt:lpstr>
      <vt:lpstr>Množenje matrica-performanse</vt:lpstr>
      <vt:lpstr>Množenje matrica-performanse</vt:lpstr>
      <vt:lpstr>Atomične operacije</vt:lpstr>
      <vt:lpstr>Atomične operacije</vt:lpstr>
      <vt:lpstr>Atomične operacije – dve niti</vt:lpstr>
      <vt:lpstr>Compute capability</vt:lpstr>
      <vt:lpstr>Compute capability - kompajliranje</vt:lpstr>
      <vt:lpstr>Race conditions</vt:lpstr>
      <vt:lpstr>Atomici</vt:lpstr>
      <vt:lpstr>Locks and mutex</vt:lpstr>
      <vt:lpstr>Locks and mutex</vt:lpstr>
      <vt:lpstr>Primer: Računanje histograma</vt:lpstr>
      <vt:lpstr>Računanje histograma – CPU (1)</vt:lpstr>
      <vt:lpstr>Računanje histograma – CPU (2)</vt:lpstr>
      <vt:lpstr>Računanje histograma – GPU (1)</vt:lpstr>
      <vt:lpstr>Računanje histograma – GPU (2)</vt:lpstr>
      <vt:lpstr>Računanje histograma – GPU (2)</vt:lpstr>
      <vt:lpstr>Računanje histograma – GPU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Aleksandra Stojnev</dc:creator>
  <cp:lastModifiedBy>Windows User</cp:lastModifiedBy>
  <cp:revision>510</cp:revision>
  <cp:lastPrinted>2021-03-18T16:53:55Z</cp:lastPrinted>
  <dcterms:created xsi:type="dcterms:W3CDTF">2014-07-07T12:51:20Z</dcterms:created>
  <dcterms:modified xsi:type="dcterms:W3CDTF">2021-03-19T09:08:18Z</dcterms:modified>
</cp:coreProperties>
</file>